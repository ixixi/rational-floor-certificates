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png" ContentType="image/png"/>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51053a287095469b" /><Relationship Type="http://schemas.openxmlformats.org/package/2006/relationships/metadata/core-properties" Target="/docProps/core.xml" Id="Rbd2be95b4778461a" /><Relationship Type="http://schemas.openxmlformats.org/officeDocument/2006/relationships/extended-properties" Target="/docProps/app.xml" Id="R36d57fe71b774a1c" /><Relationship Type="http://schemas.openxmlformats.org/officeDocument/2006/relationships/custom-properties" Target="/docProps/custom.xml" Id="R0a1bfd259d2f430e"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b76b25bbc3af4079"/>
  </p:notesMasterIdLst>
  <p:sldIdLst>
    <p:sldId id="256" r:id="Ra0973fa6b6274506"/>
    <p:sldId id="257" r:id="R53ff6817fd644bd7"/>
    <p:sldId id="258" r:id="Rdb56373c464a4209"/>
    <p:sldId id="259" r:id="Rfd19f9a0b6a1463d"/>
    <p:sldId id="260" r:id="R4d38618383d24163"/>
    <p:sldId id="261" r:id="Rbaa2329796174539"/>
    <p:sldId id="262" r:id="R4e83aaa5ca2b437f"/>
    <p:sldId id="263" r:id="R4bd87410f03f4f2a"/>
    <p:sldId id="264" r:id="R2fed18e1298a4ac0"/>
    <p:sldId id="265" r:id="Rd41ca5da6a3b48fe"/>
    <p:sldId id="266" r:id="R05a58254c7014e9c"/>
    <p:sldId id="267" r:id="Rd2e03eba56204847"/>
    <p:sldId id="268" r:id="Re51abeb50dce4009"/>
    <p:sldId id="269" r:id="R228b1814063b41b4"/>
    <p:sldId id="270" r:id="R8d7600b52b7749bd"/>
    <p:sldId id="271" r:id="R7b07b7094f86465f"/>
    <p:sldId id="272" r:id="R3f43e0a0999d46ad"/>
    <p:sldId id="273" r:id="R8a330b179df841ba"/>
    <p:sldId id="274" r:id="R8d5417f66d0c4d73"/>
    <p:sldId id="275" r:id="R743d58eb62bb4f0c"/>
    <p:sldId id="276" r:id="Rdd4ca56b8a034a1e"/>
    <p:sldId id="277" r:id="R1180eb9e316a4c64"/>
    <p:sldId id="278" r:id="R1851eb73c125491d"/>
    <p:sldId id="279" r:id="Rb6623ce807c243c6"/>
    <p:sldId id="280" r:id="R5c1297eef53c46e8"/>
    <p:sldId id="281" r:id="Ra052e95b1eef41f6"/>
    <p:sldId id="282" r:id="R38127d9ffa094492"/>
    <p:sldId id="283" r:id="R97ab09565c3e4dff"/>
    <p:sldId id="284" r:id="R39e189b9f47c4ecb"/>
    <p:sldId id="285" r:id="R04bdc2be35044ec0"/>
    <p:sldId id="286" r:id="R9072c5cbc0ec4176"/>
    <p:sldId id="287" r:id="R8dd974a87e764c9a"/>
    <p:sldId id="288" r:id="R4828a2b9d9b64ef8"/>
    <p:sldId id="289" r:id="Raf61a94aa1d841c4"/>
    <p:sldId id="290" r:id="R1f5e3aadedfe4033"/>
    <p:sldId id="291" r:id="R97e0e831e9084c27"/>
    <p:sldId id="292" r:id="Rd8bcd840ac77414e"/>
    <p:sldId id="293" r:id="Rfc1799c6fe83448f"/>
    <p:sldId id="294" r:id="R189653fa600e408c"/>
    <p:sldId id="295" r:id="Rcab3eefb1f7a4d0f"/>
    <p:sldId id="296" r:id="R643bd5cbae814c46"/>
    <p:sldId id="297" r:id="R6515cbd5aa1e4be3"/>
    <p:sldId id="298" r:id="Rd768a1597b674449"/>
    <p:sldId id="299" r:id="Rc9501c4fbfd44b5e"/>
    <p:sldId id="300" r:id="R611627eada184572"/>
    <p:sldId id="301" r:id="Rcfc464575deb494a"/>
    <p:sldId id="302" r:id="R5fab89f19185417f"/>
    <p:sldId id="303" r:id="R90169a20f9db44f5"/>
    <p:sldId id="304" r:id="Ra79f85dbd2f040c9"/>
    <p:sldId id="305" r:id="R4b52882b680e4eea"/>
    <p:sldId id="306" r:id="Rbb0060d9baff4aba"/>
    <p:sldId id="307" r:id="R8ea436e061ba4689"/>
    <p:sldId id="308" r:id="R9b811c08a80743a5"/>
    <p:sldId id="309" r:id="R29ee7949f91546f8"/>
    <p:sldId id="310" r:id="Ref660e1478634fae"/>
    <p:sldId id="311" r:id="Re46325d25af2458c"/>
    <p:sldId id="312" r:id="Rf81e3a520a1247f7"/>
    <p:sldId id="313" r:id="R7731afd295da4d31"/>
    <p:sldId id="314" r:id="R2e04a14880214a82"/>
    <p:sldId id="315" r:id="Rab33443edc5d4f81"/>
    <p:sldId id="316" r:id="R766fc73ad8c04cb8"/>
    <p:sldId id="317" r:id="Rf967dc0f7972457e"/>
    <p:sldId id="318" r:id="Rb869c58383be4843"/>
    <p:sldId id="319" r:id="Rf7cefa8ee2a74dbc"/>
    <p:sldId id="320" r:id="R88dddad7fffc45ab"/>
    <p:sldId id="321" r:id="R90d0d9fa1c824b38"/>
    <p:sldId id="322" r:id="Rfe972c56897249ce"/>
    <p:sldId id="323" r:id="Rccca3c1143ad41e5"/>
    <p:sldId id="324" r:id="R0a88f8b0343d45dc"/>
    <p:sldId id="325" r:id="Rb1aba34fd56241c2"/>
    <p:sldId id="326" r:id="R9239f261a7c54600"/>
    <p:sldId id="327" r:id="Rf1c7d2c8ad0f469d"/>
    <p:sldId id="328" r:id="Rb0b4303f32f14512"/>
    <p:sldId id="329" r:id="R68f71e6f24b6451b"/>
    <p:sldId id="330" r:id="R823b26f55ced420a"/>
    <p:sldId id="331" r:id="R0293ce82c241485f"/>
    <p:sldId id="332" r:id="Rc243ac6790864d61"/>
    <p:sldId id="333" r:id="R274606cd0ff140f5"/>
    <p:sldId id="334" r:id="Rfeeb2a454ffe4eca"/>
    <p:sldId id="335" r:id="R40821e4168944ba6"/>
    <p:sldId id="336" r:id="Radd1b0426c6c42cc"/>
    <p:sldId id="337" r:id="R4bb4b49a18b84072"/>
    <p:sldId id="338" r:id="Rc25771c3a42f4646"/>
    <p:sldId id="339" r:id="R82c572312f274e35"/>
    <p:sldId id="340" r:id="Rbbd44201919b427b"/>
    <p:sldId id="341" r:id="R2ffb51f58203486a"/>
    <p:sldId id="342" r:id="R09ac81596e9a421f"/>
    <p:sldId id="343" r:id="Rf915df90544943d9"/>
    <p:sldId id="344" r:id="R7377fd7aa518408d"/>
    <p:sldId id="345" r:id="Rb8b747569014441a"/>
    <p:sldId id="346" r:id="R714d7624fc1a4603"/>
    <p:sldId id="347" r:id="R135968da16be497a"/>
    <p:sldId id="348" r:id="Rcab05450d718423e"/>
    <p:sldId id="349" r:id="Ra7fea3cdbbae499d"/>
    <p:sldId id="350" r:id="Rac5bf4cb4c474e6e"/>
    <p:sldId id="351" r:id="R4875500f27f04c54"/>
    <p:sldId id="352" r:id="R5cbdd27c8d334648"/>
    <p:sldId id="353" r:id="R0c184163a17c4c53"/>
    <p:sldId id="354" r:id="Raa1b5a043e2a4040"/>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a0973fa6b6274506" /><Relationship Type="http://schemas.openxmlformats.org/officeDocument/2006/relationships/notesMaster" Target="/ppt/notesMasters/notesMaster1.xml" Id="Rb76b25bbc3af4079" /><Relationship Type="http://schemas.openxmlformats.org/officeDocument/2006/relationships/slide" Target="/ppt/slides/slide2.xml" Id="R53ff6817fd644bd7" /><Relationship Type="http://schemas.openxmlformats.org/officeDocument/2006/relationships/slide" Target="/ppt/slides/slide3.xml" Id="Rdb56373c464a4209" /><Relationship Type="http://schemas.openxmlformats.org/officeDocument/2006/relationships/slide" Target="/ppt/slides/slide4.xml" Id="Rfd19f9a0b6a1463d" /><Relationship Type="http://schemas.openxmlformats.org/officeDocument/2006/relationships/slide" Target="/ppt/slides/slide5.xml" Id="R4d38618383d24163" /><Relationship Type="http://schemas.openxmlformats.org/officeDocument/2006/relationships/slide" Target="/ppt/slides/slide6.xml" Id="Rbaa2329796174539" /><Relationship Type="http://schemas.openxmlformats.org/officeDocument/2006/relationships/slide" Target="/ppt/slides/slide7.xml" Id="R4e83aaa5ca2b437f" /><Relationship Type="http://schemas.openxmlformats.org/officeDocument/2006/relationships/slide" Target="/ppt/slides/slide8.xml" Id="R4bd87410f03f4f2a" /><Relationship Type="http://schemas.openxmlformats.org/officeDocument/2006/relationships/slide" Target="/ppt/slides/slide9.xml" Id="R2fed18e1298a4ac0" /><Relationship Type="http://schemas.openxmlformats.org/officeDocument/2006/relationships/slide" Target="/ppt/slides/slide10.xml" Id="Rd41ca5da6a3b48fe" /><Relationship Type="http://schemas.openxmlformats.org/officeDocument/2006/relationships/slide" Target="/ppt/slides/slide11.xml" Id="R05a58254c7014e9c" /><Relationship Type="http://schemas.openxmlformats.org/officeDocument/2006/relationships/slide" Target="/ppt/slides/slide12.xml" Id="Rd2e03eba56204847" /><Relationship Type="http://schemas.openxmlformats.org/officeDocument/2006/relationships/slide" Target="/ppt/slides/slide13.xml" Id="Re51abeb50dce4009" /><Relationship Type="http://schemas.openxmlformats.org/officeDocument/2006/relationships/slide" Target="/ppt/slides/slide14.xml" Id="R228b1814063b41b4" /><Relationship Type="http://schemas.openxmlformats.org/officeDocument/2006/relationships/slide" Target="/ppt/slides/slide15.xml" Id="R8d7600b52b7749bd" /><Relationship Type="http://schemas.openxmlformats.org/officeDocument/2006/relationships/slide" Target="/ppt/slides/slide16.xml" Id="R7b07b7094f86465f" /><Relationship Type="http://schemas.openxmlformats.org/officeDocument/2006/relationships/slide" Target="/ppt/slides/slide17.xml" Id="R3f43e0a0999d46ad" /><Relationship Type="http://schemas.openxmlformats.org/officeDocument/2006/relationships/slide" Target="/ppt/slides/slide18.xml" Id="R8a330b179df841ba" /><Relationship Type="http://schemas.openxmlformats.org/officeDocument/2006/relationships/slide" Target="/ppt/slides/slide19.xml" Id="R8d5417f66d0c4d73" /><Relationship Type="http://schemas.openxmlformats.org/officeDocument/2006/relationships/slide" Target="/ppt/slides/slide20.xml" Id="R743d58eb62bb4f0c" /><Relationship Type="http://schemas.openxmlformats.org/officeDocument/2006/relationships/slide" Target="/ppt/slides/slide21.xml" Id="Rdd4ca56b8a034a1e" /><Relationship Type="http://schemas.openxmlformats.org/officeDocument/2006/relationships/slide" Target="/ppt/slides/slide22.xml" Id="R1180eb9e316a4c64" /><Relationship Type="http://schemas.openxmlformats.org/officeDocument/2006/relationships/slide" Target="/ppt/slides/slide23.xml" Id="R1851eb73c125491d" /><Relationship Type="http://schemas.openxmlformats.org/officeDocument/2006/relationships/slide" Target="/ppt/slides/slide24.xml" Id="Rb6623ce807c243c6" /><Relationship Type="http://schemas.openxmlformats.org/officeDocument/2006/relationships/slide" Target="/ppt/slides/slide25.xml" Id="R5c1297eef53c46e8" /><Relationship Type="http://schemas.openxmlformats.org/officeDocument/2006/relationships/slide" Target="/ppt/slides/slide26.xml" Id="Ra052e95b1eef41f6" /><Relationship Type="http://schemas.openxmlformats.org/officeDocument/2006/relationships/slide" Target="/ppt/slides/slide27.xml" Id="R38127d9ffa094492" /><Relationship Type="http://schemas.openxmlformats.org/officeDocument/2006/relationships/slide" Target="/ppt/slides/slide28.xml" Id="R97ab09565c3e4dff" /><Relationship Type="http://schemas.openxmlformats.org/officeDocument/2006/relationships/slide" Target="/ppt/slides/slide29.xml" Id="R39e189b9f47c4ecb" /><Relationship Type="http://schemas.openxmlformats.org/officeDocument/2006/relationships/slide" Target="/ppt/slides/slide30.xml" Id="R04bdc2be35044ec0" /><Relationship Type="http://schemas.openxmlformats.org/officeDocument/2006/relationships/slide" Target="/ppt/slides/slide31.xml" Id="R9072c5cbc0ec4176" /><Relationship Type="http://schemas.openxmlformats.org/officeDocument/2006/relationships/slide" Target="/ppt/slides/slide32.xml" Id="R8dd974a87e764c9a" /><Relationship Type="http://schemas.openxmlformats.org/officeDocument/2006/relationships/slide" Target="/ppt/slides/slide33.xml" Id="R4828a2b9d9b64ef8" /><Relationship Type="http://schemas.openxmlformats.org/officeDocument/2006/relationships/slide" Target="/ppt/slides/slide34.xml" Id="Raf61a94aa1d841c4" /><Relationship Type="http://schemas.openxmlformats.org/officeDocument/2006/relationships/slide" Target="/ppt/slides/slide35.xml" Id="R1f5e3aadedfe4033" /><Relationship Type="http://schemas.openxmlformats.org/officeDocument/2006/relationships/slide" Target="/ppt/slides/slide36.xml" Id="R97e0e831e9084c27" /><Relationship Type="http://schemas.openxmlformats.org/officeDocument/2006/relationships/slide" Target="/ppt/slides/slide37.xml" Id="Rd8bcd840ac77414e" /><Relationship Type="http://schemas.openxmlformats.org/officeDocument/2006/relationships/slide" Target="/ppt/slides/slide38.xml" Id="Rfc1799c6fe83448f" /><Relationship Type="http://schemas.openxmlformats.org/officeDocument/2006/relationships/slide" Target="/ppt/slides/slide39.xml" Id="R189653fa600e408c" /><Relationship Type="http://schemas.openxmlformats.org/officeDocument/2006/relationships/slide" Target="/ppt/slides/slide40.xml" Id="Rcab3eefb1f7a4d0f" /><Relationship Type="http://schemas.openxmlformats.org/officeDocument/2006/relationships/slide" Target="/ppt/slides/slide41.xml" Id="R643bd5cbae814c46" /><Relationship Type="http://schemas.openxmlformats.org/officeDocument/2006/relationships/slide" Target="/ppt/slides/slide42.xml" Id="R6515cbd5aa1e4be3" /><Relationship Type="http://schemas.openxmlformats.org/officeDocument/2006/relationships/slide" Target="/ppt/slides/slide43.xml" Id="Rd768a1597b674449" /><Relationship Type="http://schemas.openxmlformats.org/officeDocument/2006/relationships/slide" Target="/ppt/slides/slide44.xml" Id="Rc9501c4fbfd44b5e" /><Relationship Type="http://schemas.openxmlformats.org/officeDocument/2006/relationships/slide" Target="/ppt/slides/slide45.xml" Id="R611627eada184572" /><Relationship Type="http://schemas.openxmlformats.org/officeDocument/2006/relationships/slide" Target="/ppt/slides/slide46.xml" Id="Rcfc464575deb494a" /><Relationship Type="http://schemas.openxmlformats.org/officeDocument/2006/relationships/slide" Target="/ppt/slides/slide47.xml" Id="R5fab89f19185417f" /><Relationship Type="http://schemas.openxmlformats.org/officeDocument/2006/relationships/slide" Target="/ppt/slides/slide48.xml" Id="R90169a20f9db44f5" /><Relationship Type="http://schemas.openxmlformats.org/officeDocument/2006/relationships/slide" Target="/ppt/slides/slide49.xml" Id="Ra79f85dbd2f040c9" /><Relationship Type="http://schemas.openxmlformats.org/officeDocument/2006/relationships/slide" Target="/ppt/slides/slide50.xml" Id="R4b52882b680e4eea" /><Relationship Type="http://schemas.openxmlformats.org/officeDocument/2006/relationships/slide" Target="/ppt/slides/slide51.xml" Id="Rbb0060d9baff4aba" /><Relationship Type="http://schemas.openxmlformats.org/officeDocument/2006/relationships/slide" Target="/ppt/slides/slide52.xml" Id="R8ea436e061ba4689" /><Relationship Type="http://schemas.openxmlformats.org/officeDocument/2006/relationships/slide" Target="/ppt/slides/slide53.xml" Id="R9b811c08a80743a5" /><Relationship Type="http://schemas.openxmlformats.org/officeDocument/2006/relationships/slide" Target="/ppt/slides/slide54.xml" Id="R29ee7949f91546f8" /><Relationship Type="http://schemas.openxmlformats.org/officeDocument/2006/relationships/slide" Target="/ppt/slides/slide55.xml" Id="Ref660e1478634fae" /><Relationship Type="http://schemas.openxmlformats.org/officeDocument/2006/relationships/slide" Target="/ppt/slides/slide56.xml" Id="Re46325d25af2458c" /><Relationship Type="http://schemas.openxmlformats.org/officeDocument/2006/relationships/slide" Target="/ppt/slides/slide57.xml" Id="Rf81e3a520a1247f7" /><Relationship Type="http://schemas.openxmlformats.org/officeDocument/2006/relationships/slide" Target="/ppt/slides/slide58.xml" Id="R7731afd295da4d31" /><Relationship Type="http://schemas.openxmlformats.org/officeDocument/2006/relationships/slide" Target="/ppt/slides/slide59.xml" Id="R2e04a14880214a82" /><Relationship Type="http://schemas.openxmlformats.org/officeDocument/2006/relationships/slide" Target="/ppt/slides/slide60.xml" Id="Rab33443edc5d4f81" /><Relationship Type="http://schemas.openxmlformats.org/officeDocument/2006/relationships/slide" Target="/ppt/slides/slide61.xml" Id="R766fc73ad8c04cb8" /><Relationship Type="http://schemas.openxmlformats.org/officeDocument/2006/relationships/slide" Target="/ppt/slides/slide62.xml" Id="Rf967dc0f7972457e" /><Relationship Type="http://schemas.openxmlformats.org/officeDocument/2006/relationships/slide" Target="/ppt/slides/slide63.xml" Id="Rb869c58383be4843" /><Relationship Type="http://schemas.openxmlformats.org/officeDocument/2006/relationships/slide" Target="/ppt/slides/slide64.xml" Id="Rf7cefa8ee2a74dbc" /><Relationship Type="http://schemas.openxmlformats.org/officeDocument/2006/relationships/slide" Target="/ppt/slides/slide65.xml" Id="R88dddad7fffc45ab" /><Relationship Type="http://schemas.openxmlformats.org/officeDocument/2006/relationships/slide" Target="/ppt/slides/slide66.xml" Id="R90d0d9fa1c824b38" /><Relationship Type="http://schemas.openxmlformats.org/officeDocument/2006/relationships/slide" Target="/ppt/slides/slide67.xml" Id="Rfe972c56897249ce" /><Relationship Type="http://schemas.openxmlformats.org/officeDocument/2006/relationships/slide" Target="/ppt/slides/slide68.xml" Id="Rccca3c1143ad41e5" /><Relationship Type="http://schemas.openxmlformats.org/officeDocument/2006/relationships/slide" Target="/ppt/slides/slide69.xml" Id="R0a88f8b0343d45dc" /><Relationship Type="http://schemas.openxmlformats.org/officeDocument/2006/relationships/slide" Target="/ppt/slides/slide70.xml" Id="Rb1aba34fd56241c2" /><Relationship Type="http://schemas.openxmlformats.org/officeDocument/2006/relationships/slide" Target="/ppt/slides/slide71.xml" Id="R9239f261a7c54600" /><Relationship Type="http://schemas.openxmlformats.org/officeDocument/2006/relationships/slide" Target="/ppt/slides/slide72.xml" Id="Rf1c7d2c8ad0f469d" /><Relationship Type="http://schemas.openxmlformats.org/officeDocument/2006/relationships/slide" Target="/ppt/slides/slide73.xml" Id="Rb0b4303f32f14512" /><Relationship Type="http://schemas.openxmlformats.org/officeDocument/2006/relationships/slide" Target="/ppt/slides/slide74.xml" Id="R68f71e6f24b6451b" /><Relationship Type="http://schemas.openxmlformats.org/officeDocument/2006/relationships/slide" Target="/ppt/slides/slide75.xml" Id="R823b26f55ced420a" /><Relationship Type="http://schemas.openxmlformats.org/officeDocument/2006/relationships/slide" Target="/ppt/slides/slide76.xml" Id="R0293ce82c241485f" /><Relationship Type="http://schemas.openxmlformats.org/officeDocument/2006/relationships/slide" Target="/ppt/slides/slide77.xml" Id="Rc243ac6790864d61" /><Relationship Type="http://schemas.openxmlformats.org/officeDocument/2006/relationships/slide" Target="/ppt/slides/slide78.xml" Id="R274606cd0ff140f5" /><Relationship Type="http://schemas.openxmlformats.org/officeDocument/2006/relationships/slide" Target="/ppt/slides/slide79.xml" Id="Rfeeb2a454ffe4eca" /><Relationship Type="http://schemas.openxmlformats.org/officeDocument/2006/relationships/slide" Target="/ppt/slides/slide80.xml" Id="R40821e4168944ba6" /><Relationship Type="http://schemas.openxmlformats.org/officeDocument/2006/relationships/slide" Target="/ppt/slides/slide81.xml" Id="Radd1b0426c6c42cc" /><Relationship Type="http://schemas.openxmlformats.org/officeDocument/2006/relationships/slide" Target="/ppt/slides/slide82.xml" Id="R4bb4b49a18b84072" /><Relationship Type="http://schemas.openxmlformats.org/officeDocument/2006/relationships/slide" Target="/ppt/slides/slide83.xml" Id="Rc25771c3a42f4646" /><Relationship Type="http://schemas.openxmlformats.org/officeDocument/2006/relationships/slide" Target="/ppt/slides/slide84.xml" Id="R82c572312f274e35" /><Relationship Type="http://schemas.openxmlformats.org/officeDocument/2006/relationships/slide" Target="/ppt/slides/slide85.xml" Id="Rbbd44201919b427b" /><Relationship Type="http://schemas.openxmlformats.org/officeDocument/2006/relationships/slide" Target="/ppt/slides/slide86.xml" Id="R2ffb51f58203486a" /><Relationship Type="http://schemas.openxmlformats.org/officeDocument/2006/relationships/slide" Target="/ppt/slides/slide87.xml" Id="R09ac81596e9a421f" /><Relationship Type="http://schemas.openxmlformats.org/officeDocument/2006/relationships/slide" Target="/ppt/slides/slide88.xml" Id="Rf915df90544943d9" /><Relationship Type="http://schemas.openxmlformats.org/officeDocument/2006/relationships/slide" Target="/ppt/slides/slide89.xml" Id="R7377fd7aa518408d" /><Relationship Type="http://schemas.openxmlformats.org/officeDocument/2006/relationships/slide" Target="/ppt/slides/slide90.xml" Id="Rb8b747569014441a" /><Relationship Type="http://schemas.openxmlformats.org/officeDocument/2006/relationships/slide" Target="/ppt/slides/slide91.xml" Id="R714d7624fc1a4603" /><Relationship Type="http://schemas.openxmlformats.org/officeDocument/2006/relationships/slide" Target="/ppt/slides/slide92.xml" Id="R135968da16be497a" /><Relationship Type="http://schemas.openxmlformats.org/officeDocument/2006/relationships/slide" Target="/ppt/slides/slide93.xml" Id="Rcab05450d718423e" /><Relationship Type="http://schemas.openxmlformats.org/officeDocument/2006/relationships/slide" Target="/ppt/slides/slide94.xml" Id="Ra7fea3cdbbae499d" /><Relationship Type="http://schemas.openxmlformats.org/officeDocument/2006/relationships/slide" Target="/ppt/slides/slide95.xml" Id="Rac5bf4cb4c474e6e" /><Relationship Type="http://schemas.openxmlformats.org/officeDocument/2006/relationships/slide" Target="/ppt/slides/slide96.xml" Id="R4875500f27f04c54" /><Relationship Type="http://schemas.openxmlformats.org/officeDocument/2006/relationships/slide" Target="/ppt/slides/slide97.xml" Id="R5cbdd27c8d334648" /><Relationship Type="http://schemas.openxmlformats.org/officeDocument/2006/relationships/slide" Target="/ppt/slides/slide98.xml" Id="R0c184163a17c4c53" /><Relationship Type="http://schemas.openxmlformats.org/officeDocument/2006/relationships/slide" Target="/ppt/slides/slide99.xml" Id="Raa1b5a043e2a40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97053bdc25f4f33"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5a2e6c46ec9b40a7" /><Relationship Type="http://schemas.openxmlformats.org/officeDocument/2006/relationships/slide" Target="/ppt/slides/slide1.xml" Id="Rc0548177820c4c79"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e1339b3a2973433d" /><Relationship Type="http://schemas.openxmlformats.org/officeDocument/2006/relationships/slide" Target="/ppt/slides/slide2.xml" Id="Rfb3e4bc8830e4dd1"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6537fc2585ae4135" /><Relationship Type="http://schemas.openxmlformats.org/officeDocument/2006/relationships/slide" Target="/ppt/slides/slide3.xml" Id="R650abc96c25941ae"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98aee4217cc5478f" /><Relationship Type="http://schemas.openxmlformats.org/officeDocument/2006/relationships/slide" Target="/ppt/slides/slide4.xml" Id="R1960837213ac44b9"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7b9ac15da6da4cbe" /><Relationship Type="http://schemas.openxmlformats.org/officeDocument/2006/relationships/slide" Target="/ppt/slides/slide5.xml" Id="R0a4c52ebd76c4b44"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5d2ffd8dbdae4a33" /><Relationship Type="http://schemas.openxmlformats.org/officeDocument/2006/relationships/slide" Target="/ppt/slides/slide6.xml" Id="R5fce231d34ce4c4a"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6f2607af5bc74303" /><Relationship Type="http://schemas.openxmlformats.org/officeDocument/2006/relationships/slide" Target="/ppt/slides/slide7.xml" Id="R26ed08fc53c24956"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5cc6801c2ac64cad" /><Relationship Type="http://schemas.openxmlformats.org/officeDocument/2006/relationships/slide" Target="/ppt/slides/slide8.xml" Id="Rad68ae484b51471a"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b3cc580544a44063" /><Relationship Type="http://schemas.openxmlformats.org/officeDocument/2006/relationships/slide" Target="/ppt/slides/slide9.xml" Id="R6419061270704134"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e0a6f9f9e20c44a2" /><Relationship Type="http://schemas.openxmlformats.org/officeDocument/2006/relationships/slide" Target="/ppt/slides/slide10.xml" Id="R7d4525b862a74cef"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f8d196e07aed470e" /><Relationship Type="http://schemas.openxmlformats.org/officeDocument/2006/relationships/slide" Target="/ppt/slides/slide11.xml" Id="R13550425c069491c"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8eff2338b1fa4875" /><Relationship Type="http://schemas.openxmlformats.org/officeDocument/2006/relationships/slide" Target="/ppt/slides/slide12.xml" Id="Ra272b64281974bf0"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c09a1b348b6a4641" /><Relationship Type="http://schemas.openxmlformats.org/officeDocument/2006/relationships/slide" Target="/ppt/slides/slide13.xml" Id="Rdc6d3881c8094b80"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85e3046e46f54c08" /><Relationship Type="http://schemas.openxmlformats.org/officeDocument/2006/relationships/slide" Target="/ppt/slides/slide14.xml" Id="R3ff8f888d4dc4e9a"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a83f0c5636c04181" /><Relationship Type="http://schemas.openxmlformats.org/officeDocument/2006/relationships/slide" Target="/ppt/slides/slide15.xml" Id="R50ad8407afc94879" /></Relationships>
</file>

<file path=ppt/notesSlides/_rels/notesSlide16.xml.rels>&#65279;<?xml version="1.0" encoding="utf-8"?><Relationships xmlns="http://schemas.openxmlformats.org/package/2006/relationships"><Relationship Type="http://schemas.openxmlformats.org/officeDocument/2006/relationships/notesMaster" Target="/ppt/notesMasters/notesMaster1.xml" Id="R526b408fe2924535" /><Relationship Type="http://schemas.openxmlformats.org/officeDocument/2006/relationships/slide" Target="/ppt/slides/slide16.xml" Id="R028f2941a6be4c21" /></Relationships>
</file>

<file path=ppt/notesSlides/_rels/notesSlide17.xml.rels>&#65279;<?xml version="1.0" encoding="utf-8"?><Relationships xmlns="http://schemas.openxmlformats.org/package/2006/relationships"><Relationship Type="http://schemas.openxmlformats.org/officeDocument/2006/relationships/notesMaster" Target="/ppt/notesMasters/notesMaster1.xml" Id="R3e791244dbdd458a" /><Relationship Type="http://schemas.openxmlformats.org/officeDocument/2006/relationships/slide" Target="/ppt/slides/slide17.xml" Id="R34996e1c19d94f5f" /></Relationships>
</file>

<file path=ppt/notesSlides/_rels/notesSlide18.xml.rels>&#65279;<?xml version="1.0" encoding="utf-8"?><Relationships xmlns="http://schemas.openxmlformats.org/package/2006/relationships"><Relationship Type="http://schemas.openxmlformats.org/officeDocument/2006/relationships/notesMaster" Target="/ppt/notesMasters/notesMaster1.xml" Id="Rb65f7a569b9240a0" /><Relationship Type="http://schemas.openxmlformats.org/officeDocument/2006/relationships/slide" Target="/ppt/slides/slide18.xml" Id="R7cc04a90f1214300" /></Relationships>
</file>

<file path=ppt/notesSlides/_rels/notesSlide19.xml.rels>&#65279;<?xml version="1.0" encoding="utf-8"?><Relationships xmlns="http://schemas.openxmlformats.org/package/2006/relationships"><Relationship Type="http://schemas.openxmlformats.org/officeDocument/2006/relationships/notesMaster" Target="/ppt/notesMasters/notesMaster1.xml" Id="R7ac503d01c7a47e4" /><Relationship Type="http://schemas.openxmlformats.org/officeDocument/2006/relationships/slide" Target="/ppt/slides/slide19.xml" Id="R32294ba1aa5b48db" /></Relationships>
</file>

<file path=ppt/notesSlides/_rels/notesSlide20.xml.rels>&#65279;<?xml version="1.0" encoding="utf-8"?><Relationships xmlns="http://schemas.openxmlformats.org/package/2006/relationships"><Relationship Type="http://schemas.openxmlformats.org/officeDocument/2006/relationships/notesMaster" Target="/ppt/notesMasters/notesMaster1.xml" Id="R9bb79b1a7ad74104" /><Relationship Type="http://schemas.openxmlformats.org/officeDocument/2006/relationships/slide" Target="/ppt/slides/slide20.xml" Id="R08e25ef960f24bdb" /></Relationships>
</file>

<file path=ppt/notesSlides/_rels/notesSlide21.xml.rels>&#65279;<?xml version="1.0" encoding="utf-8"?><Relationships xmlns="http://schemas.openxmlformats.org/package/2006/relationships"><Relationship Type="http://schemas.openxmlformats.org/officeDocument/2006/relationships/notesMaster" Target="/ppt/notesMasters/notesMaster1.xml" Id="Raf6057d6fad54c16" /><Relationship Type="http://schemas.openxmlformats.org/officeDocument/2006/relationships/slide" Target="/ppt/slides/slide21.xml" Id="Rb8e21326bbc64fd5" /></Relationships>
</file>

<file path=ppt/notesSlides/_rels/notesSlide22.xml.rels>&#65279;<?xml version="1.0" encoding="utf-8"?><Relationships xmlns="http://schemas.openxmlformats.org/package/2006/relationships"><Relationship Type="http://schemas.openxmlformats.org/officeDocument/2006/relationships/notesMaster" Target="/ppt/notesMasters/notesMaster1.xml" Id="R8ac2100169b744b3" /><Relationship Type="http://schemas.openxmlformats.org/officeDocument/2006/relationships/slide" Target="/ppt/slides/slide22.xml" Id="R94823afc0aa54be4" /></Relationships>
</file>

<file path=ppt/notesSlides/_rels/notesSlide23.xml.rels>&#65279;<?xml version="1.0" encoding="utf-8"?><Relationships xmlns="http://schemas.openxmlformats.org/package/2006/relationships"><Relationship Type="http://schemas.openxmlformats.org/officeDocument/2006/relationships/notesMaster" Target="/ppt/notesMasters/notesMaster1.xml" Id="R3471c1bd37494b93" /><Relationship Type="http://schemas.openxmlformats.org/officeDocument/2006/relationships/slide" Target="/ppt/slides/slide23.xml" Id="R58eb8f4e3efa4a83" /></Relationships>
</file>

<file path=ppt/notesSlides/_rels/notesSlide24.xml.rels>&#65279;<?xml version="1.0" encoding="utf-8"?><Relationships xmlns="http://schemas.openxmlformats.org/package/2006/relationships"><Relationship Type="http://schemas.openxmlformats.org/officeDocument/2006/relationships/notesMaster" Target="/ppt/notesMasters/notesMaster1.xml" Id="R5b6b4ff2418f4a44" /><Relationship Type="http://schemas.openxmlformats.org/officeDocument/2006/relationships/slide" Target="/ppt/slides/slide24.xml" Id="Ref6f790dff5e420f" /></Relationships>
</file>

<file path=ppt/notesSlides/_rels/notesSlide25.xml.rels>&#65279;<?xml version="1.0" encoding="utf-8"?><Relationships xmlns="http://schemas.openxmlformats.org/package/2006/relationships"><Relationship Type="http://schemas.openxmlformats.org/officeDocument/2006/relationships/notesMaster" Target="/ppt/notesMasters/notesMaster1.xml" Id="Rb1e9090f74dd4be3" /><Relationship Type="http://schemas.openxmlformats.org/officeDocument/2006/relationships/slide" Target="/ppt/slides/slide25.xml" Id="R33df37eebee242d6" /></Relationships>
</file>

<file path=ppt/notesSlides/_rels/notesSlide26.xml.rels>&#65279;<?xml version="1.0" encoding="utf-8"?><Relationships xmlns="http://schemas.openxmlformats.org/package/2006/relationships"><Relationship Type="http://schemas.openxmlformats.org/officeDocument/2006/relationships/notesMaster" Target="/ppt/notesMasters/notesMaster1.xml" Id="R87411956c85d4fff" /><Relationship Type="http://schemas.openxmlformats.org/officeDocument/2006/relationships/slide" Target="/ppt/slides/slide26.xml" Id="R2b0db17623ba486d" /></Relationships>
</file>

<file path=ppt/notesSlides/_rels/notesSlide27.xml.rels>&#65279;<?xml version="1.0" encoding="utf-8"?><Relationships xmlns="http://schemas.openxmlformats.org/package/2006/relationships"><Relationship Type="http://schemas.openxmlformats.org/officeDocument/2006/relationships/notesMaster" Target="/ppt/notesMasters/notesMaster1.xml" Id="R87dded1c226445da" /><Relationship Type="http://schemas.openxmlformats.org/officeDocument/2006/relationships/slide" Target="/ppt/slides/slide27.xml" Id="R21806d1f826543d7" /></Relationships>
</file>

<file path=ppt/notesSlides/_rels/notesSlide28.xml.rels>&#65279;<?xml version="1.0" encoding="utf-8"?><Relationships xmlns="http://schemas.openxmlformats.org/package/2006/relationships"><Relationship Type="http://schemas.openxmlformats.org/officeDocument/2006/relationships/notesMaster" Target="/ppt/notesMasters/notesMaster1.xml" Id="R0b698bf1c9da4c51" /><Relationship Type="http://schemas.openxmlformats.org/officeDocument/2006/relationships/slide" Target="/ppt/slides/slide28.xml" Id="R6470796ba63e4d37" /></Relationships>
</file>

<file path=ppt/notesSlides/_rels/notesSlide29.xml.rels>&#65279;<?xml version="1.0" encoding="utf-8"?><Relationships xmlns="http://schemas.openxmlformats.org/package/2006/relationships"><Relationship Type="http://schemas.openxmlformats.org/officeDocument/2006/relationships/notesMaster" Target="/ppt/notesMasters/notesMaster1.xml" Id="R13c00a79983f451f" /><Relationship Type="http://schemas.openxmlformats.org/officeDocument/2006/relationships/slide" Target="/ppt/slides/slide29.xml" Id="Rd05a0ff7a1a04981" /></Relationships>
</file>

<file path=ppt/notesSlides/_rels/notesSlide30.xml.rels>&#65279;<?xml version="1.0" encoding="utf-8"?><Relationships xmlns="http://schemas.openxmlformats.org/package/2006/relationships"><Relationship Type="http://schemas.openxmlformats.org/officeDocument/2006/relationships/notesMaster" Target="/ppt/notesMasters/notesMaster1.xml" Id="Rbc1311102efc47de" /><Relationship Type="http://schemas.openxmlformats.org/officeDocument/2006/relationships/slide" Target="/ppt/slides/slide30.xml" Id="Raf351cb91c15478c" /></Relationships>
</file>

<file path=ppt/notesSlides/_rels/notesSlide31.xml.rels>&#65279;<?xml version="1.0" encoding="utf-8"?><Relationships xmlns="http://schemas.openxmlformats.org/package/2006/relationships"><Relationship Type="http://schemas.openxmlformats.org/officeDocument/2006/relationships/notesMaster" Target="/ppt/notesMasters/notesMaster1.xml" Id="Rd6d98b1e83134436" /><Relationship Type="http://schemas.openxmlformats.org/officeDocument/2006/relationships/slide" Target="/ppt/slides/slide31.xml" Id="R5f16451f016c40be" /></Relationships>
</file>

<file path=ppt/notesSlides/_rels/notesSlide32.xml.rels>&#65279;<?xml version="1.0" encoding="utf-8"?><Relationships xmlns="http://schemas.openxmlformats.org/package/2006/relationships"><Relationship Type="http://schemas.openxmlformats.org/officeDocument/2006/relationships/notesMaster" Target="/ppt/notesMasters/notesMaster1.xml" Id="Raee5f7f5f866484a" /><Relationship Type="http://schemas.openxmlformats.org/officeDocument/2006/relationships/slide" Target="/ppt/slides/slide32.xml" Id="Rb642def817344a4f" /></Relationships>
</file>

<file path=ppt/notesSlides/_rels/notesSlide33.xml.rels>&#65279;<?xml version="1.0" encoding="utf-8"?><Relationships xmlns="http://schemas.openxmlformats.org/package/2006/relationships"><Relationship Type="http://schemas.openxmlformats.org/officeDocument/2006/relationships/notesMaster" Target="/ppt/notesMasters/notesMaster1.xml" Id="Rc6fd5dcd479c4580" /><Relationship Type="http://schemas.openxmlformats.org/officeDocument/2006/relationships/slide" Target="/ppt/slides/slide33.xml" Id="R87ec4403ac4e4bb6" /></Relationships>
</file>

<file path=ppt/notesSlides/_rels/notesSlide34.xml.rels>&#65279;<?xml version="1.0" encoding="utf-8"?><Relationships xmlns="http://schemas.openxmlformats.org/package/2006/relationships"><Relationship Type="http://schemas.openxmlformats.org/officeDocument/2006/relationships/notesMaster" Target="/ppt/notesMasters/notesMaster1.xml" Id="R7ca39f12ec334384" /><Relationship Type="http://schemas.openxmlformats.org/officeDocument/2006/relationships/slide" Target="/ppt/slides/slide34.xml" Id="R26ea4e154ca24e6f" /></Relationships>
</file>

<file path=ppt/notesSlides/_rels/notesSlide35.xml.rels>&#65279;<?xml version="1.0" encoding="utf-8"?><Relationships xmlns="http://schemas.openxmlformats.org/package/2006/relationships"><Relationship Type="http://schemas.openxmlformats.org/officeDocument/2006/relationships/notesMaster" Target="/ppt/notesMasters/notesMaster1.xml" Id="Rca497298d423425e" /><Relationship Type="http://schemas.openxmlformats.org/officeDocument/2006/relationships/slide" Target="/ppt/slides/slide35.xml" Id="Re109dd64488f403e" /></Relationships>
</file>

<file path=ppt/notesSlides/_rels/notesSlide36.xml.rels>&#65279;<?xml version="1.0" encoding="utf-8"?><Relationships xmlns="http://schemas.openxmlformats.org/package/2006/relationships"><Relationship Type="http://schemas.openxmlformats.org/officeDocument/2006/relationships/notesMaster" Target="/ppt/notesMasters/notesMaster1.xml" Id="Rf3bc19dee5d74c0a" /><Relationship Type="http://schemas.openxmlformats.org/officeDocument/2006/relationships/slide" Target="/ppt/slides/slide36.xml" Id="R658c013532de44ff" /></Relationships>
</file>

<file path=ppt/notesSlides/_rels/notesSlide37.xml.rels>&#65279;<?xml version="1.0" encoding="utf-8"?><Relationships xmlns="http://schemas.openxmlformats.org/package/2006/relationships"><Relationship Type="http://schemas.openxmlformats.org/officeDocument/2006/relationships/notesMaster" Target="/ppt/notesMasters/notesMaster1.xml" Id="Rc30b85ebd1eb4643" /><Relationship Type="http://schemas.openxmlformats.org/officeDocument/2006/relationships/slide" Target="/ppt/slides/slide37.xml" Id="R7d6afb4b1b7944fa" /></Relationships>
</file>

<file path=ppt/notesSlides/_rels/notesSlide38.xml.rels>&#65279;<?xml version="1.0" encoding="utf-8"?><Relationships xmlns="http://schemas.openxmlformats.org/package/2006/relationships"><Relationship Type="http://schemas.openxmlformats.org/officeDocument/2006/relationships/notesMaster" Target="/ppt/notesMasters/notesMaster1.xml" Id="R6554d61ebe7146c7" /><Relationship Type="http://schemas.openxmlformats.org/officeDocument/2006/relationships/slide" Target="/ppt/slides/slide38.xml" Id="R02f7f28871e64aa0" /></Relationships>
</file>

<file path=ppt/notesSlides/_rels/notesSlide39.xml.rels>&#65279;<?xml version="1.0" encoding="utf-8"?><Relationships xmlns="http://schemas.openxmlformats.org/package/2006/relationships"><Relationship Type="http://schemas.openxmlformats.org/officeDocument/2006/relationships/notesMaster" Target="/ppt/notesMasters/notesMaster1.xml" Id="R2048074b43164109" /><Relationship Type="http://schemas.openxmlformats.org/officeDocument/2006/relationships/slide" Target="/ppt/slides/slide39.xml" Id="Rc933f05ea19640dc" /></Relationships>
</file>

<file path=ppt/notesSlides/_rels/notesSlide40.xml.rels>&#65279;<?xml version="1.0" encoding="utf-8"?><Relationships xmlns="http://schemas.openxmlformats.org/package/2006/relationships"><Relationship Type="http://schemas.openxmlformats.org/officeDocument/2006/relationships/notesMaster" Target="/ppt/notesMasters/notesMaster1.xml" Id="Rec4aa3cacd2d46d2" /><Relationship Type="http://schemas.openxmlformats.org/officeDocument/2006/relationships/slide" Target="/ppt/slides/slide40.xml" Id="Rf212594d40e64745" /></Relationships>
</file>

<file path=ppt/notesSlides/_rels/notesSlide41.xml.rels>&#65279;<?xml version="1.0" encoding="utf-8"?><Relationships xmlns="http://schemas.openxmlformats.org/package/2006/relationships"><Relationship Type="http://schemas.openxmlformats.org/officeDocument/2006/relationships/notesMaster" Target="/ppt/notesMasters/notesMaster1.xml" Id="R7ce2d904504447d9" /><Relationship Type="http://schemas.openxmlformats.org/officeDocument/2006/relationships/slide" Target="/ppt/slides/slide41.xml" Id="R7426522171904d8b" /></Relationships>
</file>

<file path=ppt/notesSlides/_rels/notesSlide42.xml.rels>&#65279;<?xml version="1.0" encoding="utf-8"?><Relationships xmlns="http://schemas.openxmlformats.org/package/2006/relationships"><Relationship Type="http://schemas.openxmlformats.org/officeDocument/2006/relationships/notesMaster" Target="/ppt/notesMasters/notesMaster1.xml" Id="Rc98b893c8b40426e" /><Relationship Type="http://schemas.openxmlformats.org/officeDocument/2006/relationships/slide" Target="/ppt/slides/slide42.xml" Id="R276e147eae1e4135" /></Relationships>
</file>

<file path=ppt/notesSlides/_rels/notesSlide43.xml.rels>&#65279;<?xml version="1.0" encoding="utf-8"?><Relationships xmlns="http://schemas.openxmlformats.org/package/2006/relationships"><Relationship Type="http://schemas.openxmlformats.org/officeDocument/2006/relationships/notesMaster" Target="/ppt/notesMasters/notesMaster1.xml" Id="Re34005acdd17439c" /><Relationship Type="http://schemas.openxmlformats.org/officeDocument/2006/relationships/slide" Target="/ppt/slides/slide43.xml" Id="R8e3d4df13ace4660" /></Relationships>
</file>

<file path=ppt/notesSlides/_rels/notesSlide44.xml.rels>&#65279;<?xml version="1.0" encoding="utf-8"?><Relationships xmlns="http://schemas.openxmlformats.org/package/2006/relationships"><Relationship Type="http://schemas.openxmlformats.org/officeDocument/2006/relationships/notesMaster" Target="/ppt/notesMasters/notesMaster1.xml" Id="R3440389c00c44d7e" /><Relationship Type="http://schemas.openxmlformats.org/officeDocument/2006/relationships/slide" Target="/ppt/slides/slide44.xml" Id="R0345a53bba094d0f" /></Relationships>
</file>

<file path=ppt/notesSlides/_rels/notesSlide45.xml.rels>&#65279;<?xml version="1.0" encoding="utf-8"?><Relationships xmlns="http://schemas.openxmlformats.org/package/2006/relationships"><Relationship Type="http://schemas.openxmlformats.org/officeDocument/2006/relationships/notesMaster" Target="/ppt/notesMasters/notesMaster1.xml" Id="Rf305858cfe81495a" /><Relationship Type="http://schemas.openxmlformats.org/officeDocument/2006/relationships/slide" Target="/ppt/slides/slide45.xml" Id="R249e5144578d437f" /></Relationships>
</file>

<file path=ppt/notesSlides/_rels/notesSlide46.xml.rels>&#65279;<?xml version="1.0" encoding="utf-8"?><Relationships xmlns="http://schemas.openxmlformats.org/package/2006/relationships"><Relationship Type="http://schemas.openxmlformats.org/officeDocument/2006/relationships/notesMaster" Target="/ppt/notesMasters/notesMaster1.xml" Id="R910697bc64ea4056" /><Relationship Type="http://schemas.openxmlformats.org/officeDocument/2006/relationships/slide" Target="/ppt/slides/slide46.xml" Id="Re9e006a866dc439f" /></Relationships>
</file>

<file path=ppt/notesSlides/_rels/notesSlide47.xml.rels>&#65279;<?xml version="1.0" encoding="utf-8"?><Relationships xmlns="http://schemas.openxmlformats.org/package/2006/relationships"><Relationship Type="http://schemas.openxmlformats.org/officeDocument/2006/relationships/notesMaster" Target="/ppt/notesMasters/notesMaster1.xml" Id="R7281e23add5e466f" /><Relationship Type="http://schemas.openxmlformats.org/officeDocument/2006/relationships/slide" Target="/ppt/slides/slide47.xml" Id="Rdd5a451a61b3476c" /></Relationships>
</file>

<file path=ppt/notesSlides/_rels/notesSlide48.xml.rels>&#65279;<?xml version="1.0" encoding="utf-8"?><Relationships xmlns="http://schemas.openxmlformats.org/package/2006/relationships"><Relationship Type="http://schemas.openxmlformats.org/officeDocument/2006/relationships/notesMaster" Target="/ppt/notesMasters/notesMaster1.xml" Id="Rdd734f485504428e" /><Relationship Type="http://schemas.openxmlformats.org/officeDocument/2006/relationships/slide" Target="/ppt/slides/slide48.xml" Id="R18a693fad54a4540" /></Relationships>
</file>

<file path=ppt/notesSlides/_rels/notesSlide49.xml.rels>&#65279;<?xml version="1.0" encoding="utf-8"?><Relationships xmlns="http://schemas.openxmlformats.org/package/2006/relationships"><Relationship Type="http://schemas.openxmlformats.org/officeDocument/2006/relationships/notesMaster" Target="/ppt/notesMasters/notesMaster1.xml" Id="R200af0f351ae42b3" /><Relationship Type="http://schemas.openxmlformats.org/officeDocument/2006/relationships/slide" Target="/ppt/slides/slide49.xml" Id="R2139eda6ae154aca" /></Relationships>
</file>

<file path=ppt/notesSlides/_rels/notesSlide50.xml.rels>&#65279;<?xml version="1.0" encoding="utf-8"?><Relationships xmlns="http://schemas.openxmlformats.org/package/2006/relationships"><Relationship Type="http://schemas.openxmlformats.org/officeDocument/2006/relationships/notesMaster" Target="/ppt/notesMasters/notesMaster1.xml" Id="R86ad7a6b86914640" /><Relationship Type="http://schemas.openxmlformats.org/officeDocument/2006/relationships/slide" Target="/ppt/slides/slide50.xml" Id="Rf76fcccaedd3468b" /></Relationships>
</file>

<file path=ppt/notesSlides/_rels/notesSlide51.xml.rels>&#65279;<?xml version="1.0" encoding="utf-8"?><Relationships xmlns="http://schemas.openxmlformats.org/package/2006/relationships"><Relationship Type="http://schemas.openxmlformats.org/officeDocument/2006/relationships/notesMaster" Target="/ppt/notesMasters/notesMaster1.xml" Id="Rc83ada34b1464369" /><Relationship Type="http://schemas.openxmlformats.org/officeDocument/2006/relationships/slide" Target="/ppt/slides/slide51.xml" Id="Rd3cb1aed24c043af" /></Relationships>
</file>

<file path=ppt/notesSlides/_rels/notesSlide52.xml.rels>&#65279;<?xml version="1.0" encoding="utf-8"?><Relationships xmlns="http://schemas.openxmlformats.org/package/2006/relationships"><Relationship Type="http://schemas.openxmlformats.org/officeDocument/2006/relationships/notesMaster" Target="/ppt/notesMasters/notesMaster1.xml" Id="Ra9d79cfeda36478f" /><Relationship Type="http://schemas.openxmlformats.org/officeDocument/2006/relationships/slide" Target="/ppt/slides/slide52.xml" Id="Rb1662119628c4fcd" /></Relationships>
</file>

<file path=ppt/notesSlides/_rels/notesSlide53.xml.rels>&#65279;<?xml version="1.0" encoding="utf-8"?><Relationships xmlns="http://schemas.openxmlformats.org/package/2006/relationships"><Relationship Type="http://schemas.openxmlformats.org/officeDocument/2006/relationships/notesMaster" Target="/ppt/notesMasters/notesMaster1.xml" Id="R3c744e52ae5945e1" /><Relationship Type="http://schemas.openxmlformats.org/officeDocument/2006/relationships/slide" Target="/ppt/slides/slide53.xml" Id="Rfcfc1e86a2e74231" /></Relationships>
</file>

<file path=ppt/notesSlides/_rels/notesSlide54.xml.rels>&#65279;<?xml version="1.0" encoding="utf-8"?><Relationships xmlns="http://schemas.openxmlformats.org/package/2006/relationships"><Relationship Type="http://schemas.openxmlformats.org/officeDocument/2006/relationships/notesMaster" Target="/ppt/notesMasters/notesMaster1.xml" Id="R8c19062373584075" /><Relationship Type="http://schemas.openxmlformats.org/officeDocument/2006/relationships/slide" Target="/ppt/slides/slide54.xml" Id="R767e87a14f614d87" /></Relationships>
</file>

<file path=ppt/notesSlides/_rels/notesSlide55.xml.rels>&#65279;<?xml version="1.0" encoding="utf-8"?><Relationships xmlns="http://schemas.openxmlformats.org/package/2006/relationships"><Relationship Type="http://schemas.openxmlformats.org/officeDocument/2006/relationships/notesMaster" Target="/ppt/notesMasters/notesMaster1.xml" Id="R46bf5ffbf72e4277" /><Relationship Type="http://schemas.openxmlformats.org/officeDocument/2006/relationships/slide" Target="/ppt/slides/slide55.xml" Id="Ra95c233da151491e" /></Relationships>
</file>

<file path=ppt/notesSlides/_rels/notesSlide56.xml.rels>&#65279;<?xml version="1.0" encoding="utf-8"?><Relationships xmlns="http://schemas.openxmlformats.org/package/2006/relationships"><Relationship Type="http://schemas.openxmlformats.org/officeDocument/2006/relationships/notesMaster" Target="/ppt/notesMasters/notesMaster1.xml" Id="Ree444d199a104473" /><Relationship Type="http://schemas.openxmlformats.org/officeDocument/2006/relationships/slide" Target="/ppt/slides/slide56.xml" Id="Re353e57294cb4c4b" /></Relationships>
</file>

<file path=ppt/notesSlides/_rels/notesSlide57.xml.rels>&#65279;<?xml version="1.0" encoding="utf-8"?><Relationships xmlns="http://schemas.openxmlformats.org/package/2006/relationships"><Relationship Type="http://schemas.openxmlformats.org/officeDocument/2006/relationships/notesMaster" Target="/ppt/notesMasters/notesMaster1.xml" Id="Rc9b557da5b7548c6" /><Relationship Type="http://schemas.openxmlformats.org/officeDocument/2006/relationships/slide" Target="/ppt/slides/slide57.xml" Id="R0f98f47dd5de4bf1" /></Relationships>
</file>

<file path=ppt/notesSlides/_rels/notesSlide58.xml.rels>&#65279;<?xml version="1.0" encoding="utf-8"?><Relationships xmlns="http://schemas.openxmlformats.org/package/2006/relationships"><Relationship Type="http://schemas.openxmlformats.org/officeDocument/2006/relationships/notesMaster" Target="/ppt/notesMasters/notesMaster1.xml" Id="Rb231120b82c14f05" /><Relationship Type="http://schemas.openxmlformats.org/officeDocument/2006/relationships/slide" Target="/ppt/slides/slide58.xml" Id="R24142aad13594d4e" /></Relationships>
</file>

<file path=ppt/notesSlides/_rels/notesSlide59.xml.rels>&#65279;<?xml version="1.0" encoding="utf-8"?><Relationships xmlns="http://schemas.openxmlformats.org/package/2006/relationships"><Relationship Type="http://schemas.openxmlformats.org/officeDocument/2006/relationships/notesMaster" Target="/ppt/notesMasters/notesMaster1.xml" Id="Rdf1a532697674523" /><Relationship Type="http://schemas.openxmlformats.org/officeDocument/2006/relationships/slide" Target="/ppt/slides/slide59.xml" Id="R262b88f6ebda43c4" /></Relationships>
</file>

<file path=ppt/notesSlides/_rels/notesSlide60.xml.rels>&#65279;<?xml version="1.0" encoding="utf-8"?><Relationships xmlns="http://schemas.openxmlformats.org/package/2006/relationships"><Relationship Type="http://schemas.openxmlformats.org/officeDocument/2006/relationships/notesMaster" Target="/ppt/notesMasters/notesMaster1.xml" Id="Ra223ffbe398f4819" /><Relationship Type="http://schemas.openxmlformats.org/officeDocument/2006/relationships/slide" Target="/ppt/slides/slide60.xml" Id="R97b0a1568d244a19" /></Relationships>
</file>

<file path=ppt/notesSlides/_rels/notesSlide61.xml.rels>&#65279;<?xml version="1.0" encoding="utf-8"?><Relationships xmlns="http://schemas.openxmlformats.org/package/2006/relationships"><Relationship Type="http://schemas.openxmlformats.org/officeDocument/2006/relationships/notesMaster" Target="/ppt/notesMasters/notesMaster1.xml" Id="R62054979649c44d1" /><Relationship Type="http://schemas.openxmlformats.org/officeDocument/2006/relationships/slide" Target="/ppt/slides/slide61.xml" Id="R30d6381580a64c10" /></Relationships>
</file>

<file path=ppt/notesSlides/_rels/notesSlide62.xml.rels>&#65279;<?xml version="1.0" encoding="utf-8"?><Relationships xmlns="http://schemas.openxmlformats.org/package/2006/relationships"><Relationship Type="http://schemas.openxmlformats.org/officeDocument/2006/relationships/notesMaster" Target="/ppt/notesMasters/notesMaster1.xml" Id="Ra1f87ef0d61b4d69" /><Relationship Type="http://schemas.openxmlformats.org/officeDocument/2006/relationships/slide" Target="/ppt/slides/slide62.xml" Id="R5e2445925f3d417c" /></Relationships>
</file>

<file path=ppt/notesSlides/_rels/notesSlide63.xml.rels>&#65279;<?xml version="1.0" encoding="utf-8"?><Relationships xmlns="http://schemas.openxmlformats.org/package/2006/relationships"><Relationship Type="http://schemas.openxmlformats.org/officeDocument/2006/relationships/notesMaster" Target="/ppt/notesMasters/notesMaster1.xml" Id="R18f9b226a2314c37" /><Relationship Type="http://schemas.openxmlformats.org/officeDocument/2006/relationships/slide" Target="/ppt/slides/slide63.xml" Id="R4f15af8349524a3a" /></Relationships>
</file>

<file path=ppt/notesSlides/_rels/notesSlide64.xml.rels>&#65279;<?xml version="1.0" encoding="utf-8"?><Relationships xmlns="http://schemas.openxmlformats.org/package/2006/relationships"><Relationship Type="http://schemas.openxmlformats.org/officeDocument/2006/relationships/notesMaster" Target="/ppt/notesMasters/notesMaster1.xml" Id="R1a5aa5286aeb411e" /><Relationship Type="http://schemas.openxmlformats.org/officeDocument/2006/relationships/slide" Target="/ppt/slides/slide64.xml" Id="Rfa75614ab0874f7b" /></Relationships>
</file>

<file path=ppt/notesSlides/_rels/notesSlide65.xml.rels>&#65279;<?xml version="1.0" encoding="utf-8"?><Relationships xmlns="http://schemas.openxmlformats.org/package/2006/relationships"><Relationship Type="http://schemas.openxmlformats.org/officeDocument/2006/relationships/notesMaster" Target="/ppt/notesMasters/notesMaster1.xml" Id="R49ec24e780364f8e" /><Relationship Type="http://schemas.openxmlformats.org/officeDocument/2006/relationships/slide" Target="/ppt/slides/slide65.xml" Id="R8b772d1dde2744e8" /></Relationships>
</file>

<file path=ppt/notesSlides/_rels/notesSlide66.xml.rels>&#65279;<?xml version="1.0" encoding="utf-8"?><Relationships xmlns="http://schemas.openxmlformats.org/package/2006/relationships"><Relationship Type="http://schemas.openxmlformats.org/officeDocument/2006/relationships/notesMaster" Target="/ppt/notesMasters/notesMaster1.xml" Id="R109c5670b0934ea3" /><Relationship Type="http://schemas.openxmlformats.org/officeDocument/2006/relationships/slide" Target="/ppt/slides/slide66.xml" Id="R609d951ae3e1453b" /></Relationships>
</file>

<file path=ppt/notesSlides/_rels/notesSlide67.xml.rels>&#65279;<?xml version="1.0" encoding="utf-8"?><Relationships xmlns="http://schemas.openxmlformats.org/package/2006/relationships"><Relationship Type="http://schemas.openxmlformats.org/officeDocument/2006/relationships/notesMaster" Target="/ppt/notesMasters/notesMaster1.xml" Id="Re0c33f865e604b93" /><Relationship Type="http://schemas.openxmlformats.org/officeDocument/2006/relationships/slide" Target="/ppt/slides/slide67.xml" Id="R3afe1cfc79f74d17" /></Relationships>
</file>

<file path=ppt/notesSlides/_rels/notesSlide68.xml.rels>&#65279;<?xml version="1.0" encoding="utf-8"?><Relationships xmlns="http://schemas.openxmlformats.org/package/2006/relationships"><Relationship Type="http://schemas.openxmlformats.org/officeDocument/2006/relationships/notesMaster" Target="/ppt/notesMasters/notesMaster1.xml" Id="R7429413372684cdc" /><Relationship Type="http://schemas.openxmlformats.org/officeDocument/2006/relationships/slide" Target="/ppt/slides/slide68.xml" Id="R4e37c9dd510a4b1b" /></Relationships>
</file>

<file path=ppt/notesSlides/_rels/notesSlide69.xml.rels>&#65279;<?xml version="1.0" encoding="utf-8"?><Relationships xmlns="http://schemas.openxmlformats.org/package/2006/relationships"><Relationship Type="http://schemas.openxmlformats.org/officeDocument/2006/relationships/notesMaster" Target="/ppt/notesMasters/notesMaster1.xml" Id="Rb191c31fec034894" /><Relationship Type="http://schemas.openxmlformats.org/officeDocument/2006/relationships/slide" Target="/ppt/slides/slide69.xml" Id="R6ae3283e2be74f80" /></Relationships>
</file>

<file path=ppt/notesSlides/_rels/notesSlide70.xml.rels>&#65279;<?xml version="1.0" encoding="utf-8"?><Relationships xmlns="http://schemas.openxmlformats.org/package/2006/relationships"><Relationship Type="http://schemas.openxmlformats.org/officeDocument/2006/relationships/notesMaster" Target="/ppt/notesMasters/notesMaster1.xml" Id="R28f8a07551ed40f5" /><Relationship Type="http://schemas.openxmlformats.org/officeDocument/2006/relationships/slide" Target="/ppt/slides/slide70.xml" Id="Rcc48493d46194abb" /></Relationships>
</file>

<file path=ppt/notesSlides/_rels/notesSlide71.xml.rels>&#65279;<?xml version="1.0" encoding="utf-8"?><Relationships xmlns="http://schemas.openxmlformats.org/package/2006/relationships"><Relationship Type="http://schemas.openxmlformats.org/officeDocument/2006/relationships/notesMaster" Target="/ppt/notesMasters/notesMaster1.xml" Id="R08fd388f721f463b" /><Relationship Type="http://schemas.openxmlformats.org/officeDocument/2006/relationships/slide" Target="/ppt/slides/slide71.xml" Id="Re9264ef410c24d4f" /></Relationships>
</file>

<file path=ppt/notesSlides/_rels/notesSlide72.xml.rels>&#65279;<?xml version="1.0" encoding="utf-8"?><Relationships xmlns="http://schemas.openxmlformats.org/package/2006/relationships"><Relationship Type="http://schemas.openxmlformats.org/officeDocument/2006/relationships/notesMaster" Target="/ppt/notesMasters/notesMaster1.xml" Id="Rdae551f712784750" /><Relationship Type="http://schemas.openxmlformats.org/officeDocument/2006/relationships/slide" Target="/ppt/slides/slide72.xml" Id="R0a6b3027b75c43c6" /></Relationships>
</file>

<file path=ppt/notesSlides/_rels/notesSlide73.xml.rels>&#65279;<?xml version="1.0" encoding="utf-8"?><Relationships xmlns="http://schemas.openxmlformats.org/package/2006/relationships"><Relationship Type="http://schemas.openxmlformats.org/officeDocument/2006/relationships/notesMaster" Target="/ppt/notesMasters/notesMaster1.xml" Id="R436ca5b072074c62" /><Relationship Type="http://schemas.openxmlformats.org/officeDocument/2006/relationships/slide" Target="/ppt/slides/slide73.xml" Id="R19231be23c4644c8" /></Relationships>
</file>

<file path=ppt/notesSlides/_rels/notesSlide74.xml.rels>&#65279;<?xml version="1.0" encoding="utf-8"?><Relationships xmlns="http://schemas.openxmlformats.org/package/2006/relationships"><Relationship Type="http://schemas.openxmlformats.org/officeDocument/2006/relationships/notesMaster" Target="/ppt/notesMasters/notesMaster1.xml" Id="R3daf7e83d9224771" /><Relationship Type="http://schemas.openxmlformats.org/officeDocument/2006/relationships/slide" Target="/ppt/slides/slide74.xml" Id="R1f0fe19420f746bf" /></Relationships>
</file>

<file path=ppt/notesSlides/_rels/notesSlide75.xml.rels>&#65279;<?xml version="1.0" encoding="utf-8"?><Relationships xmlns="http://schemas.openxmlformats.org/package/2006/relationships"><Relationship Type="http://schemas.openxmlformats.org/officeDocument/2006/relationships/notesMaster" Target="/ppt/notesMasters/notesMaster1.xml" Id="Rbbf56845830a4292" /><Relationship Type="http://schemas.openxmlformats.org/officeDocument/2006/relationships/slide" Target="/ppt/slides/slide75.xml" Id="Rd21c6bc4d75543ed" /></Relationships>
</file>

<file path=ppt/notesSlides/_rels/notesSlide76.xml.rels>&#65279;<?xml version="1.0" encoding="utf-8"?><Relationships xmlns="http://schemas.openxmlformats.org/package/2006/relationships"><Relationship Type="http://schemas.openxmlformats.org/officeDocument/2006/relationships/notesMaster" Target="/ppt/notesMasters/notesMaster1.xml" Id="R494b603f65b34c0a" /><Relationship Type="http://schemas.openxmlformats.org/officeDocument/2006/relationships/slide" Target="/ppt/slides/slide76.xml" Id="R74b356caaa224083" /></Relationships>
</file>

<file path=ppt/notesSlides/_rels/notesSlide77.xml.rels>&#65279;<?xml version="1.0" encoding="utf-8"?><Relationships xmlns="http://schemas.openxmlformats.org/package/2006/relationships"><Relationship Type="http://schemas.openxmlformats.org/officeDocument/2006/relationships/notesMaster" Target="/ppt/notesMasters/notesMaster1.xml" Id="Rcd5f0be4e3184a70" /><Relationship Type="http://schemas.openxmlformats.org/officeDocument/2006/relationships/slide" Target="/ppt/slides/slide77.xml" Id="R21b471b6196c40d4" /></Relationships>
</file>

<file path=ppt/notesSlides/_rels/notesSlide78.xml.rels>&#65279;<?xml version="1.0" encoding="utf-8"?><Relationships xmlns="http://schemas.openxmlformats.org/package/2006/relationships"><Relationship Type="http://schemas.openxmlformats.org/officeDocument/2006/relationships/notesMaster" Target="/ppt/notesMasters/notesMaster1.xml" Id="Redcceeff3d0d4aba" /><Relationship Type="http://schemas.openxmlformats.org/officeDocument/2006/relationships/slide" Target="/ppt/slides/slide78.xml" Id="Rf826f228c98e45f6" /></Relationships>
</file>

<file path=ppt/notesSlides/_rels/notesSlide79.xml.rels>&#65279;<?xml version="1.0" encoding="utf-8"?><Relationships xmlns="http://schemas.openxmlformats.org/package/2006/relationships"><Relationship Type="http://schemas.openxmlformats.org/officeDocument/2006/relationships/notesMaster" Target="/ppt/notesMasters/notesMaster1.xml" Id="Rcce93ec4e37f43c4" /><Relationship Type="http://schemas.openxmlformats.org/officeDocument/2006/relationships/slide" Target="/ppt/slides/slide79.xml" Id="Rc418862515b7467e" /></Relationships>
</file>

<file path=ppt/notesSlides/_rels/notesSlide80.xml.rels>&#65279;<?xml version="1.0" encoding="utf-8"?><Relationships xmlns="http://schemas.openxmlformats.org/package/2006/relationships"><Relationship Type="http://schemas.openxmlformats.org/officeDocument/2006/relationships/notesMaster" Target="/ppt/notesMasters/notesMaster1.xml" Id="Rf3e3618bfcfd4c49" /><Relationship Type="http://schemas.openxmlformats.org/officeDocument/2006/relationships/slide" Target="/ppt/slides/slide80.xml" Id="R324ab7e688d84374" /></Relationships>
</file>

<file path=ppt/notesSlides/_rels/notesSlide81.xml.rels>&#65279;<?xml version="1.0" encoding="utf-8"?><Relationships xmlns="http://schemas.openxmlformats.org/package/2006/relationships"><Relationship Type="http://schemas.openxmlformats.org/officeDocument/2006/relationships/notesMaster" Target="/ppt/notesMasters/notesMaster1.xml" Id="R2581cb533d7a4d6a" /><Relationship Type="http://schemas.openxmlformats.org/officeDocument/2006/relationships/slide" Target="/ppt/slides/slide81.xml" Id="Re46066afd74049f9" /></Relationships>
</file>

<file path=ppt/notesSlides/_rels/notesSlide82.xml.rels>&#65279;<?xml version="1.0" encoding="utf-8"?><Relationships xmlns="http://schemas.openxmlformats.org/package/2006/relationships"><Relationship Type="http://schemas.openxmlformats.org/officeDocument/2006/relationships/notesMaster" Target="/ppt/notesMasters/notesMaster1.xml" Id="R54c750d40d0c4c09" /><Relationship Type="http://schemas.openxmlformats.org/officeDocument/2006/relationships/slide" Target="/ppt/slides/slide82.xml" Id="R2794469abe50432f" /></Relationships>
</file>

<file path=ppt/notesSlides/_rels/notesSlide83.xml.rels>&#65279;<?xml version="1.0" encoding="utf-8"?><Relationships xmlns="http://schemas.openxmlformats.org/package/2006/relationships"><Relationship Type="http://schemas.openxmlformats.org/officeDocument/2006/relationships/notesMaster" Target="/ppt/notesMasters/notesMaster1.xml" Id="Ra63356e117fc45ec" /><Relationship Type="http://schemas.openxmlformats.org/officeDocument/2006/relationships/slide" Target="/ppt/slides/slide83.xml" Id="R10ca0234dbf6493f" /></Relationships>
</file>

<file path=ppt/notesSlides/_rels/notesSlide84.xml.rels>&#65279;<?xml version="1.0" encoding="utf-8"?><Relationships xmlns="http://schemas.openxmlformats.org/package/2006/relationships"><Relationship Type="http://schemas.openxmlformats.org/officeDocument/2006/relationships/notesMaster" Target="/ppt/notesMasters/notesMaster1.xml" Id="R5c2c5817381e406a" /><Relationship Type="http://schemas.openxmlformats.org/officeDocument/2006/relationships/slide" Target="/ppt/slides/slide84.xml" Id="Rb8a6c195925d46ff" /></Relationships>
</file>

<file path=ppt/notesSlides/_rels/notesSlide85.xml.rels>&#65279;<?xml version="1.0" encoding="utf-8"?><Relationships xmlns="http://schemas.openxmlformats.org/package/2006/relationships"><Relationship Type="http://schemas.openxmlformats.org/officeDocument/2006/relationships/notesMaster" Target="/ppt/notesMasters/notesMaster1.xml" Id="Rc123194c783d41e2" /><Relationship Type="http://schemas.openxmlformats.org/officeDocument/2006/relationships/slide" Target="/ppt/slides/slide85.xml" Id="R7310a493d29e47fd" /></Relationships>
</file>

<file path=ppt/notesSlides/_rels/notesSlide86.xml.rels>&#65279;<?xml version="1.0" encoding="utf-8"?><Relationships xmlns="http://schemas.openxmlformats.org/package/2006/relationships"><Relationship Type="http://schemas.openxmlformats.org/officeDocument/2006/relationships/notesMaster" Target="/ppt/notesMasters/notesMaster1.xml" Id="Rcd8872ad9e214e55" /><Relationship Type="http://schemas.openxmlformats.org/officeDocument/2006/relationships/slide" Target="/ppt/slides/slide86.xml" Id="R8f4f61a9671c482e" /></Relationships>
</file>

<file path=ppt/notesSlides/_rels/notesSlide87.xml.rels>&#65279;<?xml version="1.0" encoding="utf-8"?><Relationships xmlns="http://schemas.openxmlformats.org/package/2006/relationships"><Relationship Type="http://schemas.openxmlformats.org/officeDocument/2006/relationships/notesMaster" Target="/ppt/notesMasters/notesMaster1.xml" Id="R7e2bd95c3d5c4891" /><Relationship Type="http://schemas.openxmlformats.org/officeDocument/2006/relationships/slide" Target="/ppt/slides/slide87.xml" Id="R0883bfa86dc847ab" /></Relationships>
</file>

<file path=ppt/notesSlides/_rels/notesSlide88.xml.rels>&#65279;<?xml version="1.0" encoding="utf-8"?><Relationships xmlns="http://schemas.openxmlformats.org/package/2006/relationships"><Relationship Type="http://schemas.openxmlformats.org/officeDocument/2006/relationships/notesMaster" Target="/ppt/notesMasters/notesMaster1.xml" Id="R96cec5e45c854e06" /><Relationship Type="http://schemas.openxmlformats.org/officeDocument/2006/relationships/slide" Target="/ppt/slides/slide88.xml" Id="Rafa5d505968a4dc1" /></Relationships>
</file>

<file path=ppt/notesSlides/_rels/notesSlide89.xml.rels>&#65279;<?xml version="1.0" encoding="utf-8"?><Relationships xmlns="http://schemas.openxmlformats.org/package/2006/relationships"><Relationship Type="http://schemas.openxmlformats.org/officeDocument/2006/relationships/notesMaster" Target="/ppt/notesMasters/notesMaster1.xml" Id="Rbf199f365c0340ab" /><Relationship Type="http://schemas.openxmlformats.org/officeDocument/2006/relationships/slide" Target="/ppt/slides/slide89.xml" Id="Rbaed638f1eb146ab" /></Relationships>
</file>

<file path=ppt/notesSlides/_rels/notesSlide90.xml.rels>&#65279;<?xml version="1.0" encoding="utf-8"?><Relationships xmlns="http://schemas.openxmlformats.org/package/2006/relationships"><Relationship Type="http://schemas.openxmlformats.org/officeDocument/2006/relationships/notesMaster" Target="/ppt/notesMasters/notesMaster1.xml" Id="R000f2358cc854a4a" /><Relationship Type="http://schemas.openxmlformats.org/officeDocument/2006/relationships/slide" Target="/ppt/slides/slide90.xml" Id="R5c5ae4335a494bc5" /></Relationships>
</file>

<file path=ppt/notesSlides/_rels/notesSlide91.xml.rels>&#65279;<?xml version="1.0" encoding="utf-8"?><Relationships xmlns="http://schemas.openxmlformats.org/package/2006/relationships"><Relationship Type="http://schemas.openxmlformats.org/officeDocument/2006/relationships/notesMaster" Target="/ppt/notesMasters/notesMaster1.xml" Id="R41f14d4fe81f4512" /><Relationship Type="http://schemas.openxmlformats.org/officeDocument/2006/relationships/slide" Target="/ppt/slides/slide91.xml" Id="Rc7a3433d94e2404b" /></Relationships>
</file>

<file path=ppt/notesSlides/_rels/notesSlide92.xml.rels>&#65279;<?xml version="1.0" encoding="utf-8"?><Relationships xmlns="http://schemas.openxmlformats.org/package/2006/relationships"><Relationship Type="http://schemas.openxmlformats.org/officeDocument/2006/relationships/notesMaster" Target="/ppt/notesMasters/notesMaster1.xml" Id="R05004b5163034f63" /><Relationship Type="http://schemas.openxmlformats.org/officeDocument/2006/relationships/slide" Target="/ppt/slides/slide92.xml" Id="R0af1aaf836864134" /></Relationships>
</file>

<file path=ppt/notesSlides/_rels/notesSlide93.xml.rels>&#65279;<?xml version="1.0" encoding="utf-8"?><Relationships xmlns="http://schemas.openxmlformats.org/package/2006/relationships"><Relationship Type="http://schemas.openxmlformats.org/officeDocument/2006/relationships/notesMaster" Target="/ppt/notesMasters/notesMaster1.xml" Id="R1f25b2cd67554dc4" /><Relationship Type="http://schemas.openxmlformats.org/officeDocument/2006/relationships/slide" Target="/ppt/slides/slide93.xml" Id="Rde4dc5b4e5854741" /></Relationships>
</file>

<file path=ppt/notesSlides/_rels/notesSlide94.xml.rels>&#65279;<?xml version="1.0" encoding="utf-8"?><Relationships xmlns="http://schemas.openxmlformats.org/package/2006/relationships"><Relationship Type="http://schemas.openxmlformats.org/officeDocument/2006/relationships/notesMaster" Target="/ppt/notesMasters/notesMaster1.xml" Id="R077e2c0e8b0a40b1" /><Relationship Type="http://schemas.openxmlformats.org/officeDocument/2006/relationships/slide" Target="/ppt/slides/slide94.xml" Id="Rdc4219f9ce0840cd" /></Relationships>
</file>

<file path=ppt/notesSlides/_rels/notesSlide95.xml.rels>&#65279;<?xml version="1.0" encoding="utf-8"?><Relationships xmlns="http://schemas.openxmlformats.org/package/2006/relationships"><Relationship Type="http://schemas.openxmlformats.org/officeDocument/2006/relationships/notesMaster" Target="/ppt/notesMasters/notesMaster1.xml" Id="R642dd22e535142a4" /><Relationship Type="http://schemas.openxmlformats.org/officeDocument/2006/relationships/slide" Target="/ppt/slides/slide95.xml" Id="R8793ed7557924091" /></Relationships>
</file>

<file path=ppt/notesSlides/_rels/notesSlide96.xml.rels>&#65279;<?xml version="1.0" encoding="utf-8"?><Relationships xmlns="http://schemas.openxmlformats.org/package/2006/relationships"><Relationship Type="http://schemas.openxmlformats.org/officeDocument/2006/relationships/notesMaster" Target="/ppt/notesMasters/notesMaster1.xml" Id="R2cdff4623e354b30" /><Relationship Type="http://schemas.openxmlformats.org/officeDocument/2006/relationships/slide" Target="/ppt/slides/slide96.xml" Id="Rf7937c6ba058449e" /></Relationships>
</file>

<file path=ppt/notesSlides/_rels/notesSlide97.xml.rels>&#65279;<?xml version="1.0" encoding="utf-8"?><Relationships xmlns="http://schemas.openxmlformats.org/package/2006/relationships"><Relationship Type="http://schemas.openxmlformats.org/officeDocument/2006/relationships/notesMaster" Target="/ppt/notesMasters/notesMaster1.xml" Id="R153c1865230e439e" /><Relationship Type="http://schemas.openxmlformats.org/officeDocument/2006/relationships/slide" Target="/ppt/slides/slide97.xml" Id="R74ae0a3ada2c4aea" /></Relationships>
</file>

<file path=ppt/notesSlides/_rels/notesSlide98.xml.rels>&#65279;<?xml version="1.0" encoding="utf-8"?><Relationships xmlns="http://schemas.openxmlformats.org/package/2006/relationships"><Relationship Type="http://schemas.openxmlformats.org/officeDocument/2006/relationships/notesMaster" Target="/ppt/notesMasters/notesMaster1.xml" Id="R33699cabee8f4af8" /><Relationship Type="http://schemas.openxmlformats.org/officeDocument/2006/relationships/slide" Target="/ppt/slides/slide98.xml" Id="R502ad04f5a8f410d" /></Relationships>
</file>

<file path=ppt/notesSlides/_rels/notesSlide99.xml.rels>&#65279;<?xml version="1.0" encoding="utf-8"?><Relationships xmlns="http://schemas.openxmlformats.org/package/2006/relationships"><Relationship Type="http://schemas.openxmlformats.org/officeDocument/2006/relationships/notesMaster" Target="/ppt/notesMasters/notesMaster1.xml" Id="Rb2e0f6dba01f4929" /><Relationship Type="http://schemas.openxmlformats.org/officeDocument/2006/relationships/slide" Target="/ppt/slides/slide99.xml" Id="R75ee529836c940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この資料は、論文 Finite graph certificates for composite terms in rational floor sequences の内容を、高校数学の知識で読めるように説明するものです。扱う数列は、正の実数 ξ に 7/5 や 5/2 を何回も掛け、小数点以下を切り捨ててできる整数の列です。論文は、このような数列に 2 や 3 などの小さな素数で割り切れる項が無限に多く現れることを、有限の大きさのグラフを使って証明します。記号や言葉は、はじめて出てきたときに必ず説明します。</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この資料は6つの問いに順番に答える構成です。最初に結果を説明し、次に証明の道具を一つずつ説明し、最後に方法の限界と検証の方法を説明します。大学で習う言葉（グラフ、強連結成分、合同式の解の個数など）は、使う前に定義と例を示します。</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第1章で結果を述べ、第2章から第4章で証明を説明します。第5章は「何番目までに」という量的な結果、第6章は方法の限界についての定理です。第7章では、計算と証明をどう確かめたかを説明します。第8章は付録にある追加の結果と未解決問題、第9章はまとめと研究の成り立ちです。</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第1章では、扱う数列を定義し、論文の主な結果を述べます。証明は第2章以降です。</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床関数は英語で floor function といい、記号 ⌊x⌋ で表します。たとえば 2.744 の床は 2 です。整数 5 の床は 5 自身です。注意が必要なのは負の数で、-1.3 以下の最大の整数は -2 です（-1 は -1.3 より大きいので条件を満たしません）。この論文では、負の数の床も後で出てきます（グラフの辺を数える式）。そこでもこの定義どおりに計算します。</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記号 Q_n を「n 番目の項」とよびます。番号は n=0 から始めます。Q_0 = ⌊ξ⌋ です。ξ=1 の場合、(7/5)^3 = 343/125 = 2.744 なので Q_3 = 2 です。値はすべて分数で正確に計算しています（小数の近似計算ではありません）。7/5 を掛けるたびにおよそ 1.4 倍になるので、項はどんどん大きくなります。</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例えば ξ=2 なら 2, 2, 3, 5, 7, 10, 15, … となり、ξ=1 のときと違う数列です。ξ は無理数（π など）でもかまいません。正の実数は数えきれないほど多い（非可算）ので、どれだけ計算機を使っても全部の ξ を試すことはできません。この論文の証明は、ξ を1つずつ試すのではなく、すべての ξ をまとめて扱う方法をとります。</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合成数とは、1 より大きい 2 つの整数の積で書ける数です。素数 p で割り切れる数 Q が p より大きければ、Q = p × v と書けて v は 1 より大きいので、Q は合成数です。Q = p のときは Q 自身が素数なので合成数ではありません。論文の系（後で説明）では、項が十分大きくなることを使ってこの場合を除きます。</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4290 は 2, 3, 5, 11, 13 の積です。Q と 4290 の最大公約数が 1 より大きいことは、Q がこの5つの素数の少なくとも1つで割り切れることと同じです。逆に gcd が 1 なら、Q はこの5つのどれでも割り切れません。この状態を「4290 と互いに素」とよびます。後半の証明では「互いに素な状態がずっと続く」と仮定して矛盾を導きます。</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「無限に多くの n で成り立つ」を正確に言うと、どんな番号 N を持ってきても、N 以上のところに成り立つ n が見つかる、ということです。もし成り立つ n が有限個しかなければ、その最大のものより大きい N を選ぶと、その先に成り立つ n がなくなります。論文の定理はこの形（任意の N に対して n ≥ max(N,1) が存在する）で書かれています。</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定理1 (i) の主張です。ξ=1 の例では、Q_3=2, Q_4=3, Q_5=5 のように、多くの項が 2, 3, 5, 11, 13 のどれかで割り切れます。一方、Q_6=7 や Q_13=79 のように、どれでも割り切れない項もあります。定理が言っているのは「割り切れる項が無限に多い」ことであり、「すべての項が割り切れる」ことではありません。</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比 5/2 = 2.5 の場合は、10 個の素数 2, 3, 7, 11, 13, 17, 19, 23, 29, 31 を使います。5 は入っていません。5 を入れない方が主張は強くなります（使える素数が少ないほど強い主張です）。(i) と (ii) は別々の定理です。同じ番号 n で両方が成り立つとは言っていません。</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系2は定理1から直ちに出ます。7/5 の数列では、項は約 1.4 倍ずつ増えるので、いつか 13 より大きくなります。その先でも定理1により 2, 3, 5, 11, 13 のどれかで割り切れる項が無限にあり、その項は割る素数より大きいので合成数です。5/2 の場合は 31 より大きくなった先で同じ議論をします。項が大きくなることは、ベルヌーイの不等式 (1+δ)^n ≥ 1+nδ で確かめられます（δ = r−1 &gt; 0）。</a:t>
            </a: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定理3は量的な結果です。たとえば ξ=100.5 なら P=100 で、L(100)=3（5^3=125 は 102 以上、5^2=25 は 102 未満）なので、n ≤ 464 の範囲に割り切れる項が必ずあります。P が大きくなっても L(P) は対数的にしか増えないので、上限はゆっくりしか大きくなりません。さらに、任意の番号 N から数えても、Q_N &gt; 13 なら N 以上 N + 428 + 12L(Q_N) 以下に合成数の項があります。第5章で証明します。</a:t>
            </a: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3/2 と 4/3 は 1967 年に Forman と Shapiro が、5/4 は Dubickas と Novikas が扱いました。7/5 について Dubickas–Novikas が示したのは四捨五入 ⌊ξ(7/5)^n + 1/2⌋ の場合で、5/2 については ⌊ξ(5/2)^n⌋ − 1 の場合です。丸め方や 1 を引くかどうかで、次の項との関係（後で出てくる繰り上がり）の値の範囲が変わるため、同じ証明はそのまま使えません。この論文は、切り捨てただけの ⌊ξ(7/5)^n⌋ と ⌊ξ(5/2)^n⌋ について証明します。3/2, 4/3, 5/4 の結果は、この論文の方法でも再現できることを確かめています（第3章の表3）。</a:t>
            </a:r>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ξ は無限にあり、1つの ξ に対しても数列は無限に続きます。どちらも計算機で最後まで調べることはできません。また、たとえば 1.4 倍を何十回も繰り返すと、小数第何十位の違いが整数部分に影響します。浮動小数点数による近似計算は証明には使えません。論文は、どの ξ の数列にも必ず当てはまる「隣り合う2項の関係」を有限個の状態と辺で表したグラフ（外側近似グラフ）を作り、そのグラフを有限回の計算で調べます。</a:t>
            </a:r>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証明全体は背理法です。主張を否定すると「ある ξ と N があり、N 以上のすべての n で Q_n は 4290 と互いに素」となります。このとき、隣り合う項の組はグラフの辺になり、N から先の数列はグラフ上の無限に続く道（ウォーク）になります。グラフの中で「出力が周期的になってしまう部分」は、第2章の補題により数列が永遠に留まれない場所なので、取り除いてよいことが分かります。取り除いてはグラフを細かくし直す、を有限回繰り返して最後にグラフが空になれば、道は存在できず矛盾です。</a:t>
            </a:r>
          </a:p>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第2章では、証明全体の土台になる2つのものを説明します。1つは隣り合う項の関係を表す「繰り上がり」、もう1つは「繰り上がりの列は最終的に周期的にならない」という補題4です。ここからは 7/5 と 5/2 をまとめて、比を a/b（a&gt;b≥2 の整数で、a と b は互いに素）と書きます。7/5 なら a=7, b=5 です。</a:t>
            </a:r>
          </a:p>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実数 x_n = ξ r^n を、整数部分 Q_n と小数部分 θ_n に分けます。小数部分は必ず 0 以上 1 未満です。定理が扱うのは整数部分 Q_n ですが、次の項がどうなるかは小数部分にも左右されます。証明では、この2つを両方とも追いかけます。a と b が互いに素という条件は、7/5 や 5/2 のような既約分数を考える、という意味です。</a:t>
            </a:r>
          </a:p>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c_n は b Q_n+1 − a Q_n と定義します。もし切り捨てをしなければ b x_n+1 = a x_n がぴったり成り立ちます。切り捨てると、そこに小さな整数のずれが生じます。そのずれが c_n です。ξ=1, 7/5 の例では c_0 = 5·1 − 7·1 = −2 です。c_n は負の値もとります。この論文では c_n を「符号付きの繰り上がり」とよびます。以後の証明は、Q_n の代わりに、この c_n の列を調べます。</a:t>
            </a:r>
          </a:p>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x_n+1 = (a/b) x_n の両辺を b 倍すると b x_n+1 = a x_n です。x = Q + θ を代入して整理すると c_n = a θ_n − b θ_n+1 が得られます。θ_n は 0 以上 1 未満なので、a θ_n は 0 以上 a 未満、b θ_n+1 は 0 以上 b 未満です。よって c_n は −b より大きく a より小さい実数です。c_n は整数なので 1−b 以上 a−1 以下になります。7/5 では −4 から 6 までです。</a:t>
            </a:r>
          </a:p>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周期的な列とは、同じ並びが最初から最後まで繰り返される列です。最終的に周期的な列は、はじめの有限個はばらばらでもよく、ある番号 N から先で繰り返しになります。次の補題4は「繰り上がりの列 c_n は、最終的に周期的にもならない」と主張します。</a:t>
            </a:r>
          </a:p>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補題4は、繰り上がりの列がどこから先も周期的な繰り返しにならないことを述べます。条件 b ≥ 2 と gcd(a,b)=1 は本質的です。たとえば比が整数 7 のとき（b=1）、ξ=1 なら Q_n = 7^n で c_n = 0 がずっと続き、周期的になります。この補題の考え方は先行研究（Dubickas–Novikas の補題）にもあり、この論文は整数だけを使う証明を与えています。次の2枚で証明を説明します。</a:t>
            </a:r>
          </a:p>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b D_k+1 = a D_k を k 回使うと b^k D_k = a^k D_0 になります（両辺に b を掛けながら順に代入します）。左辺は b^k で割り切れるので、右辺 a^k D_0 も b^k で割り切れます。a と b は互いに素なので a^k と b^k も互いに素で、b^k は D_0 を割り切ります。0 でない整数 D_0 は、絶対値 |D_0| より大きい数では割り切れません。b ≥ 2 なので b^k はいくらでも大きくなります。よって D_0 = 0 です。D_0 の符号についての仮定は要りません。</a:t>
            </a:r>
          </a:p>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周期 L の仮定のもとで、Q_n+1 の式と Q_n+L+1 の式を引き算すると、繰り上がりの部分が打ち消し合って b D_k+1 = a D_k が残ります。前の頁の結果により D_0 = 0 で、Q_m+L = Q_m です。m は N 以上なら何でもよいので、Q_N = Q_N+L = Q_N+2L = … です。しかし r &gt; 1 なので項はいくらでも大きくなります（ベルヌーイの不等式による。狭い意味で毎回増えるとは限らず、ξ=1 では 1, 1, 1, 2, … です）。これは矛盾なので、繰り上がりは最終的に周期的になりません。この証明は整数の式と「いくらでも大きくなる」ことだけを使っています。</a:t>
            </a:r>
          </a:p>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第3章では、比 7/5 の定理1 (i) を証明する1つめの方法（1ステップ法）を説明します。1本の辺に繰り上がりを1つだけ付けるので「1ステップ」とよびます。この章の考え方は、第4章の語ラベル法でもそのまま使います。</a:t>
            </a:r>
          </a:p>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合同式 x ≡ y (mod M) は、x と y を M で割ったあまりが等しいことを表します。整数 Q が 4290 の素因数（2,3,5,11,13）のどれかで割り切れるかどうかは、Q を 4290 で割ったあまりだけで決まります。0 から 4289 までのあまりのうち 4290 と互いに素なものは 960 個あります。この個数を φ(4290)（オイラーのファイ関数）と書き、φ(4290) = (2−1)(3−1)(5−1)(11−1)(13−1) = 960 です。</a:t>
            </a:r>
          </a:p>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小数部分そのものは実数なので、そのままでは有限個の場合に分けられません。そこで [0,1) を K 等分して、どの小区間（セル）にあるかだけを記録します。セルは左端を含み右端を含まない半開区間です。そのため、どの θ もちょうど1つのセルに入ります。セル番号は j = ⌊Kθ⌋ で計算できます。後で K を大きくして、セルを細かくしていきます。</a:t>
            </a:r>
          </a:p>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状態 σ_K(n) は、整数部分を M で割ったあまりと、小数部分のセル番号の組です。ξ=2 の例では x_8 = 2 × (7/5)^8 = 29.515… なので、あまりは 29、小数部分 0.515… はセル 2（K=4 のとき [1/2, 3/4)）にあります。項が 4290 と互いに素なら、あまりは 960 通り、セルは K 通りなので、状態は 960K 個の中のどれかです。この有限個の状態を頂点にしてグラフを作ります。</a:t>
            </a:r>
          </a:p>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この論文で使うグラフは、有向グラフと呼ばれるものです。頂点を矢印（辺）で結び、各辺に数（ラベル）を付けます。同じ2頂点の間に、ラベルの違う辺が何本あってもかまいません。ウォークとは、辺の向きに従って頂点をたどっていく列です。同じ場所を何度通ってもよく、無限に続くウォークも考えます。たどった辺のラベルを並べた列を出力とよびます。後で、数列の繰り上がりの列が、あるウォークの出力になることを示します。</a:t>
            </a:r>
          </a:p>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状態 (q,j) から (z,k) へのラベル e の辺は、(E1)(E2)(E3) の3つを満たすときに引きます。(E1) は前章で示した繰り上がりの範囲です。(E2) は b Q_n+1 = a Q_n + c_n を M で割ったあまりで見たものです。(E3) は小数部分の関係 c = a θ_n − b θ_n+1 から来ます。θ_n がセル j、θ_n+1 がセル k に入っているとき、a θ_n − b θ_n+1 がとりうる範囲を K 倍したのが (E3) の不等式です。これらの条件で作ったグラフを G(M,K) と書き、完全な1ステップグラフとよびます。</a:t>
            </a:r>
          </a:p>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小数部分の関係 a θ_n − b θ_n+1 = c_n を、u = K θ_n、v = K θ_n+1 の平面で見ると、直線 a u − b v = e K になります。セルの組 (j,k) は正方形 [j, j+1) × [k, k+1) です。この直線が正方形を通ることと、不等式 (E3) は同値です。図の例では a=5, b=2, K=4, j=k=1, e=1 で、直線は正方形を通るので (E3) が成り立ちます。実際 1 &lt; 4 &lt; 8 です。この判定は隣り合う2つのセルの両立だけを見ています。3つ以上続く並びが本当に起こるかどうかは保証しません。</a:t>
            </a:r>
          </a:p>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ξ=2 の数列で n=8, 9 を見ます。Q_8 = 29, Q_9 = 41 はどちらも 4290 と互いに素です。繰り上がりは 5×41 − 7×29 = 2 です。(E1) は −4 ≤ 2 ≤ 6、(E2) は 205 と 7×29+2 = 205 が等しいので成り立ちます。(E3) は j=2, k=1, K=4 を代入して 4 &lt; 8 &lt; 16 です。次の頁の命題5は、どんな ξ と n についても、このように隣り合う状態が辺になることを保証します。</a:t>
            </a:r>
          </a:p>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合同式 5z ≡ t (mod 4290) は、普通の方程式のように両辺を 5 で割ることができません。5 と 4290 が互いに素でないからです。t が 5 で割り切れないときは解がなく、割り切れるときは z ≡ t/5 (mod 858) となり、0 から 4289 の中に 858 おきに 5 個の解があります。例の t = 205 では z = 41, 899, 1757, 2615, 3473 です。このうち 2615 は 5 で割り切れるので頂点になりません。残りの 4 個それぞれへ辺を考えます。論文の計算は、すべての解を列挙しています。1つの解だけを使うと辺が欠け、証明が成り立たなくなります。</a:t>
            </a:r>
          </a:p>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命題5は、3つの条件が真の数列で必ず成り立つことを述べます。(E1) は繰り上がりの範囲、(E2) は式 b Q_n+1 = a Q_n + c_n を M で割ったもの、(E3) はセルの定義から出ます。重要なのは、グラフ自体は ξ に依存しないことです。どの ξ についても、4290 と互いに素な項が続く区間は、同じ1つのグラフのウォークになります。こうして、無限に多い ξ をまとめて1つの有限グラフで扱えるようになります。</a:t>
            </a:r>
          </a:p>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グラフは、真の数列が必ず満たす条件だけから作っています。そのため、真の数列はすべてグラフのウォークになります。しかし逆に、グラフのウォークが本当にある ξ の数列から来るとは限りません。証明に使うのは「真の数列 ⇒ ウォーク」の向きだけです。グラフの中で「永遠にいられない」と分かった部分は、真の数列にとっても永遠にいられない部分です。この考え方を外側近似とよびます。</a:t>
            </a:r>
          </a:p>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頂点 u から v へ、v から u へ、どちらにもウォークで行けるとき、u と v は同じ強連結成分（SCC）に入ります。SCC どうしの間に辺があっても、それは一方向にしか進めません（もし両方向に進めるなら、1つの SCC にまとまるはずです）。中に辺をもつ SCC を巡回的とよびます。辺をもたない1頂点の SCC は、ウォークがそこに留まり続けることができません。</a:t>
            </a:r>
          </a:p>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ウォークが SCC を出て別の SCC に移ると、元の SCC には二度と戻れません。SCC は有限個しかないので、移る回数は有限回です。したがって、ある時刻から先はずっと1つの SCC の中にいます。その SCC の中でウォークが無限に続くには辺が必要なので、その SCC は巡回的です。次に、ウォークが最後に留まる SCC を調べる方法（位相判定）を説明します。</a:t>
            </a:r>
          </a:p>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巡回的な SCC の中で根 ρ を選び、ρ から各頂点までの道の長さを h とします。辺 u→v ごとに h(u)+1−h(v) を計算し、その絶対値の最大公約数を d とします。d の定義から、どの内部辺 u→v でも h(v) ≡ h(u)+1 (mod d) が成り立ちます。つまり、辺を1本進むと「位相」h mod d が1つ進みます。図の例では、2つの長さ3のサイクルがあり d=3 です。頂点は3つの位相に分かれ、辺は必ず位相 0→1→2→0 の順に進みます。C の中の閉じたウォーク（元の頂点に戻るウォーク）の長さは、必ず d の倍数になります。</a:t>
            </a:r>
          </a:p>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位相判定は、SCC のすべての内部辺を使う判定です。位相 s の頂点から出る内部辺のラベルが1種類に決まっていれば、どのウォークでも、位相 s ではそのラベルしか出ません。これを全ての位相について確かめられれば、その SCC は「認証された」といいます。1本でも違うラベルの辺があれば認証されません。平行辺（同じ頂点の間の別ラベルの辺）もすべて含めて判定します。一部の辺だけで判定すると、証明が成り立ちません。</a:t>
            </a:r>
          </a:p>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認証された SCC の中を動くウォークでは、i 番目の辺の出発点の位相は、最初の頂点の位相に i を足したもの（mod d）です。各位相のラベルは1つに決まっているので、i 番目のラベルは i mod d だけで決まります。したがって出力は周期 d の繰り返しです。ここで d はラベル列の最小の周期とは限りません（周期の倍数でもかまいません）。周期的であることだけが大事です。</a:t>
            </a:r>
          </a:p>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補題8が、グラフを小さくしていく根拠です。4290 と互いに素な項が続くと仮定すると、状態の列は無限ウォークになり、補題6によりある所から先は1つの巡回的 SCC の中にあります。もしその SCC が認証されていれば、補題7により繰り上がりが周期的になり、補題4と矛盾します。したがって、最後に留まる SCC は認証されていない SCC です。認証された SCC を消した残りを保持集合 R_K(W) とよびます。消した部分に真の数列が永遠に留まることはない、というのがこの補題の内容です。</a:t>
            </a:r>
          </a:p>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セルを f 等分すると、セル j は fj から fj+f−1 までの f 個の小さなセルに分かれます。本物の θ_n がセル j に入っていれば、細かいセルでは必ずその子のどれかに入ります。図の例では、K=4 のセル1 に入る θ=0.4 が、K=12 ではセル4 に入ります。この補題は真の数列の状態についての主張です。粗いグラフのウォークが、細かいグラフのウォークに持ち上がるとは主張していません。細かいグラフでは辺を (E1)–(E3) で計算し直します。</a:t>
            </a:r>
          </a:p>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定理10の証明は背理法です。ある ξ で、ある所から先の Q_n がすべて M と互いに素だとします。その状態は W_0 にあり、補題8により U_0 に残り、補題9により W_1 に入り、…と続き、最後に U_s に残るはずです。しかし U_s は空なので矛盾です。各段で「ある所から先」の開始番号は大きくなってかまいませんし、ξ によって違ってかまいません。この定理は、有限回の計算が成功したときに結論を与えます。どんな a, b, M でも成功するとは主張していません。</a:t>
            </a:r>
          </a:p>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比 7/5 では、M = 4290、最初のセル数 K_0 = 32、細分の倍率 f = 4 で計算します。最初のグラフの頂点は 960×32 = 30720 個です。1段目では巡回的 SCC が 17 個あり、そのうち 16 個が認証され、1363 頂点の SCC が1つ残りました。これを4倍に細分して 5452 頂点で2段目を計算し、…と続けて、4段目で全部の巡回的 SCC（15個）が認証されました。表の件数は要約で、証明の本体はすべての辺と成分の条件の検査です。独立な2つのプログラムで同じ結果を確認しています（第7章）。</a:t>
            </a:r>
          </a:p>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表2は認証された成分を、K、d、出力の語でまとめたものです。現れた語は5種類でした。語は、繰り返しの最小単位を、辞書式で最小になる回転で書いています。d と語の長さ p は一致するとは限りません。たとえば K=2048 で d=6 の成分の語は (2) で、長さは 1 です。論文ではこの2つを区別しています。これらの語は外側近似グラフの中で起こりうる出力であり、真の数列がこれらの成分に永遠に留まることは補題4により起こりません。</a:t>
            </a:r>
          </a:p>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方法とプログラムの点検として、Dubickas–Novikas が示した 3/2, 4/3, 5/4 の場合に同じ計算をしました。どれも最初の段で全ての巡回的 SCC が認証され、残りが空になりました。これは既に知られている結論をこの方法で再現したもので、新しい定理ではありません。</a:t>
            </a:r>
          </a:p>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第4章では、2つめの方法（語ラベル法）を説明します。比 5/2 の定理1 (ii) はこの方法で証明します。比 7/5 の定理1 (i) も、この方法でもう一度証明できます。考え方の土台（ウォーク、SCC、位相判定、補題4による除去）は第3章と同じです。</a:t>
            </a:r>
          </a:p>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1ステップ法をそのまま 5/2 に使うと、あまりの種類が φ(40112098026) 個もあり、K=4 でも約 300 億個の頂点になります。語ラベル法では、最初は素数を使わずセルだけのグラフから始め、素数 3, 7, 11, … を1つずつ加えます。加えるたびに、認証された部分を消し、一本道になっている部分を縮めます。その結果、途中のグラフは最大でも約 286 万頂点に収まりました。</a:t>
            </a:r>
          </a:p>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比 7/5 で、隣り合う2項がどちらも奇数なら、c_n = 5Q_n+1 − 7Q_n は奇数から奇数を引いた形なので偶数です。範囲は −4 から 6 なので、候補は −4, −2, 0, 2, 4, 6 です。さらに c_n = 0 だと 5Q_n+1 = 7Q_n となり、5 と 7 が互いに素なので Q_n は 5 の倍数になります。これを除くと {−4, −2, 2, 4, 6} が残ります。この5つの値の集合をアルファベットとよびます。素数 2 と 5 はグラフの頂点に入れず、辺のラベルの制限として扱います。</a:t>
            </a:r>
          </a:p>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比 5/2 では c_n = 2Q_n+1 − 5Q_n なので、c_n と Q_n は 2 で割ったあまりが等しくなります（2Q_n+1 は偶数、5Q_n は Q_n と同じ偶奇）。Q_n が奇数なら c_n も奇数で、範囲 −1 から 4 の奇数は −1, 1, 3 です。素数 5 は定理の素数の集合に入っていません。定理19で持ち上げに使う素数は a にも b にも割り切れないものに限るので、5（a=5 を割る）は使いません。仮に持ち上げても、繰り上がりが −1, 1, 3 のとき次の項は自動的に 5 で割り切れないので、何も消えません。5 を入れない方が主張も強くなります。</a:t>
            </a:r>
          </a:p>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1ステップ法では、辺1本が繰り上がり1つに対応していました。語ラベル法では、辺に繰り上がりの並び（語）を付けます。1本の辺をたどると、語の長さの分だけ時刻が進みます。グラフが数列の尾部を「被覆する」とは、グラフのある無限ウォークの出力が、ある番号から先の繰り上がりの列とぴったり一致することです。これからの操作（除去、縮約、持ち上げ）は、どれも「被覆していれば、操作後のグラフも（開始番号を後ろにずらして）被覆する」ことが証明されています。</a:t>
            </a:r>
          </a:p>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語ラベル付きグラフの位相判定では、辺1本で位相が語の長さだけ進みます。δ(e) = h(u) + |w| − h(v) の最大公約数を d とし、語の i 番目の文字を位相 h(u)+i の位置に置きます。全ての内部辺の全ての文字について、同じ位相には同じ文字しか来ないなら、その成分の出力は周期 d です（補題12）。認証された成分は、補題4により数列が永遠に留まれない場所なので、除去してよいことも同じです（命題13）。</a:t>
            </a:r>
          </a:p>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認証された部分を除去すると、出る辺が1本だけの頂点がたくさん残ることがあります。そういう頂点では次の辺が決まっているので、その頂点を飛ばして前後の語をつなげても、出力は変わりません。出る辺が2本以上ある頂点をマクロ頂点として残し、マクロ頂点から次のマクロ頂点までの一本道を1本の辺（語をつなげたもの）にします（命題16）。縮約は除去と持ち上げの間だけで使います。縮約した後にセルを細分することはしません。</a:t>
            </a:r>
          </a:p>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素数 p で割ったあまりは、Q_n+1 ≡ b^-1(a Q_n + c_n) で次々に決まります（b は p で割り切れないとします）。持ち上げたグラフでは、頂点にあまり q を加えます。語に沿って計算したあまりが途中で1度でも 0 になれば、その時刻の項は p で割り切れるので、「割り切れない項が続く」という仮定の下ではその辺は使われません。図の下段のように、両端のあまりが 0 でなくても途中で 0 になる辺は消します。出発のあまりは 1 から p−1 まで全部を試すので、初期値 ξ がいくらでも関係ありません（命題17）。</a:t>
            </a:r>
          </a:p>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定理19は、語ラベル法が成功したときに結論を与える定理です。最初のグラフはあまりを持たず、セル j だけを頂点とし、アルファベットの各文字 c で (E3) を満たす辺を持ちます。除去 R、縮約 P、持ち上げ Lift の各操作は、どれも「数列の尾部を被覆しているなら、操作後も被覆している」ことが示されています（開始番号は後ろにずれてよい）。最後のグラフが空なら、被覆するウォークがないので矛盾です。グラフは ξ を入力にとらないので、結論はすべての ξ &gt; 0 について成り立ちます。</a:t>
            </a:r>
          </a:p>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最初のグラフは、セル番号 0 から 3 を頂点とし、アルファベットの文字 c とセルの組 (j,k) で (E3) の不等式を満たすものを辺にします。全部で 12 本です。これは ξ を何通りか試して作ったものではなく、すべての可能性を不等式で列挙したものです。逆に、このグラフのウォークが全部本物の数列から来るとは主張しません。</a:t>
            </a:r>
          </a:p>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表6は 5/2 の計算の各段の大きさです。段 0 は素数を使わない最初のグラフ（4 頂点、12 辺）で、巡回的 SCC は1つ、認証されずに残ります。素数 3 を加えると 8 頂点になり、除去と縮約で 5 頂点になります。以後、素数を加えるたびに頂点は増え、除去と縮約で減ります。最後の段（素数 31）の入力グラフには 285 万頂点ほどあり、巡回的 SCC は 1084 個ありましたが、すべて認証されて出力は空になりました。2つの独立な実装で、20 個のグラフの頂点と語ラベル付き辺がすべて一致しています。</a:t>
            </a:r>
          </a:p>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比 7/5 にも語ラベル法を使いました。2 と 5 はアルファベット（補題23）で表し、3, 11, 13 を順に持ち上げます。段 3 で出力が空になり、1ステップ法と同じ結論が得られます。K=2048 は1ステップ法の最後の段に合わせて選んだ値で、証明の正しさはこの値の選び方に依存しません。</a:t>
            </a:r>
          </a:p>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定理21は、位相判定が「ちょうど必要十分」であることを示します。認証されれば出力は周期的（補題12）。逆に、根に戻る2つの閉じた語 u, v で uv ≠ vu となるものがあれば、uv と vu を周期的でない順序で並べて、周期的でない出力を作れます。そして、すべての閉じた語が可換なら、それらは1つの語のべき乗になり、そこから位相判定の λ を作れます。したがって、判定に落ちた成分を「出力が全部最終的に周期的だから」という理由だけで消すことはできません。消すには別の算術的な情報が必要です。</a:t>
            </a:r>
          </a:p>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系22は、h を共通の根からの道の語の長さにとるなら、根や道をどう選んでも、どの成分が認証されるか、そして d の値が変わらないことを示します。このとき d は、成分の中の閉じたウォークの語の長さの最大公約数に等しくなります。ただし h を勝手な整数値関数にすると結論は変わります。例の2頂点のサイクルは出力が (2,4) の繰り返しで周期的ですが、h(u)=h(v)=0 とすると不合格になります。2つの独立な実装は、どちらも根からの道の長さで h を計算しているので、系22により d の値が一致します。</a:t>
            </a:r>
          </a:p>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定理1 (i) の証明は、表1の計算が定理10の仮定を満たすことから出ます。語ラベル法でも、補題23と表4の計算から定理19によって同じ結論が出ます。定理1 (ii) は、補題24と表6の計算から定理19によって出ます。表の件数は要約で、証明の中身は、辺の集合がすべてそろっていること、成分の条件が全部の辺で成り立つこと、などの有限個の検査です。これは第7章で説明します。</a:t>
            </a:r>
          </a:p>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第5章では定理3（待ち時間の定理）を証明します。第3・4章の証明は「永遠には留まれない」ことを使いましたが、ここでは「どのくらい長く留まれるか」を数で押さえます。</a:t>
            </a:r>
          </a:p>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補題4では「永遠に周期的」は起こらないことを示しましたが、補題25は「どのくらいの長さなら周期的でいられるか」を与えます。証明は補題4と同じく、差 D_k = Q_u+k+d − Q_u+k が b D_k+1 = a D_k を満たすことを使います。今度は有限個の k についてだけ成り立つので、b^ℓ−d が D_0 を割り切る、という形になります。項が増えている（Q_u ≥ 3 なら Q_n+1 ≥ Q_n + 1。補題26）ので D_0 &gt; 0 で、D_0 は Q_u のおよそ r^d − 1 倍以下です。例: Q_u = 1000 で周期 2 の語が続くなら、長さは 6 以下です。</a:t>
            </a:r>
          </a:p>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ランク証明書は、グラフ H の頂点をブロックに分け、ブロックにランク ρ を付けたものです。ブロックの間の辺ではランクが必ず増えるので、ウォークは一度出たブロックに戻れず、ブロック間の移動は有限回です。辺をもつブロックはすべて周期的（位相判定に合格）でなければなりません。認証されない巡回的ブロックがあると、ウォークがそこに永遠に留まりうるので、この方法は使えません。η は、そのブロックまでの道で通る周期的ブロックの数の最大値です。SCC 分解から、このような番号付けを作れます。</a:t>
            </a:r>
          </a:p>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定理27の考え方です。数列が H の中の周期的ブロックに時刻 u で入ったとします。その中では繰り上がりが周期的なので、補題25によりそこに留まれる長さは log_b(Q_u) 程度です。Q_u は r^u(P+1) より小さいので、留まれる長さは u の定数倍程度で、出る時刻は γu + A + γD より前になります。辺なしのブロックは1ステップで通り抜けます。周期的ブロックを通るたびに時刻の上限が γ 倍程度になりますが、周期的ブロックは高々 m 個しか通れません。これをまとめたのが定理27の不等式です。この議論は有限の長さのウォークだけを扱い、ξ を試すことはしていません。</a:t>
            </a:r>
          </a:p>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待ち時間の証明では、法を 4290 ではなく 429 = 3·11·13 にします。2 と 5 は補題23のアルファベットで表します。こうすると 5 が mod 429 で逆数をもつので、(E2) の解は1つに決まります。グラフ H は 240 × 2048 = 491520 頂点で、SCC に分けると巡回的ブロックは 35 個、すべて認証されました。ランクの最大は 65、周期的ブロックの数の最大は 6、d の最大は 13 です。7^4 = 2401 &lt; 3125 = 5^5 より (7/5)^4 &lt; 5 なので log_5(7/5) &lt; 1/4 で、γ = 5/4 がとれます。これらを定理27に代入して分数で計算すると、T &lt; 428 + 12 L(P) が得られます。</a:t>
            </a:r>
          </a:p>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定理3の証明は背理法です。番号 0 から T_0 までの項がすべて 4290 と互いに素だとすると、その区間の状態の列はグラフ H の長さ T_0 のウォークになります（補題28）。定理27と表7の値から T_0 &lt; 428 + 12L(P) = T_0 となり矛盾です。よって、ある n ≤ T_0 で Q_n は 2, 3, 5, 11, 13 のどれかで割り切れます。Q_n ≥ Q_0 = P &gt; 13 なので Q_n は合成数です。N 番目から先について言うには、ξ を ξ(7/5)^N に取り替えます。すると数列は Q_N, Q_N+1, … になり、P の代わりに Q_N を使った同じ評価が成り立ちます。グラフ H は ξ によらないので、これで十分です。</a:t>
            </a:r>
          </a:p>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第6章は論文の第7節・第8節の内容です。ここでの定理は、特定の数列の性質ではなく「この証明書の方法（手続き）」についての定理です。方法が成功しないという定理は、合成数が無限にないという意味ではありません。この区別が大切です。</a:t>
            </a:r>
          </a:p>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「この方法ではできない」と言うには、方法を正確に決める必要があります。論文は、第3・4章で使った操作を6種類にまとめ、それらを有限回使う手続きを「標準手続き」としました。表1の計算は (I)(P)(R)、表4と表6の計算は (I)(P)(C)(L) を使っています。この章の定理は、これらの操作だけを使う限り成り立つ主張です。</a:t>
            </a:r>
          </a:p>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擬軌道は、真の軌道が満たす局所的な条件（小数部分の関係式と、あまりの合同式）は満たすものの、あまりと小数部分をつなぐ1本の整数列 Q_n があるとは限らない列です。命題5の証明は小数部分の関係式と半開区間のセルしか使わないので、擬軌道もグラフのウォークになります。さらに、6 種類の操作はどれも擬軌道を消せません（補題30）。したがって、繰り上がりが周期的でない擬軌道が1つでもあれば、標準手続きは決して成功しません（補題38）。</a:t>
            </a:r>
          </a:p>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補題29は、法 M が 2ab の素因数をすべて含むとき、グラフの辺のラベルは必ず C(a,b) に入り、逆にこれらの素数からくる条件はちょうど C(a,b) への制限であることを示します。7/5 では C = {−4,−2,2,4,6}、5/2 では C = {−1,1,3} で、第4章の補題23・24と一致します。ただし定理1は、7/5 では素数 7 を、5/2 では素数 5 を使っていません。一般形を使うと結論の素数の集合に 2ab の素因数がすべて入ることになり、主張は少し弱くなります。</a:t>
            </a:r>
          </a:p>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正規形定理は、標準手続きで証明できる比の範囲を完全に言い換えます。どんな実行が成功しても、最終的なパラメータの完全な1ステップグラフでは、すべての巡回的 SCC が位相判定に合格します（定理33）。そこから、素数のべき乗は根基（異なる素因数の積）に置き換えてよく（命題35）、2ab の素因数はアルファベットに置き換えてよい（命題36）ことを使い、1つのグラフ G′ の判定に帰着させます。この定理は証明書が存在するかどうかについての主張です。結論に現れる素数の集合は変わります（2ab の素因数がすべて入ります）。3/2, 4/3, 5/4, 7/5, 5/2 がこの範囲に入ることは第3・4章の計算から分かります。他の比については主張していません。</a:t>
            </a:r>
          </a:p>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定理39の証明では、時刻を逆向きにたどって擬軌道を作ります。θ_n+1 が決まっているとき、θ_n = (b θ_n+1 + c_n)/a が 0 以上 1 未満になるような c_n は、長さ a の区間に入る整数です。そのうち b − a と R で割ったあまりが等しいものを選ぶと、あまり q_n = 1 がずっと合同式を満たします。a ≥ 2R なら、そのような c_n が各ステップで2個以上あるので、選び方を無限に変えられ、周期的でない繰り上がりの列を選べます。この擬軌道は 標準手続きのどの操作でも消えないので、手続きは成功しません。これは方法の限界であり、その比の数列について何かが偽であるという意味ではありません。</a:t>
            </a:r>
          </a:p>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系40 (a) は、法に使う素数の集合を固定すると、成功しうる比 a/b は有限個しかないことを述べます。定理39により a は 2 × (素数の積) 未満でなければならないからです。(b) の例: r_t = (2t+7)/(2t+5) は t=0 のとき 7/5 で、t を大きくすると 1 に近づきます。成功するには rad(M_t) が t+4 以上でなければなりません。4290 のままでは 2t+7 ≥ 8580、つまり t ≥ 4287 で成功しません。(14k+1)/(10k+1) は k を大きくすると 7/5 に近づく比で、k ≥ 613 で同じことが起こります。</a:t>
            </a:r>
          </a:p>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補題41は、擬軌道のどの有限の区間も、区間に応じて ξ を選べば真の軌道で実現できることを示します（中国の剰余定理に似た、合同式を順に解く議論です）。しかし、「区間ごとに ξ がある」から「すべての区間を同時に実現する1つの ξ がある」は出ません。量化子の順番を入れ替えることはできないからです。したがって、障害の定理は「この手続きは成功しない」ことを示すだけで、「割り切れない項がずっと続く ξ がある」という主張ではありません。</a:t>
            </a:r>
          </a:p>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定理42は2つめの障害です。Δ = a−b と c = Δ − 2Rm の2つの繰り上がりを使います。これらはどちらもアルファベット C(a,b) に入り、R を法とするあまりも同じです。逆向きの写像 ψ(x) = (bx + c)/a を使うと、語 U = Δ^L c と V = Δ^L+1 c の逆向きの合成は、ある区間 I を I の中に写します。そこで U と V を好きな順番で並べた無限の列について、小数部分がすべて (0,1) に入る擬軌道が作れます。順番を周期的でないように選べば、繰り上がりも周期的でなくなります。5/2 で素数 2 だけ（R=1）の場合は Δ=3, c=1, U=(1), V=(3,1), I=[1/3, 17/21] です。だから 5/2 には 2 以外の素数が必要で、論文の計算では 3 から 31 までを使いました。7/5 で M=4290 なら R = 3·11·13 = 429 で、h = 858m ≤ 6 は不可能なので、この障害は起こりません（定理1と矛盾しません）。</a:t>
            </a:r>
          </a:p>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系43は、定理42で R = 1（外の素数を使わない）の場合です。Δ = a − b の値で場合分けすると、条件を満たす c がいつも見つかるので、外の素数なしでは成功しません。論文の証明書では、7/5 に対して 3, 11, 13、5/2 に対して 3, 7, …, 31 という外の素数を使っています。</a:t>
            </a:r>
          </a:p>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Jacobsthal 関数 J(N) は、連続する J 個の整数を選べば必ず N と互いに素な数が入っている、という最小の J です。N=15 なら、互いに素でない数（3 または 5 の倍数）は最大2個しか続かないので J(15) = 3 です。N が奇数で、同じ素因数を2回以上もたないとき、J(N) ≤ 3^ω(N) という初等的な上界が成り立ちます（論文の定理44の証明の中で示されます）。</a:t>
            </a:r>
          </a:p>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定理44は、定理42の障害を避けるための必要条件から出ます。成功するには、1 ≤ m ≤ (a−1)/(2R) のどの m についても Δ − 2Rm が ab と互いに素であってはいけません。これは連続する整数の中に N_0 と互いに素な数がない、ということなので、個数 (a−1)/(2R) は J(N_0) より小さくなければなりません。これが a ≤ 2R J(N_0) です。J(N_0) ≤ 3^k で、k（素因数の個数）は a に比べてずっと小さいので、R ≥ a^1−o(1) が得られます。7/5 では N_0 = 5·7 = 35、J(35) = 3 なので 7 ≤ 6R が必要ですが、実際の R = 429 はこれを満たします。これは必要条件であり、満たせば成功するというわけではありません。</a:t>
            </a:r>
          </a:p>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第7章では、証明に使った有限の計算の確かめ方と、Lean という定理証明支援系による形式証明を説明します。計算が一致することや Lean の検査が通ることは、それぞれ何を保証し、何を保証しないのかも区別します。</a:t>
            </a:r>
          </a:p>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論文 §9.1 は、有限計算が果たす数学的な義務を8つに整理しています。初期の状態がすべてあること、条件 (E1)–(E3) を満たす辺がすべてあること、持ち上げで語の途中のあまりもすべて調べたこと、位相判定をすべての内部辺のすべての文字で行ったこと、表7のランクの条件、保持の正しさ、縮約で出力が変わらないこと、最後が空であることです。SCC の分割も、各ブロックが空でなく互いに重ならず全頂点を覆い、ブロック内で行き来でき、ブロック間に単調なランクがある、という十分条件で確かめています。件数やハッシュ値の一致は記録していますが、判断の基準は全要素の比較です。</a:t>
            </a:r>
          </a:p>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1ステップ法の計算（表1〜3）は、実装 A（Kosaraju 法で SCC を計算）と実装 B（Tarjan 法）がどちらも Python の整数演算だけで行い、浮動小数点数は使っていません。B は A を読まずに仕様から作られ、比較の前に出力が固定されました。語ラベル法の計算（表4, 6, 7）では、A は研究ノートに付属していたプログラムを来歴を記録して使い、B は別の担当者が仕様書と比較の約束だけから C++17 の本体と Python の参照版を書きました。29 組のファイルがすべて要素ごとに一致しました。独立というのは計算の中心部分のコードのことで、数学の補題や出力形式は共通です。一致は「同じ有限の対象を計算した」ことの証拠であり、方法の正しさ自体は論文の証明が保証します。</a:t>
            </a:r>
          </a:p>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Lean は定理証明支援系とよばれるソフトウェアです。数学の主張と証明を決まった書き方で書くと、Lean がそれを検査し、論理の飛躍や計算の誤りがあれば受け付けません。最終的な検査はカーネルとよばれる小さなプログラムが行います。Mathlib は、実数や床関数などの大学数学を Lean で書いた大きなライブラリです。#print axioms というコマンドで、ある定理の証明が最終的にどの公理に頼っているかを表示できます。この論文では Lean 4.29.1 と Mathlib の固定した版を使いました。</a:t>
            </a:r>
          </a:p>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これは Lean で書かれた定理1 (i) です。theorem の後が定理の名前で、括弧の中が仮定（任意の実数 ξ、ξ &gt; 0 の証明 hξ、自然数 N）、コロンの後が結論です。∃ n : ℕ は「自然数 n が存在する」、∧ は「かつ」、⌊ ⌋ は床関数、Int.gcd は整数の最大公約数です。:= by の後が証明で、一般の定理 finite_success_visits（定理10 の Lean 版）に、具体的な証明書 mainFiniteSuccess（表1の4段の計算）を渡しています。この定理は ξ と N 以外に仮定をとらず、未証明の計算結果を仮定していません。</a:t>
            </a:r>
          </a:p>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1ステップ法の証明書は、すべての辺について「ランクと位相の条件」を検査する Bool 関数で確かめます。検査は大きいので小さな部分に分け、それぞれを decide +kernel（カーネル自身に計算させる方法）で証明し、結合の補題でつなぎます。Lean の検査は、Python が出力した辺の一覧が完全だとは仮定していません。条件を満たす辺は必ず「繰り上がり3候補 × あまり5通り × セル3候補」の中にあることを Lean で証明し、その外側近似の全体で条件を検査しています。#print axioms の出力は標準の3公理だけでした。独立の監査では、プロジェクトのキャッシュを使わずに 79 モジュールを作り直し、60 個の宣言の型と公理を確認しています（Mathlib などの固定されたライブラリのキャッシュは使用）。</a:t>
            </a:r>
          </a:p>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上のコードは、4段の計算のうち1つの小さな部分の検査です。data0llllllll という部分の全要素について checkSourceFast が true を返すことを、decide +kernel でカーネルに計算させて証明しています。下は #print axioms の実際の出力で、定理 floor_seven_fifths_visits と floor_seven_fifths_composite が標準の3公理だけに依存していることを示します。独立の監査では Mathlib などの固定されたライブラリのキャッシュは使いましたが、プロジェクトの 79 モジュールは空の状態から作り直しています。</a:t>
            </a:r>
          </a:p>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語ラベル法の有限計算は、Lean の中に書いた関数 wordPipeline が true を返すことを native_decide で確かめています。wordPipeline が true なら定理19の仮定が成り立つこと（wordPipeline_sound）は、カーネルで検査された定理です。native_decide は計算を機械語にコンパイルして実行し、その結果を生成された公理として受け入れます。そのため #print axioms には標準の3公理に加えて five_halves_ok._native.native_decide.ax_1_1 が表示されます。追加で信頼するのは Lean のコンパイラとネイティブ実行です。Python や C++ の成功フラグ、出力したグラフ、ハッシュ値は信頼の根拠に入っていません。小さな場合にカーネルだけで計算させる試みは、途中のハッシュ処理で止まったため、カーネルのみの検査とは主張していません。</a:t>
            </a:r>
          </a:p>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上は比 5/2 の有限評価で、K=4、アルファベット [-1, 1, 3]、素数 [3, 7, …, 31] で wordPipeline が true を返すことを native_decide で確かめています。下は主定理 (ii) の #print axioms の実際の出力です。標準の3公理に加えて、native_decide が生成した公理が表示されています。7/5 の語ラベル法による別証明にも、同様の公理 seven_fifths_ok._native.native_decide.ax_1_1 が1つ加わります。独立の監査では、1ステップ法の部分はコンパイル済みのものを再利用しており、すべてのモジュールを作り直したわけではありません。</a:t>
            </a:r>
          </a:p>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Lean の形式証明が扱うのは、主定理1の (i)(ii) と系2の結論です。7/5 の1ステップ証明は標準の3公理だけに頼り、語ラベル法の証明は native_decide による追加の信頼を含みます。Lean の検査は、ブロックが本当に SCC か、h が最短距離か、d が指定の gcd か、を証明しているわけではありません。十分条件（ランク・位相・縮約の条件）を満たしていれば結論が出る、という形で検査しています。待ち時間の定理3、第6章の範囲と障害の定理、付録の結果は Lean の外にあり、根拠は論文の証明と、必要な場合は2つの実装による計算の比較です。</a:t>
            </a:r>
          </a:p>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第8章では、論文の第10節と付録 B〜E にある追加の結果を紹介し、第11節の未解決問題をまとめます。追加の結果は第1〜9節の証明には使っていません。</a:t>
            </a:r>
          </a:p>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無限の語が再帰的であるとは、どんな長さの先頭部分も、どれだけ先に進んでもまた現れることです。定理46は、繰り上がりの列が（ある所から先）再帰的なら、合成数が無限にあることを示します。証明の中心は、あまりの計算 Q_n+1 ≡ b^-1(a Q_n + c_n) (mod m) が各文字ごとに置換（並べ替え）になっていることです。同じ並びが何度も現れるので、あまりも元に戻り、Q_j で割り切れる後の項が無限に出てきます。未解決なのは、再帰的でない繰り上がりの列をもつ「ずっと素数」の数列がありうるかどうかです。SCC に留まるウォークの出力が再帰的とは限らないので、第3・4章のグラフからはこの仮定は出ません。</a:t>
            </a:r>
          </a:p>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定理47は、すべての ξ についての定理ではなく、⌊ξ⌋ がある高さ以下の範囲についての結果です。6/5 では、7 以上 5^40 以下の ⌊ξ⌋ について、最初の 41 項のどれかが合成数になります。9/7 では 7^18 までです。証明では、項がすべて素数だと仮定すると繰り上がりの語が強く制限されることを使い、条件を満たす語を全部数え上げます。語から最初の整数（seed）が法 b^N で決まるので、それを確かめて矛盾を導きます。6/5 では 3,955,763 通りの語がすべて除外され、9/7 では 4592 個の候補が残りましたが、それぞれに合成数を示す約数が見つかりました。この計算も2つの実装で要素ごとに一致しています。</a:t>
            </a:r>
          </a:p>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付録 C は、9/7 を含む族 (6t+3)/(6t+1) を扱います。項が 2 と 3 で割り切れないと、次の項は整数の写像 T_t で1通りに決まります（命題55）。定理58は、t を固定したとき、「すべての ξ &gt; 0 で合成数が無限にある」ことが、「素数 P から始めて T_t を繰り返し、項が合成数になるか、小数部分の区間が空になれば止まる」という厳密な整数のプログラムが、どの素数 P でも止まることと同値であることを示します。このプログラムがすべての t で止まるかどうかは分かっていません。さらに定理68は、止まるまでの回数に t と P によらない上限がないことを示します（外部の結果として、素数の中の狭い等差数列についての定理を使います）。</a:t>
            </a:r>
          </a:p>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付録 E.2 の補題69は、定理42と同じ型の障害です。あるあまり q から出て、同じ q に戻る2つの繰り上がり語 U, V があり、小数部分の区間 I をどちらも I の中に写し、UV ≠ VU なら、周期的でない擬軌道ができて、方法は成功しません。系70は 9/7 と 6/5 について具体的な U, V を与え、上の素数だけでは成功しないことを示します。命題71は、9/7 に素数 17 を加えると、その U, V の言語は消せることを示しますが、それで 9/7 の証明書ができたわけではありません。全語区間判定（命題73）は、語全体に沿って小数部分の区間が空にならないかを調べる追加の判定で、擬軌道に対しては健全ですが、この判定を加えると証明できる比が増えるかどうかは未解決です。第3・4章の計算（表1・4・6）はこの判定を使っていません。</a:t>
            </a:r>
          </a:p>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論文の第11節は5つの未解決問題を挙げています。定理44は外の素数の積に必要な大きさ R ≥ a^1−o(1) を与えますが、それを満たす構成は与えていません。定理47の高さを超える初期値では、同じ最初の N 個の繰り上がりをもつ初期値でも、見つけた約数が他の初期値の項を割るとは限りません。素数の集合については、使った集合で十分であることは示しましたが、最小であるかどうかは主張していません。</a:t>
            </a:r>
          </a:p>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この論文の結果は3つです。比 7/5 と 5/2 の主定理と系、比 7/5 の待ち時間の定理、そしてこの証明書の方法がどこまで届くかについての定理です。証明の考え方は、繰り上がりの非周期性（補題4）と、真の数列をすべて含む有限のグラフ（外側近似）を組み合わせることです。グラフの中で周期的な出力しか生まない部分は、真の数列が永遠に留まれないので消してよく、消してはグラフを細かくすることや素数を加えることを繰り返して、最後に空にします。計算は2つの独立な実装で全要素を比較し、主定理と系は Lean で形式的に証明しました。待ち時間と限界の定理は論文の証明が根拠です。</a:t>
            </a:r>
          </a:p>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論文の謝辞には、研究の経緯と AI の関与が詳しく書かれています。著者は Mills 定数（最小の Mills 数が無理数であることは既に知られている）に関心をもち、すべての Mills 数が無理数であるという予想の証明を AI に求めましたが、その証明は得られていません。その過程で得られた材料から、論文にふさわしい結果を AI が選び、この論文になりました。主な AI は GPT-6 Astra（ChatGPT の GPT-6 Pro と Codex で使用）で、一部の作業で Claude Fable 5.1 も使われました。著者の数学的な寄与は最初の予想だけであることが明記されています。Lean の形式証明が検査を通ることは、著者自身が確認しています。AI どうしの自動的な批評はありましたが、人間の数学者による独立な査読ではありません。そのため読者自身が議論・計算・形式証明を確かめることが求められています。Lean の検証範囲と信頼の前提は第7章のとおりです。</a:t>
            </a:r>
          </a:p>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論文は DOI 10.5281/zenodo.22995171 で公開されています。計算とLeanの再現手順は GitHub のリポジトリにあります。参考文献の正確な書誌情報（巻・頁・年）は論文の References 節を見てください。</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abe74dd396041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f7aef286500450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f3338964dce46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f0209470d4349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487b3ba55b4564"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4b2168828b644be5"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7ddff7653de34de6" /><Relationship Type="http://schemas.openxmlformats.org/officeDocument/2006/relationships/image" Target="/ppt/media/image.png" Id="R1aee71fd7a4745d0" /><Relationship Type="http://schemas.openxmlformats.org/officeDocument/2006/relationships/notesSlide" Target="/ppt/notesSlides/notesSlide1.xml" Id="R49f605c1db6a4b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62678bf31b40dd" /><Relationship Type="http://schemas.openxmlformats.org/officeDocument/2006/relationships/notesSlide" Target="/ppt/notesSlides/notesSlide2.xml" Id="R261b79be00c441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9c446ba6ce484f" /><Relationship Type="http://schemas.openxmlformats.org/officeDocument/2006/relationships/notesSlide" Target="/ppt/notesSlides/notesSlide3.xml" Id="R55a2ab4429da4d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8ee85c48db45ad" /><Relationship Type="http://schemas.openxmlformats.org/officeDocument/2006/relationships/notesSlide" Target="/ppt/notesSlides/notesSlide4.xml" Id="R04a6c2bf3b2f44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bb4b7e6d1c4c26" /><Relationship Type="http://schemas.openxmlformats.org/officeDocument/2006/relationships/image" Target="/ppt/media/image2.png" Id="R6cffdfca0222492b" /><Relationship Type="http://schemas.openxmlformats.org/officeDocument/2006/relationships/image" Target="/ppt/media/image3.png" Id="R1e72ccf80fd24e9b" /><Relationship Type="http://schemas.openxmlformats.org/officeDocument/2006/relationships/notesSlide" Target="/ppt/notesSlides/notesSlide5.xml" Id="Reffafdfb733a4c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b37df762a54755" /><Relationship Type="http://schemas.openxmlformats.org/officeDocument/2006/relationships/image" Target="/ppt/media/image4.png" Id="R7dd8e218bc5c4791" /><Relationship Type="http://schemas.openxmlformats.org/officeDocument/2006/relationships/image" Target="/ppt/media/image5.png" Id="R7729aa194e03408c" /><Relationship Type="http://schemas.openxmlformats.org/officeDocument/2006/relationships/image" Target="/ppt/media/image6.png" Id="R7b0bfec77d504540" /><Relationship Type="http://schemas.openxmlformats.org/officeDocument/2006/relationships/notesSlide" Target="/ppt/notesSlides/notesSlide6.xml" Id="R08d9d3bbb8ca48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9ca4a7588842a8" /><Relationship Type="http://schemas.openxmlformats.org/officeDocument/2006/relationships/image" Target="/ppt/media/image7.png" Id="R8a1516d83af64282" /><Relationship Type="http://schemas.openxmlformats.org/officeDocument/2006/relationships/notesSlide" Target="/ppt/notesSlides/notesSlide7.xml" Id="Rf52e9f29ac2542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27da1af3ccf4811" /><Relationship Type="http://schemas.openxmlformats.org/officeDocument/2006/relationships/image" Target="/ppt/media/image8.png" Id="R1135bda1b0584c70" /><Relationship Type="http://schemas.openxmlformats.org/officeDocument/2006/relationships/notesSlide" Target="/ppt/notesSlides/notesSlide8.xml" Id="Rb990ac88d3174b0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da97d9edb34ef7" /><Relationship Type="http://schemas.openxmlformats.org/officeDocument/2006/relationships/image" Target="/ppt/media/image9.png" Id="R2e090394fb6d473f" /><Relationship Type="http://schemas.openxmlformats.org/officeDocument/2006/relationships/image" Target="/ppt/media/image10.png" Id="Rd9d28234b0654aef" /><Relationship Type="http://schemas.openxmlformats.org/officeDocument/2006/relationships/notesSlide" Target="/ppt/notesSlides/notesSlide9.xml" Id="R22d938b8e4b444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4d8b67bfe9f4a5e" /><Relationship Type="http://schemas.openxmlformats.org/officeDocument/2006/relationships/image" Target="/ppt/media/image11.png" Id="R552bd2c86e044a4f" /><Relationship Type="http://schemas.openxmlformats.org/officeDocument/2006/relationships/image" Target="/ppt/media/image12.png" Id="Ra50bf53632494982" /><Relationship Type="http://schemas.openxmlformats.org/officeDocument/2006/relationships/notesSlide" Target="/ppt/notesSlides/notesSlide10.xml" Id="Rd4fcb7f1a9b44b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bebb5c46cb14823" /><Relationship Type="http://schemas.openxmlformats.org/officeDocument/2006/relationships/image" Target="/ppt/media/image13.png" Id="Rc6937a7a64af4c86" /><Relationship Type="http://schemas.openxmlformats.org/officeDocument/2006/relationships/image" Target="/ppt/media/image14.png" Id="R11fadbebec1e4c08" /><Relationship Type="http://schemas.openxmlformats.org/officeDocument/2006/relationships/notesSlide" Target="/ppt/notesSlides/notesSlide11.xml" Id="R8c44a1a811e94ed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b764aac65324307" /><Relationship Type="http://schemas.openxmlformats.org/officeDocument/2006/relationships/image" Target="/ppt/media/image15.png" Id="Rdfda238cd5ec453d" /><Relationship Type="http://schemas.openxmlformats.org/officeDocument/2006/relationships/image" Target="/ppt/media/image16.png" Id="R7fa698940ce545a2" /><Relationship Type="http://schemas.openxmlformats.org/officeDocument/2006/relationships/image" Target="/ppt/media/image17.png" Id="Rb14a69b307d04cd9" /><Relationship Type="http://schemas.openxmlformats.org/officeDocument/2006/relationships/notesSlide" Target="/ppt/notesSlides/notesSlide12.xml" Id="Rddce6b8b3b574c8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ad7889ab749474a" /><Relationship Type="http://schemas.openxmlformats.org/officeDocument/2006/relationships/image" Target="/ppt/media/image18.png" Id="Ra5d95a66b4c64090" /><Relationship Type="http://schemas.openxmlformats.org/officeDocument/2006/relationships/notesSlide" Target="/ppt/notesSlides/notesSlide13.xml" Id="Rb27385269603490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798534cc8c24ee1" /><Relationship Type="http://schemas.openxmlformats.org/officeDocument/2006/relationships/image" Target="/ppt/media/image19.png" Id="R0f380f7117804d37" /><Relationship Type="http://schemas.openxmlformats.org/officeDocument/2006/relationships/image" Target="/ppt/media/image20.png" Id="R1f123f0066c74e85" /><Relationship Type="http://schemas.openxmlformats.org/officeDocument/2006/relationships/image" Target="/ppt/media/image21.png" Id="Rba5254c8a5684388" /><Relationship Type="http://schemas.openxmlformats.org/officeDocument/2006/relationships/notesSlide" Target="/ppt/notesSlides/notesSlide14.xml" Id="Rd83602cea88a47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c7dd3fad20f4b0f" /><Relationship Type="http://schemas.openxmlformats.org/officeDocument/2006/relationships/image" Target="/ppt/media/image22.png" Id="Rd982bd36759947de" /><Relationship Type="http://schemas.openxmlformats.org/officeDocument/2006/relationships/notesSlide" Target="/ppt/notesSlides/notesSlide15.xml" Id="Ra3bd197b44f949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844a5e8c1a04f01" /><Relationship Type="http://schemas.openxmlformats.org/officeDocument/2006/relationships/image" Target="/ppt/media/image23.png" Id="R97b3270add2945ff" /><Relationship Type="http://schemas.openxmlformats.org/officeDocument/2006/relationships/notesSlide" Target="/ppt/notesSlides/notesSlide16.xml" Id="Re95d622f835840f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f32ac9b65684480" /><Relationship Type="http://schemas.openxmlformats.org/officeDocument/2006/relationships/image" Target="/ppt/media/image24.png" Id="R16ae63ca2bf342fa" /><Relationship Type="http://schemas.openxmlformats.org/officeDocument/2006/relationships/notesSlide" Target="/ppt/notesSlides/notesSlide17.xml" Id="R8ec2c7ef7a0d479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d26a3f7e0524643" /><Relationship Type="http://schemas.openxmlformats.org/officeDocument/2006/relationships/notesSlide" Target="/ppt/notesSlides/notesSlide18.xml" Id="R26d578d773a5458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1ad6292628b4160" /><Relationship Type="http://schemas.openxmlformats.org/officeDocument/2006/relationships/image" Target="/ppt/media/image25.png" Id="Rd17213b20d584081" /><Relationship Type="http://schemas.openxmlformats.org/officeDocument/2006/relationships/image" Target="/ppt/media/image26.png" Id="R92ad3277a04c4a09" /><Relationship Type="http://schemas.openxmlformats.org/officeDocument/2006/relationships/notesSlide" Target="/ppt/notesSlides/notesSlide19.xml" Id="Ra2f3ba24446d47e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e433897215e4929" /><Relationship Type="http://schemas.openxmlformats.org/officeDocument/2006/relationships/image" Target="/ppt/media/image27.png" Id="R8bc310f6c3c94819" /><Relationship Type="http://schemas.openxmlformats.org/officeDocument/2006/relationships/image" Target="/ppt/media/image28.png" Id="R4df892a5bd7f4314" /><Relationship Type="http://schemas.openxmlformats.org/officeDocument/2006/relationships/notesSlide" Target="/ppt/notesSlides/notesSlide20.xml" Id="R34735732083848b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96b2e46cb2e4e9e" /><Relationship Type="http://schemas.openxmlformats.org/officeDocument/2006/relationships/image" Target="/ppt/media/image29.png" Id="R94771a74aaa94715" /><Relationship Type="http://schemas.openxmlformats.org/officeDocument/2006/relationships/image" Target="/ppt/media/image30.png" Id="R922f89f3c0ba42ba" /><Relationship Type="http://schemas.openxmlformats.org/officeDocument/2006/relationships/image" Target="/ppt/media/image31.png" Id="R535e98b9d08a4519" /><Relationship Type="http://schemas.openxmlformats.org/officeDocument/2006/relationships/notesSlide" Target="/ppt/notesSlides/notesSlide21.xml" Id="Ra9864e38d6e54ba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54dd6cee6904569" /><Relationship Type="http://schemas.openxmlformats.org/officeDocument/2006/relationships/image" Target="/ppt/media/image32.png" Id="R2413ce3a69e44d3a" /><Relationship Type="http://schemas.openxmlformats.org/officeDocument/2006/relationships/notesSlide" Target="/ppt/notesSlides/notesSlide22.xml" Id="R5e98c509303c45f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89cade1bfa2465e" /><Relationship Type="http://schemas.openxmlformats.org/officeDocument/2006/relationships/image" Target="/ppt/media/image33.png" Id="Rfe120887b9eb4aad" /><Relationship Type="http://schemas.openxmlformats.org/officeDocument/2006/relationships/notesSlide" Target="/ppt/notesSlides/notesSlide23.xml" Id="Ra1079480c9f943a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1515e39159a4b82" /><Relationship Type="http://schemas.openxmlformats.org/officeDocument/2006/relationships/image" Target="/ppt/media/image34.png" Id="R1332ccd4c72c48bd" /><Relationship Type="http://schemas.openxmlformats.org/officeDocument/2006/relationships/image" Target="/ppt/media/image35.png" Id="R78f96fb8f19e4136" /><Relationship Type="http://schemas.openxmlformats.org/officeDocument/2006/relationships/notesSlide" Target="/ppt/notesSlides/notesSlide24.xml" Id="R0f1913324e034a1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9f81c9d9b5d4efd" /><Relationship Type="http://schemas.openxmlformats.org/officeDocument/2006/relationships/image" Target="/ppt/media/image36.png" Id="R5b97d6e0bfbb4658" /><Relationship Type="http://schemas.openxmlformats.org/officeDocument/2006/relationships/image" Target="/ppt/media/image37.png" Id="R76ef40ce06344155" /><Relationship Type="http://schemas.openxmlformats.org/officeDocument/2006/relationships/notesSlide" Target="/ppt/notesSlides/notesSlide25.xml" Id="R94f0c22d721c460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f13dd70d4434f13" /><Relationship Type="http://schemas.openxmlformats.org/officeDocument/2006/relationships/notesSlide" Target="/ppt/notesSlides/notesSlide26.xml" Id="R7395f57cc03c402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74980dd545646e1" /><Relationship Type="http://schemas.openxmlformats.org/officeDocument/2006/relationships/image" Target="/ppt/media/image38.png" Id="Rc2350af59d694dd0" /><Relationship Type="http://schemas.openxmlformats.org/officeDocument/2006/relationships/notesSlide" Target="/ppt/notesSlides/notesSlide27.xml" Id="R292db02647d44ad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0c11959c45a43ee" /><Relationship Type="http://schemas.openxmlformats.org/officeDocument/2006/relationships/image" Target="/ppt/media/image39.png" Id="Re0fa53c4d1594deb" /><Relationship Type="http://schemas.openxmlformats.org/officeDocument/2006/relationships/notesSlide" Target="/ppt/notesSlides/notesSlide28.xml" Id="R35a50810d49a454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324ba1d7d554a03" /><Relationship Type="http://schemas.openxmlformats.org/officeDocument/2006/relationships/image" Target="/ppt/media/image40.png" Id="R875412e8e31f4f0f" /><Relationship Type="http://schemas.openxmlformats.org/officeDocument/2006/relationships/image" Target="/ppt/media/image41.png" Id="R3c92f3d33129439b" /><Relationship Type="http://schemas.openxmlformats.org/officeDocument/2006/relationships/image" Target="/ppt/media/image42.png" Id="R79b13b49201446b2" /><Relationship Type="http://schemas.openxmlformats.org/officeDocument/2006/relationships/notesSlide" Target="/ppt/notesSlides/notesSlide29.xml" Id="R2c9399f073084dd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217af44052b4040" /><Relationship Type="http://schemas.openxmlformats.org/officeDocument/2006/relationships/image" Target="/ppt/media/image43.png" Id="Rbfeaff02e5374bde" /><Relationship Type="http://schemas.openxmlformats.org/officeDocument/2006/relationships/notesSlide" Target="/ppt/notesSlides/notesSlide30.xml" Id="Re598816a244b40d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02985d4275f482f" /><Relationship Type="http://schemas.openxmlformats.org/officeDocument/2006/relationships/image" Target="/ppt/media/image44.png" Id="R7cacd78d08d544bd" /><Relationship Type="http://schemas.openxmlformats.org/officeDocument/2006/relationships/image" Target="/ppt/media/image45.png" Id="Rb4b03ce7121642a6" /><Relationship Type="http://schemas.openxmlformats.org/officeDocument/2006/relationships/image" Target="/ppt/media/image46.png" Id="R48dd3caf5afc4ab8" /><Relationship Type="http://schemas.openxmlformats.org/officeDocument/2006/relationships/notesSlide" Target="/ppt/notesSlides/notesSlide31.xml" Id="R6f9af6b9e724424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1aa50b93b3140b4" /><Relationship Type="http://schemas.openxmlformats.org/officeDocument/2006/relationships/image" Target="/ppt/media/image47.png" Id="R206eb214f4654cb1" /><Relationship Type="http://schemas.openxmlformats.org/officeDocument/2006/relationships/notesSlide" Target="/ppt/notesSlides/notesSlide32.xml" Id="R109a325d0c6e420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e0df8901e1f4f0e" /><Relationship Type="http://schemas.openxmlformats.org/officeDocument/2006/relationships/image" Target="/ppt/media/image48.png" Id="Rf045a34348bb47db" /><Relationship Type="http://schemas.openxmlformats.org/officeDocument/2006/relationships/image" Target="/ppt/media/image49.png" Id="R2b91999cdb6944bd" /><Relationship Type="http://schemas.openxmlformats.org/officeDocument/2006/relationships/image" Target="/ppt/media/image50.png" Id="Rf14953257acc4dd0" /><Relationship Type="http://schemas.openxmlformats.org/officeDocument/2006/relationships/image" Target="/ppt/media/image51.png" Id="Re9ee6875a42d4d69" /><Relationship Type="http://schemas.openxmlformats.org/officeDocument/2006/relationships/image" Target="/ppt/media/image52.png" Id="R0abdb87fd9954539" /><Relationship Type="http://schemas.openxmlformats.org/officeDocument/2006/relationships/notesSlide" Target="/ppt/notesSlides/notesSlide33.xml" Id="R07a7b43d6cbb4a8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4255c0e1d054f9b" /><Relationship Type="http://schemas.openxmlformats.org/officeDocument/2006/relationships/image" Target="/ppt/media/image53.png" Id="Rff36bc9eb51242d3" /><Relationship Type="http://schemas.openxmlformats.org/officeDocument/2006/relationships/image" Target="/ppt/media/image54.png" Id="R0f9e5f4734fd4652" /><Relationship Type="http://schemas.openxmlformats.org/officeDocument/2006/relationships/notesSlide" Target="/ppt/notesSlides/notesSlide34.xml" Id="Re6a174bd5a664fa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735579ebd8c4132" /><Relationship Type="http://schemas.openxmlformats.org/officeDocument/2006/relationships/image" Target="/ppt/media/image55.png" Id="R428f7dee20504ea7" /><Relationship Type="http://schemas.openxmlformats.org/officeDocument/2006/relationships/notesSlide" Target="/ppt/notesSlides/notesSlide35.xml" Id="Rc82bdb914f8f470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75a11eed0b545a5" /><Relationship Type="http://schemas.openxmlformats.org/officeDocument/2006/relationships/image" Target="/ppt/media/image56.png" Id="Ref18c5905ebe4956" /><Relationship Type="http://schemas.openxmlformats.org/officeDocument/2006/relationships/notesSlide" Target="/ppt/notesSlides/notesSlide36.xml" Id="R24df1f29508b499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2656b947b7d42f2" /><Relationship Type="http://schemas.openxmlformats.org/officeDocument/2006/relationships/image" Target="/ppt/media/image57.png" Id="R0a101656d1b341e3" /><Relationship Type="http://schemas.openxmlformats.org/officeDocument/2006/relationships/notesSlide" Target="/ppt/notesSlides/notesSlide37.xml" Id="Rf2d5cf35588340e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77ce95f4f3b475e" /><Relationship Type="http://schemas.openxmlformats.org/officeDocument/2006/relationships/image" Target="/ppt/media/image58.png" Id="Rff713e03250e4f5f" /><Relationship Type="http://schemas.openxmlformats.org/officeDocument/2006/relationships/notesSlide" Target="/ppt/notesSlides/notesSlide38.xml" Id="R8d9c761bafe74fd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8c56f8bcef14630" /><Relationship Type="http://schemas.openxmlformats.org/officeDocument/2006/relationships/image" Target="/ppt/media/image59.png" Id="Reccff977dd6f49ab" /><Relationship Type="http://schemas.openxmlformats.org/officeDocument/2006/relationships/image" Target="/ppt/media/image60.png" Id="Rc6ab16e5f02a48a2" /><Relationship Type="http://schemas.openxmlformats.org/officeDocument/2006/relationships/notesSlide" Target="/ppt/notesSlides/notesSlide39.xml" Id="Rb53a158c4b344dc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59be53eb5fc4c52" /><Relationship Type="http://schemas.openxmlformats.org/officeDocument/2006/relationships/image" Target="/ppt/media/image61.png" Id="Re51c0c83ad104511" /><Relationship Type="http://schemas.openxmlformats.org/officeDocument/2006/relationships/notesSlide" Target="/ppt/notesSlides/notesSlide40.xml" Id="R40dfaca290a04e3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7e2b61e9097f4872" /><Relationship Type="http://schemas.openxmlformats.org/officeDocument/2006/relationships/image" Target="/ppt/media/image62.png" Id="Re2d05ba1ec724c88" /><Relationship Type="http://schemas.openxmlformats.org/officeDocument/2006/relationships/notesSlide" Target="/ppt/notesSlides/notesSlide41.xml" Id="Rf80aa3fa7a0541b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e5d35ca61fab401a" /><Relationship Type="http://schemas.openxmlformats.org/officeDocument/2006/relationships/image" Target="/ppt/media/image63.png" Id="R44033b1fd80e4c4d" /><Relationship Type="http://schemas.openxmlformats.org/officeDocument/2006/relationships/notesSlide" Target="/ppt/notesSlides/notesSlide42.xml" Id="R15055cdbb16148e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8e5bf36a0104a11" /><Relationship Type="http://schemas.openxmlformats.org/officeDocument/2006/relationships/image" Target="/ppt/media/image64.png" Id="Rca241aa2f9534c81" /><Relationship Type="http://schemas.openxmlformats.org/officeDocument/2006/relationships/image" Target="/ppt/media/image65.png" Id="Rdf178fd9841b49c9" /><Relationship Type="http://schemas.openxmlformats.org/officeDocument/2006/relationships/notesSlide" Target="/ppt/notesSlides/notesSlide43.xml" Id="Rccdb53dce6d8424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0ba85c142cb4ef5" /><Relationship Type="http://schemas.openxmlformats.org/officeDocument/2006/relationships/image" Target="/ppt/media/image66.png" Id="R4a6429ab863e482d" /><Relationship Type="http://schemas.openxmlformats.org/officeDocument/2006/relationships/image" Target="/ppt/media/image67.png" Id="R07cbc522b3d6472b" /><Relationship Type="http://schemas.openxmlformats.org/officeDocument/2006/relationships/notesSlide" Target="/ppt/notesSlides/notesSlide44.xml" Id="Rdefe0988fbdd43a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845e7a84dac4a25" /><Relationship Type="http://schemas.openxmlformats.org/officeDocument/2006/relationships/image" Target="/ppt/media/image68.png" Id="Rc186ab55b0644d4c" /><Relationship Type="http://schemas.openxmlformats.org/officeDocument/2006/relationships/image" Target="/ppt/media/image69.png" Id="R2423a2113d724181" /><Relationship Type="http://schemas.openxmlformats.org/officeDocument/2006/relationships/notesSlide" Target="/ppt/notesSlides/notesSlide45.xml" Id="Rbe3b71ee327246d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2b1c6290c5c64ca7" /><Relationship Type="http://schemas.openxmlformats.org/officeDocument/2006/relationships/image" Target="/ppt/media/image70.png" Id="Rdf9b3ecba739468a" /><Relationship Type="http://schemas.openxmlformats.org/officeDocument/2006/relationships/image" Target="/ppt/media/image71.png" Id="R20a18dce052b4358" /><Relationship Type="http://schemas.openxmlformats.org/officeDocument/2006/relationships/notesSlide" Target="/ppt/notesSlides/notesSlide46.xml" Id="Rfa154e19ed954f8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6fe39c563c94a94" /><Relationship Type="http://schemas.openxmlformats.org/officeDocument/2006/relationships/notesSlide" Target="/ppt/notesSlides/notesSlide47.xml" Id="Rccb373e1a4a64c3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bc5363e01d8464e" /><Relationship Type="http://schemas.openxmlformats.org/officeDocument/2006/relationships/notesSlide" Target="/ppt/notesSlides/notesSlide48.xml" Id="Rc5bc9134102c425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b32e04e1efe2454b" /><Relationship Type="http://schemas.openxmlformats.org/officeDocument/2006/relationships/image" Target="/ppt/media/image72.png" Id="Rd30c5538b58449ee" /><Relationship Type="http://schemas.openxmlformats.org/officeDocument/2006/relationships/image" Target="/ppt/media/image73.png" Id="R3691a12aea7149ef" /><Relationship Type="http://schemas.openxmlformats.org/officeDocument/2006/relationships/notesSlide" Target="/ppt/notesSlides/notesSlide49.xml" Id="Rd13775bd45d6441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c5f8f5039dd94ebb" /><Relationship Type="http://schemas.openxmlformats.org/officeDocument/2006/relationships/image" Target="/ppt/media/image74.png" Id="Rfa771dc630ac49e8" /><Relationship Type="http://schemas.openxmlformats.org/officeDocument/2006/relationships/image" Target="/ppt/media/image75.png" Id="R3cea7b5058ed4436" /><Relationship Type="http://schemas.openxmlformats.org/officeDocument/2006/relationships/notesSlide" Target="/ppt/notesSlides/notesSlide50.xml" Id="R42f44450e2c7420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c97d79bd1274341" /><Relationship Type="http://schemas.openxmlformats.org/officeDocument/2006/relationships/image" Target="/ppt/media/image76.png" Id="R2bab808cbb0c4e8e" /><Relationship Type="http://schemas.openxmlformats.org/officeDocument/2006/relationships/image" Target="/ppt/media/image77.png" Id="R8f9b93913bde4db8" /><Relationship Type="http://schemas.openxmlformats.org/officeDocument/2006/relationships/notesSlide" Target="/ppt/notesSlides/notesSlide51.xml" Id="R87e3c65cbfce467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e85529f3f0544df3" /><Relationship Type="http://schemas.openxmlformats.org/officeDocument/2006/relationships/image" Target="/ppt/media/image78.png" Id="R62095a6edd8743ad" /><Relationship Type="http://schemas.openxmlformats.org/officeDocument/2006/relationships/notesSlide" Target="/ppt/notesSlides/notesSlide52.xml" Id="R24280cb083ad4e6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3daf2c15a338479e" /><Relationship Type="http://schemas.openxmlformats.org/officeDocument/2006/relationships/image" Target="/ppt/media/image79.png" Id="R877d8182088345e9" /><Relationship Type="http://schemas.openxmlformats.org/officeDocument/2006/relationships/image" Target="/ppt/media/image80.png" Id="R204b7d31e9034d32" /><Relationship Type="http://schemas.openxmlformats.org/officeDocument/2006/relationships/notesSlide" Target="/ppt/notesSlides/notesSlide53.xml" Id="R676b7985f1b649b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4535782b47e4a5b" /><Relationship Type="http://schemas.openxmlformats.org/officeDocument/2006/relationships/image" Target="/ppt/media/image81.png" Id="R8ea7bd173d4a42f6" /><Relationship Type="http://schemas.openxmlformats.org/officeDocument/2006/relationships/notesSlide" Target="/ppt/notesSlides/notesSlide54.xml" Id="Rffc0c5f2688c475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a5b4ca74a3b44dee" /><Relationship Type="http://schemas.openxmlformats.org/officeDocument/2006/relationships/image" Target="/ppt/media/image82.png" Id="R198a743810da40d2" /><Relationship Type="http://schemas.openxmlformats.org/officeDocument/2006/relationships/image" Target="/ppt/media/image83.png" Id="Rf054e14d94b643ae" /><Relationship Type="http://schemas.openxmlformats.org/officeDocument/2006/relationships/notesSlide" Target="/ppt/notesSlides/notesSlide55.xml" Id="Rf7e80b960cc2450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d85adeda97d47b2" /><Relationship Type="http://schemas.openxmlformats.org/officeDocument/2006/relationships/image" Target="/ppt/media/image84.png" Id="Rfbc3b394154742ce" /><Relationship Type="http://schemas.openxmlformats.org/officeDocument/2006/relationships/notesSlide" Target="/ppt/notesSlides/notesSlide56.xml" Id="R6c667d81ba6a443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ffedf0220a74fad" /><Relationship Type="http://schemas.openxmlformats.org/officeDocument/2006/relationships/image" Target="/ppt/media/image85.png" Id="R70ea4fc0647e4831" /><Relationship Type="http://schemas.openxmlformats.org/officeDocument/2006/relationships/image" Target="/ppt/media/image86.png" Id="R12aace5d615c4c03" /><Relationship Type="http://schemas.openxmlformats.org/officeDocument/2006/relationships/notesSlide" Target="/ppt/notesSlides/notesSlide57.xml" Id="Rc212294cff1e414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95cd116db3624fa6" /><Relationship Type="http://schemas.openxmlformats.org/officeDocument/2006/relationships/image" Target="/ppt/media/image87.png" Id="R30ef62fbf85442f6" /><Relationship Type="http://schemas.openxmlformats.org/officeDocument/2006/relationships/notesSlide" Target="/ppt/notesSlides/notesSlide58.xml" Id="R3acefa81f0484ff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b108dacf08574670" /><Relationship Type="http://schemas.openxmlformats.org/officeDocument/2006/relationships/notesSlide" Target="/ppt/notesSlides/notesSlide59.xml" Id="Rf106d92ecade43f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9ca7120cd868491e" /><Relationship Type="http://schemas.openxmlformats.org/officeDocument/2006/relationships/image" Target="/ppt/media/image88.png" Id="Rf5d76735c5384f84" /><Relationship Type="http://schemas.openxmlformats.org/officeDocument/2006/relationships/notesSlide" Target="/ppt/notesSlides/notesSlide60.xml" Id="Rb5d65b43f8e94c6b"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50f0ff0ce7a74695" /><Relationship Type="http://schemas.openxmlformats.org/officeDocument/2006/relationships/image" Target="/ppt/media/image89.png" Id="R8c110e93b970413b" /><Relationship Type="http://schemas.openxmlformats.org/officeDocument/2006/relationships/image" Target="/ppt/media/image90.png" Id="R903cac2d496345e3" /><Relationship Type="http://schemas.openxmlformats.org/officeDocument/2006/relationships/notesSlide" Target="/ppt/notesSlides/notesSlide61.xml" Id="R820dfc48b5774ee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c875816b68a6436b" /><Relationship Type="http://schemas.openxmlformats.org/officeDocument/2006/relationships/image" Target="/ppt/media/image91.png" Id="Ra3402f44987d453e" /><Relationship Type="http://schemas.openxmlformats.org/officeDocument/2006/relationships/notesSlide" Target="/ppt/notesSlides/notesSlide62.xml" Id="Rb7dccf8ce16045fa"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70bb1fee27504a05" /><Relationship Type="http://schemas.openxmlformats.org/officeDocument/2006/relationships/notesSlide" Target="/ppt/notesSlides/notesSlide63.xml" Id="Raa848ebca22a49d0"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28dc7b62111145ee" /><Relationship Type="http://schemas.openxmlformats.org/officeDocument/2006/relationships/image" Target="/ppt/media/image92.png" Id="Ra62aa0334fb1429e" /><Relationship Type="http://schemas.openxmlformats.org/officeDocument/2006/relationships/image" Target="/ppt/media/image93.png" Id="R22dd95c519d5438b" /><Relationship Type="http://schemas.openxmlformats.org/officeDocument/2006/relationships/image" Target="/ppt/media/image94.png" Id="Rc625836b39354f53" /><Relationship Type="http://schemas.openxmlformats.org/officeDocument/2006/relationships/notesSlide" Target="/ppt/notesSlides/notesSlide64.xml" Id="Rb3a9a4b07d364c4c"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90ec487dd6344fb4" /><Relationship Type="http://schemas.openxmlformats.org/officeDocument/2006/relationships/image" Target="/ppt/media/image95.png" Id="R67dccd33fa084342" /><Relationship Type="http://schemas.openxmlformats.org/officeDocument/2006/relationships/notesSlide" Target="/ppt/notesSlides/notesSlide65.xml" Id="R1a62ec6b68ec418f"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6fab80f02fd343be" /><Relationship Type="http://schemas.openxmlformats.org/officeDocument/2006/relationships/image" Target="/ppt/media/image96.png" Id="R67e596a287294560" /><Relationship Type="http://schemas.openxmlformats.org/officeDocument/2006/relationships/image" Target="/ppt/media/image97.png" Id="R91aa846c50f0419e" /><Relationship Type="http://schemas.openxmlformats.org/officeDocument/2006/relationships/notesSlide" Target="/ppt/notesSlides/notesSlide66.xml" Id="Re7446e82c257427b"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a0566d4afa874d6f" /><Relationship Type="http://schemas.openxmlformats.org/officeDocument/2006/relationships/image" Target="/ppt/media/image98.png" Id="R7638a7c777814aec" /><Relationship Type="http://schemas.openxmlformats.org/officeDocument/2006/relationships/notesSlide" Target="/ppt/notesSlides/notesSlide67.xml" Id="R913618bf0cf941f2"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31a07f4ad0fd41fa" /><Relationship Type="http://schemas.openxmlformats.org/officeDocument/2006/relationships/image" Target="/ppt/media/image99.png" Id="R2a4a72675f0e4353" /><Relationship Type="http://schemas.openxmlformats.org/officeDocument/2006/relationships/notesSlide" Target="/ppt/notesSlides/notesSlide68.xml" Id="R59742f2d32894f3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44cc1315f7124152" /><Relationship Type="http://schemas.openxmlformats.org/officeDocument/2006/relationships/notesSlide" Target="/ppt/notesSlides/notesSlide69.xml" Id="R20dcec8a43b244db"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e35f356879044834" /><Relationship Type="http://schemas.openxmlformats.org/officeDocument/2006/relationships/image" Target="/ppt/media/image100.png" Id="R592f6175e3d54f10" /><Relationship Type="http://schemas.openxmlformats.org/officeDocument/2006/relationships/notesSlide" Target="/ppt/notesSlides/notesSlide70.xml" Id="R6354a49a76154ff0"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53a2848a75784dd9" /><Relationship Type="http://schemas.openxmlformats.org/officeDocument/2006/relationships/image" Target="/ppt/media/image101.png" Id="R6adeaefaeb7d4e3d" /><Relationship Type="http://schemas.openxmlformats.org/officeDocument/2006/relationships/notesSlide" Target="/ppt/notesSlides/notesSlide71.xml" Id="R9261face950b4162"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5f098466a210469a" /><Relationship Type="http://schemas.openxmlformats.org/officeDocument/2006/relationships/image" Target="/ppt/media/image102.png" Id="Rdb42062b17e445f7" /><Relationship Type="http://schemas.openxmlformats.org/officeDocument/2006/relationships/image" Target="/ppt/media/image103.png" Id="Ra38fea4efe9c4160" /><Relationship Type="http://schemas.openxmlformats.org/officeDocument/2006/relationships/notesSlide" Target="/ppt/notesSlides/notesSlide72.xml" Id="Rb441d0a9f38d47c6"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e680b371f7314079" /><Relationship Type="http://schemas.openxmlformats.org/officeDocument/2006/relationships/image" Target="/ppt/media/image104.png" Id="R66093e264dff4b05" /><Relationship Type="http://schemas.openxmlformats.org/officeDocument/2006/relationships/notesSlide" Target="/ppt/notesSlides/notesSlide73.xml" Id="R16bf68a6fda54ed4"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2f166df3f7334a14" /><Relationship Type="http://schemas.openxmlformats.org/officeDocument/2006/relationships/image" Target="/ppt/media/image105.png" Id="R65f09af8823743d6" /><Relationship Type="http://schemas.openxmlformats.org/officeDocument/2006/relationships/image" Target="/ppt/media/image106.png" Id="R46e5f39f55a34861" /><Relationship Type="http://schemas.openxmlformats.org/officeDocument/2006/relationships/notesSlide" Target="/ppt/notesSlides/notesSlide74.xml" Id="R52dbb86732494ed5"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4f25eaf66e494f10" /><Relationship Type="http://schemas.openxmlformats.org/officeDocument/2006/relationships/image" Target="/ppt/media/image107.png" Id="R5ce035c9eb0742c2" /><Relationship Type="http://schemas.openxmlformats.org/officeDocument/2006/relationships/image" Target="/ppt/media/image108.png" Id="R30e6ca5d16754888" /><Relationship Type="http://schemas.openxmlformats.org/officeDocument/2006/relationships/notesSlide" Target="/ppt/notesSlides/notesSlide75.xml" Id="R25d708e6e5db4135"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cb826f30d972450b" /><Relationship Type="http://schemas.openxmlformats.org/officeDocument/2006/relationships/image" Target="/ppt/media/image109.png" Id="R2cdfc47090284230" /><Relationship Type="http://schemas.openxmlformats.org/officeDocument/2006/relationships/image" Target="/ppt/media/image110.png" Id="Rd82a4dc7853745d7" /><Relationship Type="http://schemas.openxmlformats.org/officeDocument/2006/relationships/image" Target="/ppt/media/image111.png" Id="R6773ed3199244cf8" /><Relationship Type="http://schemas.openxmlformats.org/officeDocument/2006/relationships/notesSlide" Target="/ppt/notesSlides/notesSlide76.xml" Id="Re9ed7316faec4343"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03eec4f64c56487c" /><Relationship Type="http://schemas.openxmlformats.org/officeDocument/2006/relationships/image" Target="/ppt/media/image112.png" Id="Raf398e07933c4404" /><Relationship Type="http://schemas.openxmlformats.org/officeDocument/2006/relationships/image" Target="/ppt/media/image113.png" Id="Refbc37c38c9d40b5" /><Relationship Type="http://schemas.openxmlformats.org/officeDocument/2006/relationships/notesSlide" Target="/ppt/notesSlides/notesSlide77.xml" Id="R71f756437c23410a"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4e48f075ef444307" /><Relationship Type="http://schemas.openxmlformats.org/officeDocument/2006/relationships/image" Target="/ppt/media/image114.png" Id="R4902a9a1456e4d1a" /><Relationship Type="http://schemas.openxmlformats.org/officeDocument/2006/relationships/notesSlide" Target="/ppt/notesSlides/notesSlide78.xml" Id="Rd7672522767e4f50"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ff9614c0d3ef4687" /><Relationship Type="http://schemas.openxmlformats.org/officeDocument/2006/relationships/image" Target="/ppt/media/image115.png" Id="R0fc61436cd6246d5" /><Relationship Type="http://schemas.openxmlformats.org/officeDocument/2006/relationships/image" Target="/ppt/media/image116.png" Id="R5972793b25114b53" /><Relationship Type="http://schemas.openxmlformats.org/officeDocument/2006/relationships/notesSlide" Target="/ppt/notesSlides/notesSlide79.xml" Id="R830c53024e784d0c"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64bef84f61ef46b3" /><Relationship Type="http://schemas.openxmlformats.org/officeDocument/2006/relationships/image" Target="/ppt/media/image117.png" Id="R91295bf3fe8640c7" /><Relationship Type="http://schemas.openxmlformats.org/officeDocument/2006/relationships/image" Target="/ppt/media/image118.png" Id="Rf1ed1b18bc42429e" /><Relationship Type="http://schemas.openxmlformats.org/officeDocument/2006/relationships/notesSlide" Target="/ppt/notesSlides/notesSlide80.xml" Id="R30f5fe1af84e4fa3"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80b711ff56ba4c72" /><Relationship Type="http://schemas.openxmlformats.org/officeDocument/2006/relationships/notesSlide" Target="/ppt/notesSlides/notesSlide81.xml" Id="Rbe1d39534d584bb5"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d74dd95c83f541b6" /><Relationship Type="http://schemas.openxmlformats.org/officeDocument/2006/relationships/image" Target="/ppt/media/image119.png" Id="Rabf3f3cf251f4a97" /><Relationship Type="http://schemas.openxmlformats.org/officeDocument/2006/relationships/notesSlide" Target="/ppt/notesSlides/notesSlide82.xml" Id="R6188e55685e24ea0"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de50a8f2b5154560" /><Relationship Type="http://schemas.openxmlformats.org/officeDocument/2006/relationships/image" Target="/ppt/media/image120.png" Id="R578dcab9d96640e2" /><Relationship Type="http://schemas.openxmlformats.org/officeDocument/2006/relationships/notesSlide" Target="/ppt/notesSlides/notesSlide83.xml" Id="R2e6fee8f739e40a0"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506bf36ba62147a3" /><Relationship Type="http://schemas.openxmlformats.org/officeDocument/2006/relationships/image" Target="/ppt/media/image121.png" Id="Re474b74e41734f0a" /><Relationship Type="http://schemas.openxmlformats.org/officeDocument/2006/relationships/notesSlide" Target="/ppt/notesSlides/notesSlide84.xml" Id="R2cc493b33a054178"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35e444b6e88a48ac" /><Relationship Type="http://schemas.openxmlformats.org/officeDocument/2006/relationships/image" Target="/ppt/media/image122.png" Id="R1a7847436cdd4f64" /><Relationship Type="http://schemas.openxmlformats.org/officeDocument/2006/relationships/notesSlide" Target="/ppt/notesSlides/notesSlide85.xml" Id="R1b73144be1c84fcb"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fd3365de2f8d4a57" /><Relationship Type="http://schemas.openxmlformats.org/officeDocument/2006/relationships/image" Target="/ppt/media/image123.png" Id="Ra1c4718a2ddb4f5a" /><Relationship Type="http://schemas.openxmlformats.org/officeDocument/2006/relationships/notesSlide" Target="/ppt/notesSlides/notesSlide86.xml" Id="Raa6a1565f43f4022"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a83cf6c3354d491a" /><Relationship Type="http://schemas.openxmlformats.org/officeDocument/2006/relationships/image" Target="/ppt/media/image124.png" Id="R6a371b6c193a49ad" /><Relationship Type="http://schemas.openxmlformats.org/officeDocument/2006/relationships/image" Target="/ppt/media/image125.png" Id="Rfde18bd27d8f446d" /><Relationship Type="http://schemas.openxmlformats.org/officeDocument/2006/relationships/notesSlide" Target="/ppt/notesSlides/notesSlide87.xml" Id="R476bad351a3f41a7"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c533ce355a07417a" /><Relationship Type="http://schemas.openxmlformats.org/officeDocument/2006/relationships/image" Target="/ppt/media/image126.png" Id="R01b898196b974f62" /><Relationship Type="http://schemas.openxmlformats.org/officeDocument/2006/relationships/notesSlide" Target="/ppt/notesSlides/notesSlide88.xml" Id="R6198938f8e7f49a9"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9e864e6491234c70" /><Relationship Type="http://schemas.openxmlformats.org/officeDocument/2006/relationships/image" Target="/ppt/media/image127.png" Id="R750a9c5e19d2444a" /><Relationship Type="http://schemas.openxmlformats.org/officeDocument/2006/relationships/image" Target="/ppt/media/image128.png" Id="R60dce2d78653468b" /><Relationship Type="http://schemas.openxmlformats.org/officeDocument/2006/relationships/notesSlide" Target="/ppt/notesSlides/notesSlide89.xml" Id="R0f87e2d64e4046ec"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0011f2ad7a0448f2" /><Relationship Type="http://schemas.openxmlformats.org/officeDocument/2006/relationships/notesSlide" Target="/ppt/notesSlides/notesSlide90.xml" Id="R0b92837846bc4f84"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f7c30463f69843af" /><Relationship Type="http://schemas.openxmlformats.org/officeDocument/2006/relationships/notesSlide" Target="/ppt/notesSlides/notesSlide91.xml" Id="R3232134146b1454c"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3494ec58d78f41b1" /><Relationship Type="http://schemas.openxmlformats.org/officeDocument/2006/relationships/image" Target="/ppt/media/image129.png" Id="R24837756e2434ce5" /><Relationship Type="http://schemas.openxmlformats.org/officeDocument/2006/relationships/notesSlide" Target="/ppt/notesSlides/notesSlide92.xml" Id="R7010347c2d754b9b"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1968e7a4c58f4252" /><Relationship Type="http://schemas.openxmlformats.org/officeDocument/2006/relationships/image" Target="/ppt/media/image130.png" Id="R3fae8b572f104029" /><Relationship Type="http://schemas.openxmlformats.org/officeDocument/2006/relationships/notesSlide" Target="/ppt/notesSlides/notesSlide93.xml" Id="Rf0527273e390409a"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9190bb4d0f9a4160" /><Relationship Type="http://schemas.openxmlformats.org/officeDocument/2006/relationships/image" Target="/ppt/media/image131.png" Id="R27bd15dd13c44bfc" /><Relationship Type="http://schemas.openxmlformats.org/officeDocument/2006/relationships/notesSlide" Target="/ppt/notesSlides/notesSlide94.xml" Id="R5c8c70ef4a5c463b"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85adaeb49f3d4d19" /><Relationship Type="http://schemas.openxmlformats.org/officeDocument/2006/relationships/image" Target="/ppt/media/image132.png" Id="R510119090aaf400e" /><Relationship Type="http://schemas.openxmlformats.org/officeDocument/2006/relationships/notesSlide" Target="/ppt/notesSlides/notesSlide95.xml" Id="R03a26e35d87f4cd0"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0ca8cd95b8904907" /><Relationship Type="http://schemas.openxmlformats.org/officeDocument/2006/relationships/notesSlide" Target="/ppt/notesSlides/notesSlide96.xml" Id="Rfaa6901bd6f9464c"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761375dfe9c5415c" /><Relationship Type="http://schemas.openxmlformats.org/officeDocument/2006/relationships/image" Target="/ppt/media/image133.png" Id="R79a6b5290f5c4d29" /><Relationship Type="http://schemas.openxmlformats.org/officeDocument/2006/relationships/notesSlide" Target="/ppt/notesSlides/notesSlide97.xml" Id="Re60a3b020d8f4360"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f218e6dbc62a47d2" /><Relationship Type="http://schemas.openxmlformats.org/officeDocument/2006/relationships/image" Target="/ppt/media/image134.png" Id="R939ea6c2cb9a4b7f" /><Relationship Type="http://schemas.openxmlformats.org/officeDocument/2006/relationships/notesSlide" Target="/ppt/notesSlides/notesSlide98.xml" Id="R2cfbbb0b72d14202"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fe9d4560204e4700" /><Relationship Type="http://schemas.openxmlformats.org/officeDocument/2006/relationships/notesSlide" Target="/ppt/notesSlides/notesSlide99.xml" Id="R2bcc08ace90247f2" /></Relationships>
</file>

<file path=ppt/slides/slide1.xml><?xml version="1.0" encoding="utf-8"?>
<p:sld xmlns:p="http://schemas.openxmlformats.org/presentationml/2006/main">
  <p:cSld>
    <p:bg>
      <p:bgPr>
        <a:solidFill xmlns:a="http://schemas.openxmlformats.org/drawingml/2006/main">
          <a:srgbClr val="1B2A41"/>
        </a:solidFill>
      </p:bgPr>
    </p:bg>
    <p:spTree>
      <p:nvGrpSpPr>
        <p:cNvPr id="1" name=""/>
        <p:cNvGrpSpPr/>
        <p:nvPr/>
      </p:nvGrpSpPr>
      <p:grpSpPr/>
      <p:sp>
        <p:nvSpPr>
          <p:cNvPr id="100000" name="CoverRule1"/>
          <p:cNvSpPr/>
          <p:nvPr/>
        </p:nvSpPr>
        <p:spPr>
          <a:xfrm xmlns:a="http://schemas.openxmlformats.org/drawingml/2006/main">
            <a:off x="0" y="4644000"/>
            <a:ext cx="12192120" cy="43200"/>
          </a:xfrm>
          <a:prstGeom xmlns:a="http://schemas.openxmlformats.org/drawingml/2006/main" prst="rect">
            <a:avLst/>
          </a:prstGeom>
          <a:solidFill xmlns:a="http://schemas.openxmlformats.org/drawingml/2006/main">
            <a:srgbClr val="D97B1F"/>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01" name="CoverTitle2"/>
          <p:cNvSpPr txBox="1"/>
          <p:nvPr/>
        </p:nvSpPr>
        <p:spPr>
          <a:xfrm xmlns:a="http://schemas.openxmlformats.org/drawingml/2006/main">
            <a:off x="792000" y="1152000"/>
            <a:ext cx="10608120" cy="1152000"/>
          </a:xfrm>
          <a:prstGeom xmlns:a="http://schemas.openxmlformats.org/drawingml/2006/main" prst="rect">
            <a:avLst/>
          </a:prstGeom>
          <a:noFill xmlns:a="http://schemas.openxmlformats.org/drawingml/2006/main"/>
        </p:spPr>
        <p:txBody>
          <a:bodyPr xmlns:a="http://schemas.openxmlformats.org/drawingml/2006/main" lIns="0" tIns="0" rIns="0" bIns="0" anchor="b">
            <a:noAutofit/>
          </a:bodyPr>
          <a:lstStyle xmlns:a="http://schemas.openxmlformats.org/drawingml/2006/main"/>
          <a:p xmlns:a="http://schemas.openxmlformats.org/drawingml/2006/main">
            <a:pPr algn="l">
              <a:lnSpc>
                <a:spcPct val="112000"/>
              </a:lnSpc>
            </a:pPr>
            <a:r>
              <a:rPr lang="en-US" sz="4000" b="1">
                <a:solidFill>
                  <a:srgbClr val="FFFFFF"/>
                </a:solidFill>
                <a:latin typeface="Noto Sans JP"/>
                <a:ea typeface="Noto Sans JP"/>
              </a:rPr>
              <a:t>有理数の底の床関数列に現れる合成数</a:t>
            </a:r>
          </a:p>
        </p:txBody>
      </p:sp>
      <p:sp>
        <p:nvSpPr>
          <p:cNvPr id="100002" name="Text3"/>
          <p:cNvSpPr txBox="1"/>
          <p:nvPr/>
        </p:nvSpPr>
        <p:spPr>
          <a:xfrm xmlns:a="http://schemas.openxmlformats.org/drawingml/2006/main">
            <a:off x="792000" y="2484000"/>
            <a:ext cx="106081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FFFFFF"/>
                </a:solidFill>
                <a:latin typeface="Noto Sans JP"/>
                <a:ea typeface="Noto Sans JP"/>
              </a:rPr>
              <a:t>有限グラフによる証明書で「割り切れる項が無限にある」ことを示す</a:t>
            </a:r>
          </a:p>
        </p:txBody>
      </p:sp>
      <p:pic>
        <p:nvPicPr>
          <p:cNvPr id="100003" name="Pic4" descr="数式: \bigl\lfloor \xi\,(7/5)^n \bigr\rfloor \qquad \bigl\lfloor \xi\,(5/2)^n \bigr\rfloor"/>
          <p:cNvPicPr>
            <a:picLocks xmlns:a="http://schemas.openxmlformats.org/drawingml/2006/main" noChangeAspect="1"/>
          </p:cNvPicPr>
          <p:nvPr/>
        </p:nvPicPr>
        <p:blipFill>
          <a:blip xmlns:r="http://schemas.openxmlformats.org/officeDocument/2006/relationships" xmlns:a="http://schemas.openxmlformats.org/drawingml/2006/main" r:embed="R1aee71fd7a4745d0"/>
          <a:stretch xmlns:a="http://schemas.openxmlformats.org/drawingml/2006/main">
            <a:fillRect/>
          </a:stretch>
        </p:blipFill>
        <p:spPr>
          <a:xfrm xmlns:a="http://schemas.openxmlformats.org/drawingml/2006/main">
            <a:off x="864000" y="3018240"/>
            <a:ext cx="3629520" cy="461880"/>
          </a:xfrm>
          <a:prstGeom xmlns:a="http://schemas.openxmlformats.org/drawingml/2006/main" prst="rect">
            <a:avLst/>
          </a:prstGeom>
        </p:spPr>
      </p:pic>
      <p:sp>
        <p:nvSpPr>
          <p:cNvPr id="100004" name="Text5"/>
          <p:cNvSpPr txBox="1"/>
          <p:nvPr/>
        </p:nvSpPr>
        <p:spPr>
          <a:xfrm xmlns:a="http://schemas.openxmlformats.org/drawingml/2006/main">
            <a:off x="792000" y="4860000"/>
            <a:ext cx="10608120" cy="14428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FFFFFF"/>
                </a:solidFill>
                <a:latin typeface="Noto Sans JP"/>
                <a:ea typeface="Noto Sans JP"/>
              </a:rPr>
              <a:t>論文 Finite graph certificates for composite terms in rational floor sequences の解説</a:t>
            </a:r>
          </a:p>
          <a:p xmlns:a="http://schemas.openxmlformats.org/drawingml/2006/main">
            <a:pPr algn="l">
              <a:lnSpc>
                <a:spcPct val="112000"/>
              </a:lnSpc>
              <a:spcBef>
                <a:spcPts val="400"/>
              </a:spcBef>
            </a:pPr>
            <a:r>
              <a:rPr lang="en-US" sz="2000" b="0">
                <a:solidFill>
                  <a:srgbClr val="FFFFFF"/>
                </a:solidFill>
                <a:latin typeface="Noto Sans JP"/>
                <a:ea typeface="Noto Sans JP"/>
              </a:rPr>
              <a:t>著者 Yuri Odagiri　／　DOI 10.5281/zenodo.22995171</a:t>
            </a: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5" name="Title1"/>
          <p:cNvSpPr txBox="1"/>
          <p:nvPr/>
        </p:nvSpPr>
        <p:spPr>
          <a:xfrm xmlns:a="http://schemas.openxmlformats.org/drawingml/2006/main">
            <a:off x="457200" y="280800"/>
            <a:ext cx="112777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この資料で分かること</a:t>
            </a:r>
          </a:p>
        </p:txBody>
      </p:sp>
      <p:sp>
        <p:nvSpPr>
          <p:cNvPr id="100006" name="PageNo2"/>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2 / 99</a:t>
            </a:r>
          </a:p>
        </p:txBody>
      </p:sp>
      <p:sp>
        <p:nvSpPr>
          <p:cNvPr id="100007" name="PointBg3"/>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08" name="PointMark4"/>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09" name="Point5"/>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目標は、主定理の意味と証明の流れを、途中を飛ばさずに追えるようにすることです。</a:t>
            </a:r>
          </a:p>
        </p:txBody>
      </p:sp>
      <p:sp>
        <p:nvSpPr>
          <p:cNvPr id="100010" name="Text6"/>
          <p:cNvSpPr txBox="1"/>
          <p:nvPr/>
        </p:nvSpPr>
        <p:spPr>
          <a:xfrm xmlns:a="http://schemas.openxmlformats.org/drawingml/2006/main">
            <a:off x="457200" y="1080000"/>
            <a:ext cx="5458680" cy="40658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marL="288000" indent="-288000" algn="l">
              <a:lnSpc>
                <a:spcPct val="112000"/>
              </a:lnSpc>
              <a:buNone/>
            </a:pPr>
            <a:r>
              <a:rPr lang="en-US" sz="2000" b="0">
                <a:solidFill>
                  <a:srgbClr val="1F2933"/>
                </a:solidFill>
                <a:latin typeface="Noto Sans JP"/>
                <a:ea typeface="Noto Sans JP"/>
              </a:rPr>
              <a:t>1. どんな数列について、何が証明されたのか</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2. 「無限に多い」を有限の計算で示す方法</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3. 証明の道具（繰り上がり、グラフ、位相判定など）</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4. 何番目までに割り切れる項が出るか</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5. この方法でできること・できないこと</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6. 計算の確かめ方と、Lean による証明の検査</a:t>
            </a:r>
          </a:p>
        </p:txBody>
      </p:sp>
      <p:sp>
        <p:nvSpPr>
          <p:cNvPr id="100011" name="Text7"/>
          <p:cNvSpPr txBox="1"/>
          <p:nvPr/>
        </p:nvSpPr>
        <p:spPr>
          <a:xfrm xmlns:a="http://schemas.openxmlformats.org/drawingml/2006/main">
            <a:off x="6275880" y="1080000"/>
            <a:ext cx="5458680" cy="37008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前提とする知識</a:t>
            </a:r>
          </a:p>
          <a:p xmlns:a="http://schemas.openxmlformats.org/drawingml/2006/main">
            <a:pPr algn="l">
              <a:lnSpc>
                <a:spcPct val="112000"/>
              </a:lnSpc>
              <a:spcBef>
                <a:spcPts val="400"/>
              </a:spcBef>
            </a:pPr>
            <a:r>
              <a:rPr lang="en-US" sz="2000" b="0">
                <a:solidFill>
                  <a:srgbClr val="1F2933"/>
                </a:solidFill>
                <a:latin typeface="Noto Sans JP"/>
                <a:ea typeface="Noto Sans JP"/>
              </a:rPr>
              <a:t>高校数学の範囲: 整数の割り算とあまり、素数、最大公約数、数列、指数、不等式、背理法。</a:t>
            </a:r>
          </a:p>
          <a:p xmlns:a="http://schemas.openxmlformats.org/drawingml/2006/main">
            <a:pPr algn="l">
              <a:lnSpc>
                <a:spcPct val="112000"/>
              </a:lnSpc>
              <a:spcBef>
                <a:spcPts val="1000"/>
              </a:spcBef>
            </a:pPr>
            <a:r>
              <a:rPr lang="en-US" sz="2000" b="1">
                <a:solidFill>
                  <a:srgbClr val="1B2A41"/>
                </a:solidFill>
                <a:latin typeface="Noto Sans JP"/>
                <a:ea typeface="Noto Sans JP"/>
              </a:rPr>
              <a:t>この資料の読み方</a:t>
            </a:r>
          </a:p>
          <a:p xmlns:a="http://schemas.openxmlformats.org/drawingml/2006/main">
            <a:pPr algn="l">
              <a:lnSpc>
                <a:spcPct val="112000"/>
              </a:lnSpc>
              <a:spcBef>
                <a:spcPts val="400"/>
              </a:spcBef>
            </a:pPr>
            <a:r>
              <a:rPr lang="en-US" sz="2000" b="0">
                <a:solidFill>
                  <a:srgbClr val="1F2933"/>
                </a:solidFill>
                <a:latin typeface="Noto Sans JP"/>
                <a:ea typeface="Noto Sans JP"/>
              </a:rPr>
              <a:t>各ページの下の帯に、そのページの要点を1文で書きました。新しい言葉は「新しい言葉」の枠で説明します。</a:t>
            </a:r>
          </a:p>
        </p:txBody>
      </p:sp>
    </p:spTree>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2" name="Title1"/>
          <p:cNvSpPr txBox="1"/>
          <p:nvPr/>
        </p:nvSpPr>
        <p:spPr>
          <a:xfrm xmlns:a="http://schemas.openxmlformats.org/drawingml/2006/main">
            <a:off x="457200" y="280800"/>
            <a:ext cx="112777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資料の流れ</a:t>
            </a:r>
          </a:p>
        </p:txBody>
      </p:sp>
      <p:sp>
        <p:nvSpPr>
          <p:cNvPr id="100013" name="PageNo2"/>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3 / 99</a:t>
            </a:r>
          </a:p>
        </p:txBody>
      </p:sp>
      <p:sp>
        <p:nvSpPr>
          <p:cNvPr id="100014" name="AgNum3"/>
          <p:cNvSpPr txBox="1"/>
          <p:nvPr/>
        </p:nvSpPr>
        <p:spPr>
          <a:xfrm xmlns:a="http://schemas.openxmlformats.org/drawingml/2006/main">
            <a:off x="457200" y="1134000"/>
            <a:ext cx="540000" cy="54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2400" b="1">
                <a:solidFill>
                  <a:srgbClr val="FFFFFF"/>
                </a:solidFill>
                <a:latin typeface="Noto Sans JP"/>
                <a:ea typeface="Noto Sans JP"/>
              </a:rPr>
              <a:t>1</a:t>
            </a:r>
          </a:p>
        </p:txBody>
      </p:sp>
      <p:sp>
        <p:nvSpPr>
          <p:cNvPr id="100015" name="AgTitle4"/>
          <p:cNvSpPr txBox="1"/>
          <p:nvPr/>
        </p:nvSpPr>
        <p:spPr>
          <a:xfrm xmlns:a="http://schemas.openxmlformats.org/drawingml/2006/main">
            <a:off x="1177200" y="1116000"/>
            <a:ext cx="4738680" cy="36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200" b="1">
                <a:solidFill>
                  <a:srgbClr val="1B2A41"/>
                </a:solidFill>
                <a:latin typeface="Noto Sans JP"/>
                <a:ea typeface="Noto Sans JP"/>
              </a:rPr>
              <a:t>問題と主結果</a:t>
            </a:r>
          </a:p>
        </p:txBody>
      </p:sp>
      <p:sp>
        <p:nvSpPr>
          <p:cNvPr id="100016" name="AgDesc5"/>
          <p:cNvSpPr txBox="1"/>
          <p:nvPr/>
        </p:nvSpPr>
        <p:spPr>
          <a:xfrm xmlns:a="http://schemas.openxmlformats.org/drawingml/2006/main">
            <a:off x="1177200" y="1512000"/>
            <a:ext cx="4738680" cy="70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1800" b="0">
                <a:solidFill>
                  <a:srgbClr val="1F2933"/>
                </a:solidFill>
                <a:latin typeface="Noto Sans JP"/>
                <a:ea typeface="Noto Sans JP"/>
              </a:rPr>
              <a:t>数列の作り方、主定理、先行研究</a:t>
            </a:r>
          </a:p>
        </p:txBody>
      </p:sp>
      <p:sp>
        <p:nvSpPr>
          <p:cNvPr id="100017" name="AgNum6"/>
          <p:cNvSpPr txBox="1"/>
          <p:nvPr/>
        </p:nvSpPr>
        <p:spPr>
          <a:xfrm xmlns:a="http://schemas.openxmlformats.org/drawingml/2006/main">
            <a:off x="457200" y="2170800"/>
            <a:ext cx="540000" cy="54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2400" b="1">
                <a:solidFill>
                  <a:srgbClr val="FFFFFF"/>
                </a:solidFill>
                <a:latin typeface="Noto Sans JP"/>
                <a:ea typeface="Noto Sans JP"/>
              </a:rPr>
              <a:t>2</a:t>
            </a:r>
          </a:p>
        </p:txBody>
      </p:sp>
      <p:sp>
        <p:nvSpPr>
          <p:cNvPr id="100018" name="AgTitle7"/>
          <p:cNvSpPr txBox="1"/>
          <p:nvPr/>
        </p:nvSpPr>
        <p:spPr>
          <a:xfrm xmlns:a="http://schemas.openxmlformats.org/drawingml/2006/main">
            <a:off x="1177200" y="2152800"/>
            <a:ext cx="4738680" cy="36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200" b="1">
                <a:solidFill>
                  <a:srgbClr val="1B2A41"/>
                </a:solidFill>
                <a:latin typeface="Noto Sans JP"/>
                <a:ea typeface="Noto Sans JP"/>
              </a:rPr>
              <a:t>繰り上がりと非周期性</a:t>
            </a:r>
          </a:p>
        </p:txBody>
      </p:sp>
      <p:sp>
        <p:nvSpPr>
          <p:cNvPr id="100019" name="AgDesc8"/>
          <p:cNvSpPr txBox="1"/>
          <p:nvPr/>
        </p:nvSpPr>
        <p:spPr>
          <a:xfrm xmlns:a="http://schemas.openxmlformats.org/drawingml/2006/main">
            <a:off x="1177200" y="2548800"/>
            <a:ext cx="4738680" cy="70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1800" b="0">
                <a:solidFill>
                  <a:srgbClr val="1F2933"/>
                </a:solidFill>
                <a:latin typeface="Noto Sans JP"/>
                <a:ea typeface="Noto Sans JP"/>
              </a:rPr>
              <a:t>証明の出発点になる整数の関係式と補題</a:t>
            </a:r>
          </a:p>
        </p:txBody>
      </p:sp>
      <p:sp>
        <p:nvSpPr>
          <p:cNvPr id="100020" name="AgNum9"/>
          <p:cNvSpPr txBox="1"/>
          <p:nvPr/>
        </p:nvSpPr>
        <p:spPr>
          <a:xfrm xmlns:a="http://schemas.openxmlformats.org/drawingml/2006/main">
            <a:off x="457200" y="3207600"/>
            <a:ext cx="540000" cy="54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2400" b="1">
                <a:solidFill>
                  <a:srgbClr val="FFFFFF"/>
                </a:solidFill>
                <a:latin typeface="Noto Sans JP"/>
                <a:ea typeface="Noto Sans JP"/>
              </a:rPr>
              <a:t>3</a:t>
            </a:r>
          </a:p>
        </p:txBody>
      </p:sp>
      <p:sp>
        <p:nvSpPr>
          <p:cNvPr id="100021" name="AgTitle10"/>
          <p:cNvSpPr txBox="1"/>
          <p:nvPr/>
        </p:nvSpPr>
        <p:spPr>
          <a:xfrm xmlns:a="http://schemas.openxmlformats.org/drawingml/2006/main">
            <a:off x="1177200" y="3189600"/>
            <a:ext cx="4738680" cy="36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200" b="1">
                <a:solidFill>
                  <a:srgbClr val="1B2A41"/>
                </a:solidFill>
                <a:latin typeface="Noto Sans JP"/>
                <a:ea typeface="Noto Sans JP"/>
              </a:rPr>
              <a:t>1ステップ法</a:t>
            </a:r>
          </a:p>
        </p:txBody>
      </p:sp>
      <p:sp>
        <p:nvSpPr>
          <p:cNvPr id="100022" name="AgDesc11"/>
          <p:cNvSpPr txBox="1"/>
          <p:nvPr/>
        </p:nvSpPr>
        <p:spPr>
          <a:xfrm xmlns:a="http://schemas.openxmlformats.org/drawingml/2006/main">
            <a:off x="1177200" y="3585600"/>
            <a:ext cx="4738680" cy="70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1800" b="0">
                <a:solidFill>
                  <a:srgbClr val="1F2933"/>
                </a:solidFill>
                <a:latin typeface="Noto Sans JP"/>
                <a:ea typeface="Noto Sans JP"/>
              </a:rPr>
              <a:t>状態のグラフ、位相判定、細分</a:t>
            </a:r>
          </a:p>
        </p:txBody>
      </p:sp>
      <p:sp>
        <p:nvSpPr>
          <p:cNvPr id="100023" name="AgNum12"/>
          <p:cNvSpPr txBox="1"/>
          <p:nvPr/>
        </p:nvSpPr>
        <p:spPr>
          <a:xfrm xmlns:a="http://schemas.openxmlformats.org/drawingml/2006/main">
            <a:off x="457200" y="4244400"/>
            <a:ext cx="540000" cy="54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2400" b="1">
                <a:solidFill>
                  <a:srgbClr val="FFFFFF"/>
                </a:solidFill>
                <a:latin typeface="Noto Sans JP"/>
                <a:ea typeface="Noto Sans JP"/>
              </a:rPr>
              <a:t>4</a:t>
            </a:r>
          </a:p>
        </p:txBody>
      </p:sp>
      <p:sp>
        <p:nvSpPr>
          <p:cNvPr id="100024" name="AgTitle13"/>
          <p:cNvSpPr txBox="1"/>
          <p:nvPr/>
        </p:nvSpPr>
        <p:spPr>
          <a:xfrm xmlns:a="http://schemas.openxmlformats.org/drawingml/2006/main">
            <a:off x="1177200" y="4226400"/>
            <a:ext cx="4738680" cy="36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200" b="1">
                <a:solidFill>
                  <a:srgbClr val="1B2A41"/>
                </a:solidFill>
                <a:latin typeface="Noto Sans JP"/>
                <a:ea typeface="Noto Sans JP"/>
              </a:rPr>
              <a:t>語ラベル法</a:t>
            </a:r>
          </a:p>
        </p:txBody>
      </p:sp>
      <p:sp>
        <p:nvSpPr>
          <p:cNvPr id="100025" name="AgDesc14"/>
          <p:cNvSpPr txBox="1"/>
          <p:nvPr/>
        </p:nvSpPr>
        <p:spPr>
          <a:xfrm xmlns:a="http://schemas.openxmlformats.org/drawingml/2006/main">
            <a:off x="1177200" y="4622400"/>
            <a:ext cx="4738680" cy="70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1800" b="0">
                <a:solidFill>
                  <a:srgbClr val="1F2933"/>
                </a:solidFill>
                <a:latin typeface="Noto Sans JP"/>
                <a:ea typeface="Noto Sans JP"/>
              </a:rPr>
              <a:t>語を付けた辺、縮約、持ち上げ</a:t>
            </a:r>
          </a:p>
        </p:txBody>
      </p:sp>
      <p:sp>
        <p:nvSpPr>
          <p:cNvPr id="100026" name="AgNum15"/>
          <p:cNvSpPr txBox="1"/>
          <p:nvPr/>
        </p:nvSpPr>
        <p:spPr>
          <a:xfrm xmlns:a="http://schemas.openxmlformats.org/drawingml/2006/main">
            <a:off x="457200" y="5281200"/>
            <a:ext cx="540000" cy="54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2400" b="1">
                <a:solidFill>
                  <a:srgbClr val="FFFFFF"/>
                </a:solidFill>
                <a:latin typeface="Noto Sans JP"/>
                <a:ea typeface="Noto Sans JP"/>
              </a:rPr>
              <a:t>5</a:t>
            </a:r>
          </a:p>
        </p:txBody>
      </p:sp>
      <p:sp>
        <p:nvSpPr>
          <p:cNvPr id="100027" name="AgTitle16"/>
          <p:cNvSpPr txBox="1"/>
          <p:nvPr/>
        </p:nvSpPr>
        <p:spPr>
          <a:xfrm xmlns:a="http://schemas.openxmlformats.org/drawingml/2006/main">
            <a:off x="1177200" y="5263200"/>
            <a:ext cx="4738680" cy="36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200" b="1">
                <a:solidFill>
                  <a:srgbClr val="1B2A41"/>
                </a:solidFill>
                <a:latin typeface="Noto Sans JP"/>
                <a:ea typeface="Noto Sans JP"/>
              </a:rPr>
              <a:t>待ち時間の評価</a:t>
            </a:r>
          </a:p>
        </p:txBody>
      </p:sp>
      <p:sp>
        <p:nvSpPr>
          <p:cNvPr id="100028" name="AgDesc17"/>
          <p:cNvSpPr txBox="1"/>
          <p:nvPr/>
        </p:nvSpPr>
        <p:spPr>
          <a:xfrm xmlns:a="http://schemas.openxmlformats.org/drawingml/2006/main">
            <a:off x="1177200" y="5659200"/>
            <a:ext cx="4738680" cy="70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1800" b="0">
                <a:solidFill>
                  <a:srgbClr val="1F2933"/>
                </a:solidFill>
                <a:latin typeface="Noto Sans JP"/>
                <a:ea typeface="Noto Sans JP"/>
              </a:rPr>
              <a:t>ランク証明書から項の番号の上限を出す</a:t>
            </a:r>
          </a:p>
        </p:txBody>
      </p:sp>
      <p:sp>
        <p:nvSpPr>
          <p:cNvPr id="100029" name="AgNum18"/>
          <p:cNvSpPr txBox="1"/>
          <p:nvPr/>
        </p:nvSpPr>
        <p:spPr>
          <a:xfrm xmlns:a="http://schemas.openxmlformats.org/drawingml/2006/main">
            <a:off x="6275880" y="1134000"/>
            <a:ext cx="540000" cy="54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2400" b="1">
                <a:solidFill>
                  <a:srgbClr val="FFFFFF"/>
                </a:solidFill>
                <a:latin typeface="Noto Sans JP"/>
                <a:ea typeface="Noto Sans JP"/>
              </a:rPr>
              <a:t>6</a:t>
            </a:r>
          </a:p>
        </p:txBody>
      </p:sp>
      <p:sp>
        <p:nvSpPr>
          <p:cNvPr id="100030" name="AgTitle19"/>
          <p:cNvSpPr txBox="1"/>
          <p:nvPr/>
        </p:nvSpPr>
        <p:spPr>
          <a:xfrm xmlns:a="http://schemas.openxmlformats.org/drawingml/2006/main">
            <a:off x="6995880" y="1116000"/>
            <a:ext cx="4738680" cy="36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200" b="1">
                <a:solidFill>
                  <a:srgbClr val="1B2A41"/>
                </a:solidFill>
                <a:latin typeface="Noto Sans JP"/>
                <a:ea typeface="Noto Sans JP"/>
              </a:rPr>
              <a:t>方法の届く範囲と限界</a:t>
            </a:r>
          </a:p>
        </p:txBody>
      </p:sp>
      <p:sp>
        <p:nvSpPr>
          <p:cNvPr id="100031" name="AgDesc20"/>
          <p:cNvSpPr txBox="1"/>
          <p:nvPr/>
        </p:nvSpPr>
        <p:spPr>
          <a:xfrm xmlns:a="http://schemas.openxmlformats.org/drawingml/2006/main">
            <a:off x="6995880" y="1512000"/>
            <a:ext cx="4738680" cy="70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1800" b="0">
                <a:solidFill>
                  <a:srgbClr val="1F2933"/>
                </a:solidFill>
                <a:latin typeface="Noto Sans JP"/>
                <a:ea typeface="Noto Sans JP"/>
              </a:rPr>
              <a:t>正規形定理と、方法が成功しない条件</a:t>
            </a:r>
          </a:p>
        </p:txBody>
      </p:sp>
      <p:sp>
        <p:nvSpPr>
          <p:cNvPr id="100032" name="AgNum21"/>
          <p:cNvSpPr txBox="1"/>
          <p:nvPr/>
        </p:nvSpPr>
        <p:spPr>
          <a:xfrm xmlns:a="http://schemas.openxmlformats.org/drawingml/2006/main">
            <a:off x="6275880" y="2170800"/>
            <a:ext cx="540000" cy="54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2400" b="1">
                <a:solidFill>
                  <a:srgbClr val="FFFFFF"/>
                </a:solidFill>
                <a:latin typeface="Noto Sans JP"/>
                <a:ea typeface="Noto Sans JP"/>
              </a:rPr>
              <a:t>7</a:t>
            </a:r>
          </a:p>
        </p:txBody>
      </p:sp>
      <p:sp>
        <p:nvSpPr>
          <p:cNvPr id="100033" name="AgTitle22"/>
          <p:cNvSpPr txBox="1"/>
          <p:nvPr/>
        </p:nvSpPr>
        <p:spPr>
          <a:xfrm xmlns:a="http://schemas.openxmlformats.org/drawingml/2006/main">
            <a:off x="6995880" y="2152800"/>
            <a:ext cx="4738680" cy="36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200" b="1">
                <a:solidFill>
                  <a:srgbClr val="1B2A41"/>
                </a:solidFill>
                <a:latin typeface="Noto Sans JP"/>
                <a:ea typeface="Noto Sans JP"/>
              </a:rPr>
              <a:t>検証と Lean</a:t>
            </a:r>
          </a:p>
        </p:txBody>
      </p:sp>
      <p:sp>
        <p:nvSpPr>
          <p:cNvPr id="100034" name="AgDesc23"/>
          <p:cNvSpPr txBox="1"/>
          <p:nvPr/>
        </p:nvSpPr>
        <p:spPr>
          <a:xfrm xmlns:a="http://schemas.openxmlformats.org/drawingml/2006/main">
            <a:off x="6995880" y="2548800"/>
            <a:ext cx="4738680" cy="70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1800" b="0">
                <a:solidFill>
                  <a:srgbClr val="1F2933"/>
                </a:solidFill>
                <a:latin typeface="Noto Sans JP"/>
                <a:ea typeface="Noto Sans JP"/>
              </a:rPr>
              <a:t>2つの独立な実装と形式証明</a:t>
            </a:r>
          </a:p>
        </p:txBody>
      </p:sp>
      <p:sp>
        <p:nvSpPr>
          <p:cNvPr id="100035" name="AgNum24"/>
          <p:cNvSpPr txBox="1"/>
          <p:nvPr/>
        </p:nvSpPr>
        <p:spPr>
          <a:xfrm xmlns:a="http://schemas.openxmlformats.org/drawingml/2006/main">
            <a:off x="6275880" y="3207600"/>
            <a:ext cx="540000" cy="54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2400" b="1">
                <a:solidFill>
                  <a:srgbClr val="FFFFFF"/>
                </a:solidFill>
                <a:latin typeface="Noto Sans JP"/>
                <a:ea typeface="Noto Sans JP"/>
              </a:rPr>
              <a:t>8</a:t>
            </a:r>
          </a:p>
        </p:txBody>
      </p:sp>
      <p:sp>
        <p:nvSpPr>
          <p:cNvPr id="100036" name="AgTitle25"/>
          <p:cNvSpPr txBox="1"/>
          <p:nvPr/>
        </p:nvSpPr>
        <p:spPr>
          <a:xfrm xmlns:a="http://schemas.openxmlformats.org/drawingml/2006/main">
            <a:off x="6995880" y="3189600"/>
            <a:ext cx="4738680" cy="36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200" b="1">
                <a:solidFill>
                  <a:srgbClr val="1B2A41"/>
                </a:solidFill>
                <a:latin typeface="Noto Sans JP"/>
                <a:ea typeface="Noto Sans JP"/>
              </a:rPr>
              <a:t>追加の結果と未解決問題</a:t>
            </a:r>
          </a:p>
        </p:txBody>
      </p:sp>
      <p:sp>
        <p:nvSpPr>
          <p:cNvPr id="100037" name="AgDesc26"/>
          <p:cNvSpPr txBox="1"/>
          <p:nvPr/>
        </p:nvSpPr>
        <p:spPr>
          <a:xfrm xmlns:a="http://schemas.openxmlformats.org/drawingml/2006/main">
            <a:off x="6995880" y="3585600"/>
            <a:ext cx="4738680" cy="70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1800" b="0">
                <a:solidFill>
                  <a:srgbClr val="1F2933"/>
                </a:solidFill>
                <a:latin typeface="Noto Sans JP"/>
                <a:ea typeface="Noto Sans JP"/>
              </a:rPr>
              <a:t>付録の結果と今後の問題</a:t>
            </a:r>
          </a:p>
        </p:txBody>
      </p:sp>
      <p:sp>
        <p:nvSpPr>
          <p:cNvPr id="100038" name="AgNum27"/>
          <p:cNvSpPr txBox="1"/>
          <p:nvPr/>
        </p:nvSpPr>
        <p:spPr>
          <a:xfrm xmlns:a="http://schemas.openxmlformats.org/drawingml/2006/main">
            <a:off x="6275880" y="4244400"/>
            <a:ext cx="540000" cy="54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2400" b="1">
                <a:solidFill>
                  <a:srgbClr val="FFFFFF"/>
                </a:solidFill>
                <a:latin typeface="Noto Sans JP"/>
                <a:ea typeface="Noto Sans JP"/>
              </a:rPr>
              <a:t>9</a:t>
            </a:r>
          </a:p>
        </p:txBody>
      </p:sp>
      <p:sp>
        <p:nvSpPr>
          <p:cNvPr id="100039" name="AgTitle28"/>
          <p:cNvSpPr txBox="1"/>
          <p:nvPr/>
        </p:nvSpPr>
        <p:spPr>
          <a:xfrm xmlns:a="http://schemas.openxmlformats.org/drawingml/2006/main">
            <a:off x="6995880" y="4226400"/>
            <a:ext cx="4738680" cy="36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200" b="1">
                <a:solidFill>
                  <a:srgbClr val="1B2A41"/>
                </a:solidFill>
                <a:latin typeface="Noto Sans JP"/>
                <a:ea typeface="Noto Sans JP"/>
              </a:rPr>
              <a:t>まとめ</a:t>
            </a:r>
          </a:p>
        </p:txBody>
      </p:sp>
      <p:sp>
        <p:nvSpPr>
          <p:cNvPr id="100040" name="AgDesc29"/>
          <p:cNvSpPr txBox="1"/>
          <p:nvPr/>
        </p:nvSpPr>
        <p:spPr>
          <a:xfrm xmlns:a="http://schemas.openxmlformats.org/drawingml/2006/main">
            <a:off x="6995880" y="4622400"/>
            <a:ext cx="4738680" cy="70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1800" b="0">
                <a:solidFill>
                  <a:srgbClr val="1F2933"/>
                </a:solidFill>
                <a:latin typeface="Noto Sans JP"/>
                <a:ea typeface="Noto Sans JP"/>
              </a:rPr>
              <a:t>結果と方法、研究の成り立ち、資料</a:t>
            </a:r>
          </a:p>
        </p:txBody>
      </p:sp>
    </p:spTree>
  </p:cSld>
</p:sld>
</file>

<file path=ppt/slides/slide4.xml><?xml version="1.0" encoding="utf-8"?>
<p:sld xmlns:p="http://schemas.openxmlformats.org/presentationml/2006/main">
  <p:cSld>
    <p:bg>
      <p:bgPr>
        <a:solidFill xmlns:a="http://schemas.openxmlformats.org/drawingml/2006/main">
          <a:srgbClr val="1B2A41"/>
        </a:solidFill>
      </p:bgPr>
    </p:bg>
    <p:spTree>
      <p:nvGrpSpPr>
        <p:cNvPr id="1" name=""/>
        <p:cNvGrpSpPr/>
        <p:nvPr/>
      </p:nvGrpSpPr>
      <p:grpSpPr/>
      <p:sp>
        <p:nvSpPr>
          <p:cNvPr id="100041" name="SecNum1"/>
          <p:cNvSpPr txBox="1"/>
          <p:nvPr/>
        </p:nvSpPr>
        <p:spPr>
          <a:xfrm xmlns:a="http://schemas.openxmlformats.org/drawingml/2006/main">
            <a:off x="792000" y="1080000"/>
            <a:ext cx="2160000" cy="1944000"/>
          </a:xfrm>
          <a:prstGeom xmlns:a="http://schemas.openxmlformats.org/drawingml/2006/main" prst="rect">
            <a:avLst/>
          </a:prstGeom>
          <a:noFill xmlns:a="http://schemas.openxmlformats.org/drawingml/2006/main"/>
        </p:spPr>
        <p:txBody>
          <a:bodyPr xmlns:a="http://schemas.openxmlformats.org/drawingml/2006/main" lIns="0" tIns="0" rIns="0" bIns="0" anchor="b">
            <a:noAutofit/>
          </a:bodyPr>
          <a:lstStyle xmlns:a="http://schemas.openxmlformats.org/drawingml/2006/main"/>
          <a:p xmlns:a="http://schemas.openxmlformats.org/drawingml/2006/main">
            <a:pPr algn="l">
              <a:lnSpc>
                <a:spcPct val="112000"/>
              </a:lnSpc>
            </a:pPr>
            <a:r>
              <a:rPr lang="en-US" sz="11000" b="1">
                <a:solidFill>
                  <a:srgbClr val="D97B1F"/>
                </a:solidFill>
                <a:latin typeface="Noto Sans JP"/>
                <a:ea typeface="Noto Sans JP"/>
              </a:rPr>
              <a:t>1</a:t>
            </a:r>
          </a:p>
        </p:txBody>
      </p:sp>
      <p:sp>
        <p:nvSpPr>
          <p:cNvPr id="100042" name="SecTitle2"/>
          <p:cNvSpPr txBox="1"/>
          <p:nvPr/>
        </p:nvSpPr>
        <p:spPr>
          <a:xfrm xmlns:a="http://schemas.openxmlformats.org/drawingml/2006/main">
            <a:off x="792000" y="3096000"/>
            <a:ext cx="10608120" cy="79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4000" b="1">
                <a:solidFill>
                  <a:srgbClr val="FFFFFF"/>
                </a:solidFill>
                <a:latin typeface="Noto Sans JP"/>
                <a:ea typeface="Noto Sans JP"/>
              </a:rPr>
              <a:t>問題と主結果</a:t>
            </a:r>
          </a:p>
        </p:txBody>
      </p:sp>
      <p:sp>
        <p:nvSpPr>
          <p:cNvPr id="100043" name="Text3"/>
          <p:cNvSpPr txBox="1"/>
          <p:nvPr/>
        </p:nvSpPr>
        <p:spPr>
          <a:xfrm xmlns:a="http://schemas.openxmlformats.org/drawingml/2006/main">
            <a:off x="792000" y="3996000"/>
            <a:ext cx="100321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FFFFFF"/>
                </a:solidFill>
                <a:latin typeface="Noto Sans JP"/>
                <a:ea typeface="Noto Sans JP"/>
              </a:rPr>
              <a:t>小数点以下を切り捨てた数列に、小さな素数で割り切れる項は無限にあるか</a:t>
            </a:r>
          </a:p>
        </p:txBody>
      </p:sp>
      <p:sp>
        <p:nvSpPr>
          <p:cNvPr id="100044" name="PageNo4"/>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9FB0C3"/>
                </a:solidFill>
                <a:latin typeface="Noto Sans JP"/>
                <a:ea typeface="Noto Sans JP"/>
              </a:rPr>
              <a:t>4 / 99</a:t>
            </a:r>
          </a:p>
        </p:txBody>
      </p:sp>
    </p:spTree>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45"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1</a:t>
            </a:r>
          </a:p>
        </p:txBody>
      </p:sp>
      <p:sp>
        <p:nvSpPr>
          <p:cNvPr id="100046"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床関数: 小数点以下を切り捨てる</a:t>
            </a:r>
          </a:p>
        </p:txBody>
      </p:sp>
      <p:sp>
        <p:nvSpPr>
          <p:cNvPr id="100047"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5 / 99</a:t>
            </a:r>
          </a:p>
        </p:txBody>
      </p:sp>
      <p:sp>
        <p:nvSpPr>
          <p:cNvPr id="100048"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49"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50"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Math"/>
                <a:ea typeface="Noto Sans Math"/>
              </a:rPr>
              <a:t>⌊</a:t>
            </a:r>
            <a:r>
              <a:rPr lang="en-US" sz="1800" b="0">
                <a:solidFill>
                  <a:srgbClr val="1F2933"/>
                </a:solidFill>
                <a:latin typeface="Noto Sans JP"/>
                <a:ea typeface="Noto Sans JP"/>
              </a:rPr>
              <a:t>x</a:t>
            </a:r>
            <a:r>
              <a:rPr lang="en-US" sz="1800" b="0">
                <a:solidFill>
                  <a:srgbClr val="1F2933"/>
                </a:solidFill>
                <a:latin typeface="Noto Sans Math"/>
                <a:ea typeface="Noto Sans Math"/>
              </a:rPr>
              <a:t>⌋</a:t>
            </a:r>
            <a:r>
              <a:rPr lang="en-US" sz="1800" b="0">
                <a:solidFill>
                  <a:srgbClr val="1F2933"/>
                </a:solidFill>
                <a:latin typeface="Noto Sans JP"/>
                <a:ea typeface="Noto Sans JP"/>
              </a:rPr>
              <a:t xml:space="preserve"> は「x を超えない最大の整数」。正の数なら小数点以下を切り捨てた値です。</a:t>
            </a:r>
          </a:p>
        </p:txBody>
      </p:sp>
      <p:sp>
        <p:nvSpPr>
          <p:cNvPr id="100051" name="Term7"/>
          <p:cNvSpPr txBox="1"/>
          <p:nvPr/>
        </p:nvSpPr>
        <p:spPr>
          <a:xfrm xmlns:a="http://schemas.openxmlformats.org/drawingml/2006/main">
            <a:off x="457200" y="108000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 xml:space="preserve">床関数 </a:t>
            </a:r>
            <a:r>
              <a:rPr lang="en-US" sz="1800" b="1">
                <a:solidFill>
                  <a:srgbClr val="1B2A41"/>
                </a:solidFill>
                <a:latin typeface="Noto Sans Math"/>
                <a:ea typeface="Noto Sans Math"/>
              </a:rPr>
              <a:t>⌊</a:t>
            </a:r>
            <a:r>
              <a:rPr lang="en-US" sz="1800" b="1">
                <a:solidFill>
                  <a:srgbClr val="1B2A41"/>
                </a:solidFill>
                <a:latin typeface="Noto Sans JP"/>
                <a:ea typeface="Noto Sans JP"/>
              </a:rPr>
              <a:t>x</a:t>
            </a:r>
            <a:r>
              <a:rPr lang="en-US" sz="1800" b="1">
                <a:solidFill>
                  <a:srgbClr val="1B2A41"/>
                </a:solidFill>
                <a:latin typeface="Noto Sans Math"/>
                <a:ea typeface="Noto Sans Math"/>
              </a:rPr>
              <a:t>⌋</a:t>
            </a:r>
          </a:p>
          <a:p xmlns:a="http://schemas.openxmlformats.org/drawingml/2006/main">
            <a:pPr algn="l">
              <a:lnSpc>
                <a:spcPct val="112000"/>
              </a:lnSpc>
              <a:spcBef>
                <a:spcPts val="200"/>
              </a:spcBef>
            </a:pPr>
            <a:r>
              <a:rPr lang="en-US" sz="1800" b="0">
                <a:solidFill>
                  <a:srgbClr val="1F2933"/>
                </a:solidFill>
                <a:latin typeface="Noto Sans JP"/>
                <a:ea typeface="Noto Sans JP"/>
              </a:rPr>
              <a:t>実数 x 以下の整数のうち、最大のもの。「x の整数部分」ともいう。</a:t>
            </a:r>
          </a:p>
        </p:txBody>
      </p:sp>
      <p:sp>
        <p:nvSpPr>
          <p:cNvPr id="100052" name="Text8"/>
          <p:cNvSpPr txBox="1"/>
          <p:nvPr/>
        </p:nvSpPr>
        <p:spPr>
          <a:xfrm xmlns:a="http://schemas.openxmlformats.org/drawingml/2006/main">
            <a:off x="457200" y="249264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数直線で x のすぐ左（または x 自身）にある整数が </a:t>
            </a:r>
            <a:r>
              <a:rPr lang="en-US" sz="2000" b="0">
                <a:solidFill>
                  <a:srgbClr val="1F2933"/>
                </a:solidFill>
                <a:latin typeface="Noto Sans Math"/>
                <a:ea typeface="Noto Sans Math"/>
              </a:rPr>
              <a:t>⌊</a:t>
            </a:r>
            <a:r>
              <a:rPr lang="en-US" sz="2000" b="0">
                <a:solidFill>
                  <a:srgbClr val="1F2933"/>
                </a:solidFill>
                <a:latin typeface="Noto Sans JP"/>
                <a:ea typeface="Noto Sans JP"/>
              </a:rPr>
              <a:t>x</a:t>
            </a:r>
            <a:r>
              <a:rPr lang="en-US" sz="2000" b="0">
                <a:solidFill>
                  <a:srgbClr val="1F2933"/>
                </a:solidFill>
                <a:latin typeface="Noto Sans Math"/>
                <a:ea typeface="Noto Sans Math"/>
              </a:rPr>
              <a:t>⌋</a:t>
            </a:r>
            <a:r>
              <a:rPr lang="en-US" sz="2000" b="0">
                <a:solidFill>
                  <a:srgbClr val="1F2933"/>
                </a:solidFill>
                <a:latin typeface="Noto Sans JP"/>
                <a:ea typeface="Noto Sans JP"/>
              </a:rPr>
              <a:t xml:space="preserve"> です。</a:t>
            </a:r>
          </a:p>
        </p:txBody>
      </p:sp>
      <p:pic>
        <p:nvPicPr>
          <p:cNvPr id="100053" name="Pic9" descr="数式: \lfloor 2.744\rfloor=2,\qquad \lfloor 5\rfloor=5,\qquad \lfloor -1.3\rfloor=-2"/>
          <p:cNvPicPr>
            <a:picLocks xmlns:a="http://schemas.openxmlformats.org/drawingml/2006/main" noChangeAspect="1"/>
          </p:cNvPicPr>
          <p:nvPr/>
        </p:nvPicPr>
        <p:blipFill>
          <a:blip xmlns:r="http://schemas.openxmlformats.org/officeDocument/2006/relationships" xmlns:a="http://schemas.openxmlformats.org/drawingml/2006/main" r:embed="R6cffdfca0222492b"/>
          <a:stretch xmlns:a="http://schemas.openxmlformats.org/drawingml/2006/main">
            <a:fillRect/>
          </a:stretch>
        </p:blipFill>
        <p:spPr>
          <a:xfrm xmlns:a="http://schemas.openxmlformats.org/drawingml/2006/main">
            <a:off x="529200" y="3374280"/>
            <a:ext cx="4774320" cy="304560"/>
          </a:xfrm>
          <a:prstGeom xmlns:a="http://schemas.openxmlformats.org/drawingml/2006/main" prst="rect">
            <a:avLst/>
          </a:prstGeom>
        </p:spPr>
      </p:pic>
      <p:sp>
        <p:nvSpPr>
          <p:cNvPr id="100054" name="Text10"/>
          <p:cNvSpPr txBox="1"/>
          <p:nvPr/>
        </p:nvSpPr>
        <p:spPr>
          <a:xfrm xmlns:a="http://schemas.openxmlformats.org/drawingml/2006/main">
            <a:off x="457200" y="381204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負の数では、0 に近い方ではなく小さい方の整数になります。</a:t>
            </a:r>
          </a:p>
        </p:txBody>
      </p:sp>
      <p:pic>
        <p:nvPicPr>
          <p:cNvPr id="100055" name="Pic11" descr="図: 3本の数直線で床関数の例を示す図。2.744 は 2 に、5 は 5 に、−1.3 は −2 に切り捨てられる。"/>
          <p:cNvPicPr>
            <a:picLocks xmlns:a="http://schemas.openxmlformats.org/drawingml/2006/main" noChangeAspect="1"/>
          </p:cNvPicPr>
          <p:nvPr/>
        </p:nvPicPr>
        <p:blipFill>
          <a:blip xmlns:r="http://schemas.openxmlformats.org/officeDocument/2006/relationships" xmlns:a="http://schemas.openxmlformats.org/drawingml/2006/main" r:embed="R1e72ccf80fd24e9b"/>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56"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1</a:t>
            </a:r>
          </a:p>
        </p:txBody>
      </p:sp>
      <p:sp>
        <p:nvSpPr>
          <p:cNvPr id="100057"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数列 </a:t>
            </a:r>
            <a:r>
              <a:rPr lang="en-US" sz="3200" b="1">
                <a:solidFill>
                  <a:srgbClr val="1B2A41"/>
                </a:solidFill>
                <a:latin typeface="Noto Sans Math"/>
                <a:ea typeface="Noto Sans Math"/>
              </a:rPr>
              <a:t>⌊</a:t>
            </a:r>
            <a:r>
              <a:rPr lang="en-US" sz="3200" b="1">
                <a:solidFill>
                  <a:srgbClr val="1B2A41"/>
                </a:solidFill>
                <a:latin typeface="Noto Sans JP"/>
                <a:ea typeface="Noto Sans JP"/>
              </a:rPr>
              <a:t>ξ(7/5)</a:t>
            </a:r>
            <a:r>
              <a:rPr lang="en-US" sz="3200" b="1" baseline="30000">
                <a:solidFill>
                  <a:srgbClr val="1B2A41"/>
                </a:solidFill>
                <a:latin typeface="Noto Sans JP"/>
                <a:ea typeface="Noto Sans JP"/>
              </a:rPr>
              <a:t>n</a:t>
            </a:r>
            <a:r>
              <a:rPr lang="en-US" sz="3200" b="1">
                <a:solidFill>
                  <a:srgbClr val="1B2A41"/>
                </a:solidFill>
                <a:latin typeface="Noto Sans Math"/>
                <a:ea typeface="Noto Sans Math"/>
              </a:rPr>
              <a:t>⌋</a:t>
            </a:r>
            <a:r>
              <a:rPr lang="en-US" sz="3200" b="1">
                <a:solidFill>
                  <a:srgbClr val="1B2A41"/>
                </a:solidFill>
                <a:latin typeface="Noto Sans JP"/>
                <a:ea typeface="Noto Sans JP"/>
              </a:rPr>
              <a:t xml:space="preserve"> の作り方</a:t>
            </a:r>
          </a:p>
        </p:txBody>
      </p:sp>
      <p:sp>
        <p:nvSpPr>
          <p:cNvPr id="100058"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6 / 99</a:t>
            </a:r>
          </a:p>
        </p:txBody>
      </p:sp>
      <p:sp>
        <p:nvSpPr>
          <p:cNvPr id="100059"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60"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61"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この論文の主な対象は、ξ に 7/5（または 5/2）を掛け続けて切り捨てた整数の列です。</a:t>
            </a:r>
          </a:p>
        </p:txBody>
      </p:sp>
      <p:sp>
        <p:nvSpPr>
          <p:cNvPr id="100062" name="Text7"/>
          <p:cNvSpPr txBox="1"/>
          <p:nvPr/>
        </p:nvSpPr>
        <p:spPr>
          <a:xfrm xmlns:a="http://schemas.openxmlformats.org/drawingml/2006/main">
            <a:off x="457200" y="1080000"/>
            <a:ext cx="5247720" cy="14428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正の実数 ξ（グザイ）を1つ決めます。</a:t>
            </a:r>
          </a:p>
          <a:p xmlns:a="http://schemas.openxmlformats.org/drawingml/2006/main">
            <a:pPr algn="l">
              <a:lnSpc>
                <a:spcPct val="112000"/>
              </a:lnSpc>
              <a:spcBef>
                <a:spcPts val="400"/>
              </a:spcBef>
            </a:pPr>
            <a:r>
              <a:rPr lang="en-US" sz="2000" b="0">
                <a:solidFill>
                  <a:srgbClr val="1F2933"/>
                </a:solidFill>
                <a:latin typeface="Noto Sans JP"/>
                <a:ea typeface="Noto Sans JP"/>
              </a:rPr>
              <a:t>ξ に 7/5 = 1.4 を n 回掛けてから、床関数で整数にします。</a:t>
            </a:r>
          </a:p>
        </p:txBody>
      </p:sp>
      <p:pic>
        <p:nvPicPr>
          <p:cNvPr id="100063" name="Pic8" descr="数式: Q_n=\bigl\lfloor \xi\,(7/5)^n\bigr\rfloor\qquad(n=0,1,2,\ldots)"/>
          <p:cNvPicPr>
            <a:picLocks xmlns:a="http://schemas.openxmlformats.org/drawingml/2006/main" noChangeAspect="1"/>
          </p:cNvPicPr>
          <p:nvPr/>
        </p:nvPicPr>
        <p:blipFill>
          <a:blip xmlns:r="http://schemas.openxmlformats.org/officeDocument/2006/relationships" xmlns:a="http://schemas.openxmlformats.org/drawingml/2006/main" r:embed="R7dd8e218bc5c4791"/>
          <a:stretch xmlns:a="http://schemas.openxmlformats.org/drawingml/2006/main">
            <a:fillRect/>
          </a:stretch>
        </p:blipFill>
        <p:spPr>
          <a:xfrm xmlns:a="http://schemas.openxmlformats.org/drawingml/2006/main">
            <a:off x="529200" y="2359440"/>
            <a:ext cx="4047840" cy="355320"/>
          </a:xfrm>
          <a:prstGeom xmlns:a="http://schemas.openxmlformats.org/drawingml/2006/main" prst="rect">
            <a:avLst/>
          </a:prstGeom>
        </p:spPr>
      </p:pic>
      <p:sp>
        <p:nvSpPr>
          <p:cNvPr id="100064" name="Text9"/>
          <p:cNvSpPr txBox="1"/>
          <p:nvPr/>
        </p:nvSpPr>
        <p:spPr>
          <a:xfrm xmlns:a="http://schemas.openxmlformats.org/drawingml/2006/main">
            <a:off x="457200" y="2848320"/>
            <a:ext cx="52477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ξ = 1 のとき</a:t>
            </a:r>
          </a:p>
        </p:txBody>
      </p:sp>
      <p:pic>
        <p:nvPicPr>
          <p:cNvPr id="100065" name="Pic10" descr="数式: 1,\,1,\,1,\,2,\,3,\,5,\,7,\,10,\,14,\,20,\,28,\,40,\,56,\,79,\ldots"/>
          <p:cNvPicPr>
            <a:picLocks xmlns:a="http://schemas.openxmlformats.org/drawingml/2006/main" noChangeAspect="1"/>
          </p:cNvPicPr>
          <p:nvPr/>
        </p:nvPicPr>
        <p:blipFill>
          <a:blip xmlns:r="http://schemas.openxmlformats.org/officeDocument/2006/relationships" xmlns:a="http://schemas.openxmlformats.org/drawingml/2006/main" r:embed="R7729aa194e03408c"/>
          <a:stretch xmlns:a="http://schemas.openxmlformats.org/drawingml/2006/main">
            <a:fillRect/>
          </a:stretch>
        </p:blipFill>
        <p:spPr>
          <a:xfrm xmlns:a="http://schemas.openxmlformats.org/drawingml/2006/main">
            <a:off x="529200" y="3382560"/>
            <a:ext cx="5125680" cy="259920"/>
          </a:xfrm>
          <a:prstGeom xmlns:a="http://schemas.openxmlformats.org/drawingml/2006/main" prst="rect">
            <a:avLst/>
          </a:prstGeom>
        </p:spPr>
      </p:pic>
      <p:sp>
        <p:nvSpPr>
          <p:cNvPr id="100066" name="Text11"/>
          <p:cNvSpPr txBox="1"/>
          <p:nvPr/>
        </p:nvSpPr>
        <p:spPr>
          <a:xfrm xmlns:a="http://schemas.openxmlformats.org/drawingml/2006/main">
            <a:off x="457200" y="3775680"/>
            <a:ext cx="52477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各項はおよそ 1.4 倍ずつ大きくなります。</a:t>
            </a:r>
          </a:p>
        </p:txBody>
      </p:sp>
      <p:pic>
        <p:nvPicPr>
          <p:cNvPr id="100067" name="Pic12" descr="図: ξ=1 の場合の棒グラフ。n=0〜13 の実数 (7/5)^n と、その整数部分 Q_n（1, 1, 1, 2, 3, 5, 7, 10, 14, 20, 28, 40, 56, 79）を並べる。"/>
          <p:cNvPicPr>
            <a:picLocks xmlns:a="http://schemas.openxmlformats.org/drawingml/2006/main" noChangeAspect="1"/>
          </p:cNvPicPr>
          <p:nvPr/>
        </p:nvPicPr>
        <p:blipFill>
          <a:blip xmlns:r="http://schemas.openxmlformats.org/officeDocument/2006/relationships" xmlns:a="http://schemas.openxmlformats.org/drawingml/2006/main" r:embed="R7b0bfec77d504540"/>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6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1</a:t>
            </a:r>
          </a:p>
        </p:txBody>
      </p:sp>
      <p:sp>
        <p:nvSpPr>
          <p:cNvPr id="10006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ξ を変えると別の数列になる</a:t>
            </a:r>
          </a:p>
        </p:txBody>
      </p:sp>
      <p:sp>
        <p:nvSpPr>
          <p:cNvPr id="10007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7 / 99</a:t>
            </a:r>
          </a:p>
        </p:txBody>
      </p:sp>
      <p:sp>
        <p:nvSpPr>
          <p:cNvPr id="10007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7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7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ξ の選び方は無限にあります。だから「全部計算して確かめる」方法は使えません。</a:t>
            </a:r>
          </a:p>
        </p:txBody>
      </p:sp>
      <p:sp>
        <p:nvSpPr>
          <p:cNvPr id="100074" name="Text7"/>
          <p:cNvSpPr txBox="1"/>
          <p:nvPr/>
        </p:nvSpPr>
        <p:spPr>
          <a:xfrm xmlns:a="http://schemas.openxmlformats.org/drawingml/2006/main">
            <a:off x="457200" y="1080000"/>
            <a:ext cx="5247720" cy="31413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ξ は正の実数なら何でもかまいません。ξ を変えると数列も変わります。</a:t>
            </a:r>
          </a:p>
          <a:p xmlns:a="http://schemas.openxmlformats.org/drawingml/2006/main">
            <a:pPr algn="l">
              <a:lnSpc>
                <a:spcPct val="112000"/>
              </a:lnSpc>
              <a:spcBef>
                <a:spcPts val="400"/>
              </a:spcBef>
            </a:pPr>
            <a:r>
              <a:rPr lang="en-US" sz="2000" b="0">
                <a:solidFill>
                  <a:srgbClr val="1F2933"/>
                </a:solidFill>
                <a:latin typeface="Noto Sans JP"/>
                <a:ea typeface="Noto Sans JP"/>
              </a:rPr>
              <a:t>定理は、すべての ξ &gt; 0 について同時に成り立つことを主張します。</a:t>
            </a:r>
          </a:p>
          <a:p xmlns:a="http://schemas.openxmlformats.org/drawingml/2006/main">
            <a:pPr algn="l">
              <a:lnSpc>
                <a:spcPct val="112000"/>
              </a:lnSpc>
              <a:spcBef>
                <a:spcPts val="400"/>
              </a:spcBef>
            </a:pPr>
            <a:r>
              <a:rPr lang="en-US" sz="2000" b="0">
                <a:solidFill>
                  <a:srgbClr val="1F2933"/>
                </a:solidFill>
                <a:latin typeface="Noto Sans JP"/>
                <a:ea typeface="Noto Sans JP"/>
              </a:rPr>
              <a:t>正の実数は無限にある（しかも数えきれないほど多い）ので、1つずつ計算して確かめることはできません。</a:t>
            </a:r>
          </a:p>
        </p:txBody>
      </p:sp>
      <p:sp>
        <p:nvSpPr>
          <p:cNvPr id="100075" name="Term8"/>
          <p:cNvSpPr txBox="1"/>
          <p:nvPr/>
        </p:nvSpPr>
        <p:spPr>
          <a:xfrm xmlns:a="http://schemas.openxmlformats.org/drawingml/2006/main">
            <a:off x="457200" y="378108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任意の ξ &gt; 0</a:t>
            </a:r>
          </a:p>
          <a:p xmlns:a="http://schemas.openxmlformats.org/drawingml/2006/main">
            <a:pPr algn="l">
              <a:lnSpc>
                <a:spcPct val="112000"/>
              </a:lnSpc>
              <a:spcBef>
                <a:spcPts val="200"/>
              </a:spcBef>
            </a:pPr>
            <a:r>
              <a:rPr lang="en-US" sz="1800" b="0">
                <a:solidFill>
                  <a:srgbClr val="1F2933"/>
                </a:solidFill>
                <a:latin typeface="Noto Sans JP"/>
                <a:ea typeface="Noto Sans JP"/>
              </a:rPr>
              <a:t>「どんな正の実数 ξ を選んでも」という意味。</a:t>
            </a:r>
          </a:p>
        </p:txBody>
      </p:sp>
      <p:pic>
        <p:nvPicPr>
          <p:cNvPr id="100076" name="Pic9" descr="図: ξ=1/2, 1, 2, 3, π の5行について、n=0〜10 の ⌊ξ(7/5)^n⌋ を並べた表。偶数の項に色を付けている。"/>
          <p:cNvPicPr>
            <a:picLocks xmlns:a="http://schemas.openxmlformats.org/drawingml/2006/main" noChangeAspect="1"/>
          </p:cNvPicPr>
          <p:nvPr/>
        </p:nvPicPr>
        <p:blipFill>
          <a:blip xmlns:r="http://schemas.openxmlformats.org/officeDocument/2006/relationships" xmlns:a="http://schemas.openxmlformats.org/drawingml/2006/main" r:embed="R8a1516d83af64282"/>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77"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1</a:t>
            </a:r>
          </a:p>
        </p:txBody>
      </p:sp>
      <p:sp>
        <p:nvSpPr>
          <p:cNvPr id="100078"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素数・合成数と小さな素数での割り算</a:t>
            </a:r>
          </a:p>
        </p:txBody>
      </p:sp>
      <p:sp>
        <p:nvSpPr>
          <p:cNvPr id="100079"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8 / 99</a:t>
            </a:r>
          </a:p>
        </p:txBody>
      </p:sp>
      <p:sp>
        <p:nvSpPr>
          <p:cNvPr id="100080"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81"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82"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割る素数より大きな項が小さな素数で割り切れれば、その項は合成数です。</a:t>
            </a:r>
          </a:p>
        </p:txBody>
      </p:sp>
      <p:sp>
        <p:nvSpPr>
          <p:cNvPr id="100083" name="Term7"/>
          <p:cNvSpPr txBox="1"/>
          <p:nvPr/>
        </p:nvSpPr>
        <p:spPr>
          <a:xfrm xmlns:a="http://schemas.openxmlformats.org/drawingml/2006/main">
            <a:off x="457200" y="108000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素数</a:t>
            </a:r>
          </a:p>
          <a:p xmlns:a="http://schemas.openxmlformats.org/drawingml/2006/main">
            <a:pPr algn="l">
              <a:lnSpc>
                <a:spcPct val="112000"/>
              </a:lnSpc>
              <a:spcBef>
                <a:spcPts val="200"/>
              </a:spcBef>
            </a:pPr>
            <a:r>
              <a:rPr lang="en-US" sz="1800" b="0">
                <a:solidFill>
                  <a:srgbClr val="1F2933"/>
                </a:solidFill>
                <a:latin typeface="Noto Sans JP"/>
                <a:ea typeface="Noto Sans JP"/>
              </a:rPr>
              <a:t>1 より大きく、1 と自分自身以外に約数をもたない整数。2, 3, 5, 7, 11, 13, …</a:t>
            </a:r>
          </a:p>
        </p:txBody>
      </p:sp>
      <p:sp>
        <p:nvSpPr>
          <p:cNvPr id="100084" name="Term8"/>
          <p:cNvSpPr txBox="1"/>
          <p:nvPr/>
        </p:nvSpPr>
        <p:spPr>
          <a:xfrm xmlns:a="http://schemas.openxmlformats.org/drawingml/2006/main">
            <a:off x="457200" y="249264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合成数</a:t>
            </a:r>
          </a:p>
          <a:p xmlns:a="http://schemas.openxmlformats.org/drawingml/2006/main">
            <a:pPr algn="l">
              <a:lnSpc>
                <a:spcPct val="112000"/>
              </a:lnSpc>
              <a:spcBef>
                <a:spcPts val="200"/>
              </a:spcBef>
            </a:pPr>
            <a:r>
              <a:rPr lang="en-US" sz="1800" b="0">
                <a:solidFill>
                  <a:srgbClr val="1F2933"/>
                </a:solidFill>
                <a:latin typeface="Noto Sans JP"/>
                <a:ea typeface="Noto Sans JP"/>
              </a:rPr>
              <a:t>2 つの 1 より大きい整数の積 u·v で書ける正の整数。4, 6, 8, 9, 10, …</a:t>
            </a:r>
          </a:p>
        </p:txBody>
      </p:sp>
      <p:sp>
        <p:nvSpPr>
          <p:cNvPr id="100085" name="Text9"/>
          <p:cNvSpPr txBox="1"/>
          <p:nvPr/>
        </p:nvSpPr>
        <p:spPr>
          <a:xfrm xmlns:a="http://schemas.openxmlformats.org/drawingml/2006/main">
            <a:off x="457200" y="3905280"/>
            <a:ext cx="5247720" cy="1796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項 Q が 13 より大きく、2, 3, 5, 11, 13 のどれかで割り切れれば、Q は合成数です。</a:t>
            </a:r>
          </a:p>
          <a:p xmlns:a="http://schemas.openxmlformats.org/drawingml/2006/main">
            <a:pPr algn="l">
              <a:lnSpc>
                <a:spcPct val="112000"/>
              </a:lnSpc>
              <a:spcBef>
                <a:spcPts val="600"/>
              </a:spcBef>
            </a:pPr>
            <a:r>
              <a:rPr lang="en-US" sz="1800" b="0">
                <a:solidFill>
                  <a:srgbClr val="4F5D6E"/>
                </a:solidFill>
                <a:latin typeface="Noto Sans JP"/>
                <a:ea typeface="Noto Sans JP"/>
              </a:rPr>
              <a:t>例: 111 = 3 × 37（3 で割り切れて 111 &gt; 3 なので合成数）</a:t>
            </a:r>
          </a:p>
        </p:txBody>
      </p:sp>
      <p:pic>
        <p:nvPicPr>
          <p:cNvPr id="100086" name="Pic10" descr="図: 111 は 3 で割り切れて 111 = 3 × 37 なので合成数、13 は 13 で割り切れても 13 = 13 × 1 なので合成数ではない、という比較の流れ図。"/>
          <p:cNvPicPr>
            <a:picLocks xmlns:a="http://schemas.openxmlformats.org/drawingml/2006/main" noChangeAspect="1"/>
          </p:cNvPicPr>
          <p:nvPr/>
        </p:nvPicPr>
        <p:blipFill>
          <a:blip xmlns:r="http://schemas.openxmlformats.org/officeDocument/2006/relationships" xmlns:a="http://schemas.openxmlformats.org/drawingml/2006/main" r:embed="R1135bda1b0584c70"/>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87"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1</a:t>
            </a:r>
          </a:p>
        </p:txBody>
      </p:sp>
      <p:sp>
        <p:nvSpPr>
          <p:cNvPr id="100088"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最大公約数 gcd と 4290</a:t>
            </a:r>
          </a:p>
        </p:txBody>
      </p:sp>
      <p:sp>
        <p:nvSpPr>
          <p:cNvPr id="100089"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9 / 99</a:t>
            </a:r>
          </a:p>
        </p:txBody>
      </p:sp>
      <p:sp>
        <p:nvSpPr>
          <p:cNvPr id="100090"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91"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092"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「5 つの素数のどれかで割り切れる」を、gcd(Q, 4290) &gt; 1 と 1 つの式で書きます。</a:t>
            </a:r>
          </a:p>
        </p:txBody>
      </p:sp>
      <p:sp>
        <p:nvSpPr>
          <p:cNvPr id="100093" name="Term7"/>
          <p:cNvSpPr txBox="1"/>
          <p:nvPr/>
        </p:nvSpPr>
        <p:spPr>
          <a:xfrm xmlns:a="http://schemas.openxmlformats.org/drawingml/2006/main">
            <a:off x="457200" y="108000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最大公約数 gcd(m, n)</a:t>
            </a:r>
          </a:p>
          <a:p xmlns:a="http://schemas.openxmlformats.org/drawingml/2006/main">
            <a:pPr algn="l">
              <a:lnSpc>
                <a:spcPct val="112000"/>
              </a:lnSpc>
              <a:spcBef>
                <a:spcPts val="200"/>
              </a:spcBef>
            </a:pPr>
            <a:r>
              <a:rPr lang="en-US" sz="1800" b="0">
                <a:solidFill>
                  <a:srgbClr val="1F2933"/>
                </a:solidFill>
                <a:latin typeface="Noto Sans JP"/>
                <a:ea typeface="Noto Sans JP"/>
              </a:rPr>
              <a:t>m と n の両方を割り切る正の整数のうち最大のもの。</a:t>
            </a:r>
          </a:p>
        </p:txBody>
      </p:sp>
      <p:pic>
        <p:nvPicPr>
          <p:cNvPr id="100094" name="Pic8" descr="数式: \gcd(12,18)=6,\qquad \gcd(10,4290)=10"/>
          <p:cNvPicPr>
            <a:picLocks xmlns:a="http://schemas.openxmlformats.org/drawingml/2006/main" noChangeAspect="1"/>
          </p:cNvPicPr>
          <p:nvPr/>
        </p:nvPicPr>
        <p:blipFill>
          <a:blip xmlns:r="http://schemas.openxmlformats.org/officeDocument/2006/relationships" xmlns:a="http://schemas.openxmlformats.org/drawingml/2006/main" r:embed="R2e090394fb6d473f"/>
          <a:stretch xmlns:a="http://schemas.openxmlformats.org/drawingml/2006/main">
            <a:fillRect/>
          </a:stretch>
        </p:blipFill>
        <p:spPr>
          <a:xfrm xmlns:a="http://schemas.openxmlformats.org/drawingml/2006/main">
            <a:off x="529200" y="2510640"/>
            <a:ext cx="4366440" cy="304920"/>
          </a:xfrm>
          <a:prstGeom xmlns:a="http://schemas.openxmlformats.org/drawingml/2006/main" prst="rect">
            <a:avLst/>
          </a:prstGeom>
        </p:spPr>
      </p:pic>
      <p:sp>
        <p:nvSpPr>
          <p:cNvPr id="100095" name="Text9"/>
          <p:cNvSpPr txBox="1"/>
          <p:nvPr/>
        </p:nvSpPr>
        <p:spPr>
          <a:xfrm xmlns:a="http://schemas.openxmlformats.org/drawingml/2006/main">
            <a:off x="457200" y="2948760"/>
            <a:ext cx="5247720" cy="22622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gcd(Q, 4290) &gt; 1 は「Q が 2, 3, 5, 11, 13 のどれかで割り切れる」と同じ意味です。</a:t>
            </a:r>
          </a:p>
          <a:p xmlns:a="http://schemas.openxmlformats.org/drawingml/2006/main">
            <a:pPr algn="l">
              <a:lnSpc>
                <a:spcPct val="112000"/>
              </a:lnSpc>
              <a:spcBef>
                <a:spcPts val="400"/>
              </a:spcBef>
            </a:pPr>
            <a:r>
              <a:rPr lang="en-US" sz="2000" b="0">
                <a:solidFill>
                  <a:srgbClr val="1F2933"/>
                </a:solidFill>
                <a:latin typeface="Noto Sans JP"/>
                <a:ea typeface="Noto Sans JP"/>
              </a:rPr>
              <a:t>gcd(Q, 4290) = 1 のとき、Q と 4290 は「互いに素」といいます。</a:t>
            </a:r>
          </a:p>
        </p:txBody>
      </p:sp>
      <p:pic>
        <p:nvPicPr>
          <p:cNvPr id="100096" name="Pic10" descr="図: 4290 を素数 2, 3, 5, 11, 13 の積に分解し、Q=10, 111, 79 のそれぞれでどの素数が割り切るかと gcd の値を示す図。"/>
          <p:cNvPicPr>
            <a:picLocks xmlns:a="http://schemas.openxmlformats.org/drawingml/2006/main" noChangeAspect="1"/>
          </p:cNvPicPr>
          <p:nvPr/>
        </p:nvPicPr>
        <p:blipFill>
          <a:blip xmlns:r="http://schemas.openxmlformats.org/officeDocument/2006/relationships" xmlns:a="http://schemas.openxmlformats.org/drawingml/2006/main" r:embed="Rd9d28234b0654aef"/>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97"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1</a:t>
            </a:r>
          </a:p>
        </p:txBody>
      </p:sp>
      <p:sp>
        <p:nvSpPr>
          <p:cNvPr id="100098"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「無限に多く」の正確な意味</a:t>
            </a:r>
          </a:p>
        </p:txBody>
      </p:sp>
      <p:sp>
        <p:nvSpPr>
          <p:cNvPr id="100099"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10 / 99</a:t>
            </a:r>
          </a:p>
        </p:txBody>
      </p:sp>
      <p:sp>
        <p:nvSpPr>
          <p:cNvPr id="100100"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01"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02"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どんな N を決めても、その先に条件を満たす項が必ずある。これが「無限に多い」です。</a:t>
            </a:r>
          </a:p>
        </p:txBody>
      </p:sp>
      <p:sp>
        <p:nvSpPr>
          <p:cNvPr id="100103" name="Text7"/>
          <p:cNvSpPr txBox="1"/>
          <p:nvPr/>
        </p:nvSpPr>
        <p:spPr>
          <a:xfrm xmlns:a="http://schemas.openxmlformats.org/drawingml/2006/main">
            <a:off x="457200" y="1080000"/>
            <a:ext cx="524772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「条件を満たす n が無限に多い」とは、どんなに大きな番号 N を選んでも、N 以上に条件を満たす n がある、ということです。</a:t>
            </a:r>
          </a:p>
        </p:txBody>
      </p:sp>
      <p:sp>
        <p:nvSpPr>
          <p:cNvPr id="100104" name="Term8"/>
          <p:cNvSpPr txBox="1"/>
          <p:nvPr/>
        </p:nvSpPr>
        <p:spPr>
          <a:xfrm xmlns:a="http://schemas.openxmlformats.org/drawingml/2006/main">
            <a:off x="457200" y="229068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 と ∃</a:t>
            </a:r>
          </a:p>
          <a:p xmlns:a="http://schemas.openxmlformats.org/drawingml/2006/main">
            <a:pPr algn="l">
              <a:lnSpc>
                <a:spcPct val="112000"/>
              </a:lnSpc>
              <a:spcBef>
                <a:spcPts val="200"/>
              </a:spcBef>
            </a:pPr>
            <a:r>
              <a:rPr lang="en-US" sz="1800" b="0">
                <a:solidFill>
                  <a:srgbClr val="1F2933"/>
                </a:solidFill>
                <a:latin typeface="Noto Sans JP"/>
                <a:ea typeface="Noto Sans JP"/>
              </a:rPr>
              <a:t>∀ は「すべての」、∃ は「ある（存在する）」と読む記号。</a:t>
            </a:r>
          </a:p>
        </p:txBody>
      </p:sp>
      <p:pic>
        <p:nvPicPr>
          <p:cNvPr id="100105" name="Pic9" descr="数式: \forall N\ \ \exists\, n\ge \max(N,1):\ \ P(n)"/>
          <p:cNvPicPr>
            <a:picLocks xmlns:a="http://schemas.openxmlformats.org/drawingml/2006/main" noChangeAspect="1"/>
          </p:cNvPicPr>
          <p:nvPr/>
        </p:nvPicPr>
        <p:blipFill>
          <a:blip xmlns:r="http://schemas.openxmlformats.org/officeDocument/2006/relationships" xmlns:a="http://schemas.openxmlformats.org/drawingml/2006/main" r:embed="R552bd2c86e044a4f"/>
          <a:stretch xmlns:a="http://schemas.openxmlformats.org/drawingml/2006/main">
            <a:fillRect/>
          </a:stretch>
        </p:blipFill>
        <p:spPr>
          <a:xfrm xmlns:a="http://schemas.openxmlformats.org/drawingml/2006/main">
            <a:off x="529200" y="3721320"/>
            <a:ext cx="3316320" cy="304560"/>
          </a:xfrm>
          <a:prstGeom xmlns:a="http://schemas.openxmlformats.org/drawingml/2006/main" prst="rect">
            <a:avLst/>
          </a:prstGeom>
        </p:spPr>
      </p:pic>
      <p:sp>
        <p:nvSpPr>
          <p:cNvPr id="100106" name="Text10"/>
          <p:cNvSpPr txBox="1"/>
          <p:nvPr/>
        </p:nvSpPr>
        <p:spPr>
          <a:xfrm xmlns:a="http://schemas.openxmlformats.org/drawingml/2006/main">
            <a:off x="457200" y="4159080"/>
            <a:ext cx="5247720" cy="151092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spcBef>
                <a:spcPts val="600"/>
              </a:spcBef>
            </a:pPr>
            <a:r>
              <a:rPr lang="en-US" sz="1800" b="0">
                <a:solidFill>
                  <a:srgbClr val="4F5D6E"/>
                </a:solidFill>
                <a:latin typeface="Noto Sans JP"/>
                <a:ea typeface="Noto Sans JP"/>
              </a:rPr>
              <a:t>P(n) は n についての条件（例: gcd(Q</a:t>
            </a:r>
            <a:r>
              <a:rPr lang="en-US" sz="1800" b="0" baseline="-25000">
                <a:solidFill>
                  <a:srgbClr val="4F5D6E"/>
                </a:solidFill>
                <a:latin typeface="Noto Sans JP"/>
                <a:ea typeface="Noto Sans JP"/>
              </a:rPr>
              <a:t>n</a:t>
            </a:r>
            <a:r>
              <a:rPr lang="en-US" sz="1800" b="0">
                <a:solidFill>
                  <a:srgbClr val="4F5D6E"/>
                </a:solidFill>
                <a:latin typeface="Noto Sans JP"/>
                <a:ea typeface="Noto Sans JP"/>
              </a:rPr>
              <a:t>, 4290) &gt; 1）。</a:t>
            </a:r>
          </a:p>
          <a:p xmlns:a="http://schemas.openxmlformats.org/drawingml/2006/main">
            <a:pPr algn="l">
              <a:lnSpc>
                <a:spcPct val="112000"/>
              </a:lnSpc>
              <a:spcBef>
                <a:spcPts val="600"/>
              </a:spcBef>
            </a:pPr>
            <a:r>
              <a:rPr lang="en-US" sz="1800" b="0">
                <a:solidFill>
                  <a:srgbClr val="4F5D6E"/>
                </a:solidFill>
                <a:latin typeface="Noto Sans JP"/>
                <a:ea typeface="Noto Sans JP"/>
              </a:rPr>
              <a:t>max(N,1) は N と 1 の大きい方（n ≥ 1 にするため）。</a:t>
            </a:r>
          </a:p>
        </p:txBody>
      </p:sp>
      <p:pic>
        <p:nvPicPr>
          <p:cNvPr id="100107" name="Pic11" descr="図: 番号の数直線3本。gcd(Q_n,4290)&gt;1 となる n に印を付け、N=13, 21, 26 の縦線より右にも必ず印があることを示す。"/>
          <p:cNvPicPr>
            <a:picLocks xmlns:a="http://schemas.openxmlformats.org/drawingml/2006/main" noChangeAspect="1"/>
          </p:cNvPicPr>
          <p:nvPr/>
        </p:nvPicPr>
        <p:blipFill>
          <a:blip xmlns:r="http://schemas.openxmlformats.org/officeDocument/2006/relationships" xmlns:a="http://schemas.openxmlformats.org/drawingml/2006/main" r:embed="Ra50bf53632494982"/>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0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1</a:t>
            </a:r>
          </a:p>
        </p:txBody>
      </p:sp>
      <p:sp>
        <p:nvSpPr>
          <p:cNvPr id="10010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主定理 (i): 比 7/5</a:t>
            </a:r>
          </a:p>
        </p:txBody>
      </p:sp>
      <p:sp>
        <p:nvSpPr>
          <p:cNvPr id="10011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11 / 99</a:t>
            </a:r>
          </a:p>
        </p:txBody>
      </p:sp>
      <p:sp>
        <p:nvSpPr>
          <p:cNvPr id="10011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1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1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比 7/5 では、どの ξ でも 5 つの素数のどれかで割り切れる項が無限に現れます。</a:t>
            </a:r>
          </a:p>
        </p:txBody>
      </p:sp>
      <p:sp>
        <p:nvSpPr>
          <p:cNvPr id="100114" name="Text7"/>
          <p:cNvSpPr txBox="1"/>
          <p:nvPr/>
        </p:nvSpPr>
        <p:spPr>
          <a:xfrm xmlns:a="http://schemas.openxmlformats.org/drawingml/2006/main">
            <a:off x="457200" y="1080000"/>
            <a:ext cx="5247720" cy="14428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定理1 (i)</a:t>
            </a:r>
          </a:p>
          <a:p xmlns:a="http://schemas.openxmlformats.org/drawingml/2006/main">
            <a:pPr algn="l">
              <a:lnSpc>
                <a:spcPct val="112000"/>
              </a:lnSpc>
              <a:spcBef>
                <a:spcPts val="400"/>
              </a:spcBef>
            </a:pPr>
            <a:r>
              <a:rPr lang="en-US" sz="2000" b="0">
                <a:solidFill>
                  <a:srgbClr val="1F2933"/>
                </a:solidFill>
                <a:latin typeface="Noto Sans JP"/>
                <a:ea typeface="Noto Sans JP"/>
              </a:rPr>
              <a:t>どんな正の実数 ξ と、どんな番号 N に対しても、n ≥ max(N,1) で</a:t>
            </a:r>
          </a:p>
        </p:txBody>
      </p:sp>
      <p:pic>
        <p:nvPicPr>
          <p:cNvPr id="100115" name="Pic8" descr="数式: \gcd\!\left(\bigl\lfloor\xi(7/5)^n\bigr\rfloor,\ 4290\right)&gt;1"/>
          <p:cNvPicPr>
            <a:picLocks xmlns:a="http://schemas.openxmlformats.org/drawingml/2006/main" noChangeAspect="1"/>
          </p:cNvPicPr>
          <p:nvPr/>
        </p:nvPicPr>
        <p:blipFill>
          <a:blip xmlns:r="http://schemas.openxmlformats.org/officeDocument/2006/relationships" xmlns:a="http://schemas.openxmlformats.org/drawingml/2006/main" r:embed="Rc6937a7a64af4c86"/>
          <a:stretch xmlns:a="http://schemas.openxmlformats.org/drawingml/2006/main">
            <a:fillRect/>
          </a:stretch>
        </p:blipFill>
        <p:spPr>
          <a:xfrm xmlns:a="http://schemas.openxmlformats.org/drawingml/2006/main">
            <a:off x="529200" y="2359440"/>
            <a:ext cx="2904480" cy="355320"/>
          </a:xfrm>
          <a:prstGeom xmlns:a="http://schemas.openxmlformats.org/drawingml/2006/main" prst="rect">
            <a:avLst/>
          </a:prstGeom>
        </p:spPr>
      </p:pic>
      <p:sp>
        <p:nvSpPr>
          <p:cNvPr id="100116" name="Text9"/>
          <p:cNvSpPr txBox="1"/>
          <p:nvPr/>
        </p:nvSpPr>
        <p:spPr>
          <a:xfrm xmlns:a="http://schemas.openxmlformats.org/drawingml/2006/main">
            <a:off x="457200" y="2848320"/>
            <a:ext cx="5247720" cy="14428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となる n があります。</a:t>
            </a:r>
          </a:p>
          <a:p xmlns:a="http://schemas.openxmlformats.org/drawingml/2006/main">
            <a:pPr algn="l">
              <a:lnSpc>
                <a:spcPct val="112000"/>
              </a:lnSpc>
              <a:spcBef>
                <a:spcPts val="400"/>
              </a:spcBef>
            </a:pPr>
            <a:r>
              <a:rPr lang="en-US" sz="2000" b="0">
                <a:solidFill>
                  <a:srgbClr val="1F2933"/>
                </a:solidFill>
                <a:latin typeface="Noto Sans JP"/>
                <a:ea typeface="Noto Sans JP"/>
              </a:rPr>
              <a:t>つまり、2, 3, 5, 11, 13 のどれかで割り切れる項が無限に現れます。</a:t>
            </a:r>
          </a:p>
        </p:txBody>
      </p:sp>
      <p:pic>
        <p:nvPicPr>
          <p:cNvPr id="100117" name="Pic10" descr="図: ξ=1 の数列 Q_1〜Q_20 を丸で並べ、2, 3, 5, 11, 13 のどれかで割り切れる項を色付けし、割る素数を下に書いた図。"/>
          <p:cNvPicPr>
            <a:picLocks xmlns:a="http://schemas.openxmlformats.org/drawingml/2006/main" noChangeAspect="1"/>
          </p:cNvPicPr>
          <p:nvPr/>
        </p:nvPicPr>
        <p:blipFill>
          <a:blip xmlns:r="http://schemas.openxmlformats.org/officeDocument/2006/relationships" xmlns:a="http://schemas.openxmlformats.org/drawingml/2006/main" r:embed="R11fadbebec1e4c08"/>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1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1</a:t>
            </a:r>
          </a:p>
        </p:txBody>
      </p:sp>
      <p:sp>
        <p:nvSpPr>
          <p:cNvPr id="10011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主定理 (ii): 比 5/2</a:t>
            </a:r>
          </a:p>
        </p:txBody>
      </p:sp>
      <p:sp>
        <p:nvSpPr>
          <p:cNvPr id="10012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12 / 99</a:t>
            </a:r>
          </a:p>
        </p:txBody>
      </p:sp>
      <p:sp>
        <p:nvSpPr>
          <p:cNvPr id="10012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2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2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比 5/2 では、2 から 31 までの 10 個の素数（5 を除く）で同じことが成り立ちます。</a:t>
            </a:r>
          </a:p>
        </p:txBody>
      </p:sp>
      <p:sp>
        <p:nvSpPr>
          <p:cNvPr id="100124" name="Text7"/>
          <p:cNvSpPr txBox="1"/>
          <p:nvPr/>
        </p:nvSpPr>
        <p:spPr>
          <a:xfrm xmlns:a="http://schemas.openxmlformats.org/drawingml/2006/main">
            <a:off x="457200" y="1080000"/>
            <a:ext cx="5247720" cy="14428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定理1 (ii)</a:t>
            </a:r>
          </a:p>
          <a:p xmlns:a="http://schemas.openxmlformats.org/drawingml/2006/main">
            <a:pPr algn="l">
              <a:lnSpc>
                <a:spcPct val="112000"/>
              </a:lnSpc>
              <a:spcBef>
                <a:spcPts val="400"/>
              </a:spcBef>
            </a:pPr>
            <a:r>
              <a:rPr lang="en-US" sz="2000" b="0">
                <a:solidFill>
                  <a:srgbClr val="1F2933"/>
                </a:solidFill>
                <a:latin typeface="Noto Sans JP"/>
                <a:ea typeface="Noto Sans JP"/>
              </a:rPr>
              <a:t>どんな ξ &gt; 0 と N に対しても、n ≥ max(N,1) で</a:t>
            </a:r>
          </a:p>
        </p:txBody>
      </p:sp>
      <p:pic>
        <p:nvPicPr>
          <p:cNvPr id="100125" name="Pic8" descr="数式: \gcd\!\left(\bigl\lfloor\xi(5/2)^n\bigr\rfloor,\ 40112098026\right)&gt;1"/>
          <p:cNvPicPr>
            <a:picLocks xmlns:a="http://schemas.openxmlformats.org/drawingml/2006/main" noChangeAspect="1"/>
          </p:cNvPicPr>
          <p:nvPr/>
        </p:nvPicPr>
        <p:blipFill>
          <a:blip xmlns:r="http://schemas.openxmlformats.org/officeDocument/2006/relationships" xmlns:a="http://schemas.openxmlformats.org/drawingml/2006/main" r:embed="Rdfda238cd5ec453d"/>
          <a:stretch xmlns:a="http://schemas.openxmlformats.org/drawingml/2006/main">
            <a:fillRect/>
          </a:stretch>
        </p:blipFill>
        <p:spPr>
          <a:xfrm xmlns:a="http://schemas.openxmlformats.org/drawingml/2006/main">
            <a:off x="529200" y="2359440"/>
            <a:ext cx="3790080" cy="355320"/>
          </a:xfrm>
          <a:prstGeom xmlns:a="http://schemas.openxmlformats.org/drawingml/2006/main" prst="rect">
            <a:avLst/>
          </a:prstGeom>
        </p:spPr>
      </p:pic>
      <p:sp>
        <p:nvSpPr>
          <p:cNvPr id="100126" name="Text9"/>
          <p:cNvSpPr txBox="1"/>
          <p:nvPr/>
        </p:nvSpPr>
        <p:spPr>
          <a:xfrm xmlns:a="http://schemas.openxmlformats.org/drawingml/2006/main">
            <a:off x="457200" y="2848320"/>
            <a:ext cx="52477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となる n があります。</a:t>
            </a:r>
          </a:p>
        </p:txBody>
      </p:sp>
      <p:pic>
        <p:nvPicPr>
          <p:cNvPr id="100127" name="Pic10" descr="数式: 40112098026=2\cdot3\cdot7\cdot11\cdot13\cdot17\cdot19\cdot23\cdot29\cdot31"/>
          <p:cNvPicPr>
            <a:picLocks xmlns:a="http://schemas.openxmlformats.org/drawingml/2006/main" noChangeAspect="1"/>
          </p:cNvPicPr>
          <p:nvPr/>
        </p:nvPicPr>
        <p:blipFill>
          <a:blip xmlns:r="http://schemas.openxmlformats.org/officeDocument/2006/relationships" xmlns:a="http://schemas.openxmlformats.org/drawingml/2006/main" r:embed="R7fa698940ce545a2"/>
          <a:stretch xmlns:a="http://schemas.openxmlformats.org/drawingml/2006/main">
            <a:fillRect/>
          </a:stretch>
        </p:blipFill>
        <p:spPr>
          <a:xfrm xmlns:a="http://schemas.openxmlformats.org/drawingml/2006/main">
            <a:off x="529200" y="3382560"/>
            <a:ext cx="5247720" cy="198720"/>
          </a:xfrm>
          <a:prstGeom xmlns:a="http://schemas.openxmlformats.org/drawingml/2006/main" prst="rect">
            <a:avLst/>
          </a:prstGeom>
        </p:spPr>
      </p:pic>
      <p:sp>
        <p:nvSpPr>
          <p:cNvPr id="100128" name="Text11"/>
          <p:cNvSpPr txBox="1"/>
          <p:nvPr/>
        </p:nvSpPr>
        <p:spPr>
          <a:xfrm xmlns:a="http://schemas.openxmlformats.org/drawingml/2006/main">
            <a:off x="457200" y="3714840"/>
            <a:ext cx="5247720" cy="981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spcBef>
                <a:spcPts val="600"/>
              </a:spcBef>
            </a:pPr>
            <a:r>
              <a:rPr lang="en-US" sz="1800" b="0">
                <a:solidFill>
                  <a:srgbClr val="4F5D6E"/>
                </a:solidFill>
                <a:latin typeface="Noto Sans JP"/>
                <a:ea typeface="Noto Sans JP"/>
              </a:rPr>
              <a:t>素数 5 は含みません。(i) と (ii) の n は別々に選びます。</a:t>
            </a:r>
          </a:p>
        </p:txBody>
      </p:sp>
      <p:pic>
        <p:nvPicPr>
          <p:cNvPr id="100129" name="Pic12" descr="図: 上に 5/2 の定理で使う10個の素数（5 は使わない）、下に ξ=1 の ⌊(5/2)^n⌋（n=1〜9）と、割り切る素数を示す図。"/>
          <p:cNvPicPr>
            <a:picLocks xmlns:a="http://schemas.openxmlformats.org/drawingml/2006/main" noChangeAspect="1"/>
          </p:cNvPicPr>
          <p:nvPr/>
        </p:nvPicPr>
        <p:blipFill>
          <a:blip xmlns:r="http://schemas.openxmlformats.org/officeDocument/2006/relationships" xmlns:a="http://schemas.openxmlformats.org/drawingml/2006/main" r:embed="Rb14a69b307d04cd9"/>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30"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1</a:t>
            </a:r>
          </a:p>
        </p:txBody>
      </p:sp>
      <p:sp>
        <p:nvSpPr>
          <p:cNvPr id="100131"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系2: 合成数の項が無限にある</a:t>
            </a:r>
          </a:p>
        </p:txBody>
      </p:sp>
      <p:sp>
        <p:nvSpPr>
          <p:cNvPr id="100132"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13 / 99</a:t>
            </a:r>
          </a:p>
        </p:txBody>
      </p:sp>
      <p:sp>
        <p:nvSpPr>
          <p:cNvPr id="100133"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34"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35"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定理1と「項がいくらでも大きくなる」ことを組み合わせると、合成数が無限に出てきます。</a:t>
            </a:r>
          </a:p>
        </p:txBody>
      </p:sp>
      <p:sp>
        <p:nvSpPr>
          <p:cNvPr id="100136" name="Text7"/>
          <p:cNvSpPr txBox="1"/>
          <p:nvPr/>
        </p:nvSpPr>
        <p:spPr>
          <a:xfrm xmlns:a="http://schemas.openxmlformats.org/drawingml/2006/main">
            <a:off x="457200" y="1080000"/>
            <a:ext cx="5247720" cy="459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系2</a:t>
            </a:r>
          </a:p>
          <a:p xmlns:a="http://schemas.openxmlformats.org/drawingml/2006/main">
            <a:pPr algn="l">
              <a:lnSpc>
                <a:spcPct val="112000"/>
              </a:lnSpc>
              <a:spcBef>
                <a:spcPts val="400"/>
              </a:spcBef>
            </a:pPr>
            <a:r>
              <a:rPr lang="en-US" sz="2000" b="0">
                <a:solidFill>
                  <a:srgbClr val="1F2933"/>
                </a:solidFill>
                <a:latin typeface="Noto Sans JP"/>
                <a:ea typeface="Noto Sans JP"/>
              </a:rPr>
              <a:t>どんな ξ &gt; 0 に対しても、数列 </a:t>
            </a:r>
            <a:r>
              <a:rPr lang="en-US" sz="2000" b="0">
                <a:solidFill>
                  <a:srgbClr val="1F2933"/>
                </a:solidFill>
                <a:latin typeface="Noto Sans Math"/>
                <a:ea typeface="Noto Sans Math"/>
              </a:rPr>
              <a:t>⌊</a:t>
            </a:r>
            <a:r>
              <a:rPr lang="en-US" sz="2000" b="0">
                <a:solidFill>
                  <a:srgbClr val="1F2933"/>
                </a:solidFill>
                <a:latin typeface="Noto Sans JP"/>
                <a:ea typeface="Noto Sans JP"/>
              </a:rPr>
              <a:t>ξ(7/5)</a:t>
            </a:r>
            <a:r>
              <a:rPr lang="en-US" sz="2000" b="0" baseline="30000">
                <a:solidFill>
                  <a:srgbClr val="1F2933"/>
                </a:solidFill>
                <a:latin typeface="Noto Sans JP"/>
                <a:ea typeface="Noto Sans JP"/>
              </a:rPr>
              <a:t>n</a:t>
            </a:r>
            <a:r>
              <a:rPr lang="en-US" sz="2000" b="0">
                <a:solidFill>
                  <a:srgbClr val="1F2933"/>
                </a:solidFill>
                <a:latin typeface="Noto Sans Math"/>
                <a:ea typeface="Noto Sans Math"/>
              </a:rPr>
              <a:t>⌋</a:t>
            </a:r>
            <a:r>
              <a:rPr lang="en-US" sz="2000" b="0">
                <a:solidFill>
                  <a:srgbClr val="1F2933"/>
                </a:solidFill>
                <a:latin typeface="Noto Sans JP"/>
                <a:ea typeface="Noto Sans JP"/>
              </a:rPr>
              <a:t xml:space="preserve"> と </a:t>
            </a:r>
            <a:r>
              <a:rPr lang="en-US" sz="2000" b="0">
                <a:solidFill>
                  <a:srgbClr val="1F2933"/>
                </a:solidFill>
                <a:latin typeface="Noto Sans Math"/>
                <a:ea typeface="Noto Sans Math"/>
              </a:rPr>
              <a:t>⌊</a:t>
            </a:r>
            <a:r>
              <a:rPr lang="en-US" sz="2000" b="0">
                <a:solidFill>
                  <a:srgbClr val="1F2933"/>
                </a:solidFill>
                <a:latin typeface="Noto Sans JP"/>
                <a:ea typeface="Noto Sans JP"/>
              </a:rPr>
              <a:t>ξ(5/2)</a:t>
            </a:r>
            <a:r>
              <a:rPr lang="en-US" sz="2000" b="0" baseline="30000">
                <a:solidFill>
                  <a:srgbClr val="1F2933"/>
                </a:solidFill>
                <a:latin typeface="Noto Sans JP"/>
                <a:ea typeface="Noto Sans JP"/>
              </a:rPr>
              <a:t>n</a:t>
            </a:r>
            <a:r>
              <a:rPr lang="en-US" sz="2000" b="0">
                <a:solidFill>
                  <a:srgbClr val="1F2933"/>
                </a:solidFill>
                <a:latin typeface="Noto Sans Math"/>
                <a:ea typeface="Noto Sans Math"/>
              </a:rPr>
              <a:t>⌋</a:t>
            </a:r>
            <a:r>
              <a:rPr lang="en-US" sz="2000" b="0">
                <a:solidFill>
                  <a:srgbClr val="1F2933"/>
                </a:solidFill>
                <a:latin typeface="Noto Sans JP"/>
                <a:ea typeface="Noto Sans JP"/>
              </a:rPr>
              <a:t xml:space="preserve"> は、それぞれ合成数の項を無限に含みます。</a:t>
            </a:r>
          </a:p>
          <a:p xmlns:a="http://schemas.openxmlformats.org/drawingml/2006/main">
            <a:pPr algn="l">
              <a:lnSpc>
                <a:spcPct val="112000"/>
              </a:lnSpc>
              <a:spcBef>
                <a:spcPts val="1000"/>
              </a:spcBef>
            </a:pPr>
            <a:r>
              <a:rPr lang="en-US" sz="2000" b="1">
                <a:solidFill>
                  <a:srgbClr val="1B2A41"/>
                </a:solidFill>
                <a:latin typeface="Noto Sans JP"/>
                <a:ea typeface="Noto Sans JP"/>
              </a:rPr>
              <a:t>理由</a:t>
            </a:r>
          </a:p>
          <a:p xmlns:a="http://schemas.openxmlformats.org/drawingml/2006/main">
            <a:pPr marL="288000" indent="-288000" algn="l">
              <a:lnSpc>
                <a:spcPct val="112000"/>
              </a:lnSpc>
              <a:spcBef>
                <a:spcPts val="400"/>
              </a:spcBef>
              <a:buNone/>
            </a:pPr>
            <a:r>
              <a:rPr lang="en-US" sz="2000" b="0">
                <a:solidFill>
                  <a:srgbClr val="1F2933"/>
                </a:solidFill>
                <a:latin typeface="Noto Sans JP"/>
                <a:ea typeface="Noto Sans JP"/>
              </a:rPr>
              <a:t>1. 項はいくらでも大きくなり、いつか 13（5/2 では 31）を超える。</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2. そこから先で、定理1の素数で割り切れる項が無限にある。</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3. 割る素数より大きいので、その項は合成数。</a:t>
            </a:r>
          </a:p>
        </p:txBody>
      </p:sp>
      <p:pic>
        <p:nvPicPr>
          <p:cNvPr id="100137" name="Pic8" descr="図: 系2の理由を3段の流れで示す図: 項はいつか 13（5/2 では 31）を超える → その先にも定理1の素数で割り切れる項がある → その項は合成数。"/>
          <p:cNvPicPr>
            <a:picLocks xmlns:a="http://schemas.openxmlformats.org/drawingml/2006/main" noChangeAspect="1"/>
          </p:cNvPicPr>
          <p:nvPr/>
        </p:nvPicPr>
        <p:blipFill>
          <a:blip xmlns:r="http://schemas.openxmlformats.org/officeDocument/2006/relationships" xmlns:a="http://schemas.openxmlformats.org/drawingml/2006/main" r:embed="Ra5d95a66b4c64090"/>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3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1</a:t>
            </a:r>
          </a:p>
        </p:txBody>
      </p:sp>
      <p:sp>
        <p:nvSpPr>
          <p:cNvPr id="10013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待ち時間の定理（定理3）</a:t>
            </a:r>
          </a:p>
        </p:txBody>
      </p:sp>
      <p:sp>
        <p:nvSpPr>
          <p:cNvPr id="10014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14 / 99</a:t>
            </a:r>
          </a:p>
        </p:txBody>
      </p:sp>
      <p:sp>
        <p:nvSpPr>
          <p:cNvPr id="10014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4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4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Math"/>
                <a:ea typeface="Noto Sans Math"/>
              </a:rPr>
              <a:t>⌊</a:t>
            </a:r>
            <a:r>
              <a:rPr lang="en-US" sz="1800" b="0">
                <a:solidFill>
                  <a:srgbClr val="1F2933"/>
                </a:solidFill>
                <a:latin typeface="Noto Sans JP"/>
                <a:ea typeface="Noto Sans JP"/>
              </a:rPr>
              <a:t>ξ</a:t>
            </a:r>
            <a:r>
              <a:rPr lang="en-US" sz="1800" b="0">
                <a:solidFill>
                  <a:srgbClr val="1F2933"/>
                </a:solidFill>
                <a:latin typeface="Noto Sans Math"/>
                <a:ea typeface="Noto Sans Math"/>
              </a:rPr>
              <a:t>⌋</a:t>
            </a:r>
            <a:r>
              <a:rPr lang="en-US" sz="1800" b="0">
                <a:solidFill>
                  <a:srgbClr val="1F2933"/>
                </a:solidFill>
                <a:latin typeface="Noto Sans JP"/>
                <a:ea typeface="Noto Sans JP"/>
              </a:rPr>
              <a:t xml:space="preserve"> = P &gt; 13 なら、0 ≤ n ≤ 428 + 12·L(P) に、5 つの素数で割り切れる項があります。</a:t>
            </a:r>
          </a:p>
        </p:txBody>
      </p:sp>
      <p:sp>
        <p:nvSpPr>
          <p:cNvPr id="100144"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比 7/5 では、割り切れる項が「何番目までに」出るかも分かります。</a:t>
            </a:r>
          </a:p>
        </p:txBody>
      </p:sp>
      <p:pic>
        <p:nvPicPr>
          <p:cNvPr id="100145" name="Pic8" descr="数式: L(P)=\min\{h\ge0:\ 5^h\ge P+2\}"/>
          <p:cNvPicPr>
            <a:picLocks xmlns:a="http://schemas.openxmlformats.org/drawingml/2006/main" noChangeAspect="1"/>
          </p:cNvPicPr>
          <p:nvPr/>
        </p:nvPicPr>
        <p:blipFill>
          <a:blip xmlns:r="http://schemas.openxmlformats.org/officeDocument/2006/relationships" xmlns:a="http://schemas.openxmlformats.org/drawingml/2006/main" r:embed="R0f380f7117804d37"/>
          <a:stretch xmlns:a="http://schemas.openxmlformats.org/drawingml/2006/main">
            <a:fillRect/>
          </a:stretch>
        </p:blipFill>
        <p:spPr>
          <a:xfrm xmlns:a="http://schemas.openxmlformats.org/drawingml/2006/main">
            <a:off x="529200" y="1961640"/>
            <a:ext cx="3764520" cy="341280"/>
          </a:xfrm>
          <a:prstGeom xmlns:a="http://schemas.openxmlformats.org/drawingml/2006/main" prst="rect">
            <a:avLst/>
          </a:prstGeom>
        </p:spPr>
      </p:pic>
      <p:sp>
        <p:nvSpPr>
          <p:cNvPr id="100146" name="Text9"/>
          <p:cNvSpPr txBox="1"/>
          <p:nvPr/>
        </p:nvSpPr>
        <p:spPr>
          <a:xfrm xmlns:a="http://schemas.openxmlformats.org/drawingml/2006/main">
            <a:off x="457200" y="243612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P = </a:t>
            </a:r>
            <a:r>
              <a:rPr lang="en-US" sz="2000" b="0">
                <a:solidFill>
                  <a:srgbClr val="1F2933"/>
                </a:solidFill>
                <a:latin typeface="Noto Sans Math"/>
                <a:ea typeface="Noto Sans Math"/>
              </a:rPr>
              <a:t>⌊</a:t>
            </a:r>
            <a:r>
              <a:rPr lang="en-US" sz="2000" b="0">
                <a:solidFill>
                  <a:srgbClr val="1F2933"/>
                </a:solidFill>
                <a:latin typeface="Noto Sans JP"/>
                <a:ea typeface="Noto Sans JP"/>
              </a:rPr>
              <a:t>ξ</a:t>
            </a:r>
            <a:r>
              <a:rPr lang="en-US" sz="2000" b="0">
                <a:solidFill>
                  <a:srgbClr val="1F2933"/>
                </a:solidFill>
                <a:latin typeface="Noto Sans Math"/>
                <a:ea typeface="Noto Sans Math"/>
              </a:rPr>
              <a:t>⌋</a:t>
            </a:r>
            <a:r>
              <a:rPr lang="en-US" sz="2000" b="0">
                <a:solidFill>
                  <a:srgbClr val="1F2933"/>
                </a:solidFill>
                <a:latin typeface="Noto Sans JP"/>
                <a:ea typeface="Noto Sans JP"/>
              </a:rPr>
              <a:t xml:space="preserve"> &gt; 13 なら、0 ≤ n ≤ 428 + 12·L(P) の範囲に</a:t>
            </a:r>
          </a:p>
        </p:txBody>
      </p:sp>
      <p:pic>
        <p:nvPicPr>
          <p:cNvPr id="100147" name="Pic10" descr="数式: \gcd\!\left(\bigl\lfloor\xi(7/5)^n\bigr\rfloor,\ 4290\right)&gt;1"/>
          <p:cNvPicPr>
            <a:picLocks xmlns:a="http://schemas.openxmlformats.org/drawingml/2006/main" noChangeAspect="1"/>
          </p:cNvPicPr>
          <p:nvPr/>
        </p:nvPicPr>
        <p:blipFill>
          <a:blip xmlns:r="http://schemas.openxmlformats.org/officeDocument/2006/relationships" xmlns:a="http://schemas.openxmlformats.org/drawingml/2006/main" r:embed="R1f123f0066c74e85"/>
          <a:stretch xmlns:a="http://schemas.openxmlformats.org/drawingml/2006/main">
            <a:fillRect/>
          </a:stretch>
        </p:blipFill>
        <p:spPr>
          <a:xfrm xmlns:a="http://schemas.openxmlformats.org/drawingml/2006/main">
            <a:off x="529200" y="3317760"/>
            <a:ext cx="2904480" cy="355320"/>
          </a:xfrm>
          <a:prstGeom xmlns:a="http://schemas.openxmlformats.org/drawingml/2006/main" prst="rect">
            <a:avLst/>
          </a:prstGeom>
        </p:spPr>
      </p:pic>
      <p:sp>
        <p:nvSpPr>
          <p:cNvPr id="100148" name="Text11"/>
          <p:cNvSpPr txBox="1"/>
          <p:nvPr/>
        </p:nvSpPr>
        <p:spPr>
          <a:xfrm xmlns:a="http://schemas.openxmlformats.org/drawingml/2006/main">
            <a:off x="457200" y="3806280"/>
            <a:ext cx="5247720" cy="175932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となる n があり、その項は合成数です。</a:t>
            </a:r>
          </a:p>
          <a:p xmlns:a="http://schemas.openxmlformats.org/drawingml/2006/main">
            <a:pPr algn="l">
              <a:lnSpc>
                <a:spcPct val="112000"/>
              </a:lnSpc>
              <a:spcBef>
                <a:spcPts val="600"/>
              </a:spcBef>
            </a:pPr>
            <a:r>
              <a:rPr lang="en-US" sz="1800" b="0">
                <a:solidFill>
                  <a:srgbClr val="4F5D6E"/>
                </a:solidFill>
                <a:latin typeface="Noto Sans JP"/>
                <a:ea typeface="Noto Sans JP"/>
              </a:rPr>
              <a:t>L(P) は「5 を何乗すれば P+2 以上になるか」。P が 10 倍になっても 1〜2 しか増えません。</a:t>
            </a:r>
          </a:p>
        </p:txBody>
      </p:sp>
      <p:pic>
        <p:nvPicPr>
          <p:cNvPr id="100149" name="Pic12" descr="図: P=14, 100, 1000, 10^6 について L(P) と上限 428+12L(P)（452, 464, 488, 536）を計算した表と、P=100 の範囲を示す数直線。"/>
          <p:cNvPicPr>
            <a:picLocks xmlns:a="http://schemas.openxmlformats.org/drawingml/2006/main" noChangeAspect="1"/>
          </p:cNvPicPr>
          <p:nvPr/>
        </p:nvPicPr>
        <p:blipFill>
          <a:blip xmlns:r="http://schemas.openxmlformats.org/officeDocument/2006/relationships" xmlns:a="http://schemas.openxmlformats.org/drawingml/2006/main" r:embed="Rba5254c8a5684388"/>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50"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1</a:t>
            </a:r>
          </a:p>
        </p:txBody>
      </p:sp>
      <p:sp>
        <p:nvSpPr>
          <p:cNvPr id="100151"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先行研究との関係</a:t>
            </a:r>
          </a:p>
        </p:txBody>
      </p:sp>
      <p:sp>
        <p:nvSpPr>
          <p:cNvPr id="100152"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15 / 99</a:t>
            </a:r>
          </a:p>
        </p:txBody>
      </p:sp>
      <p:sp>
        <p:nvSpPr>
          <p:cNvPr id="100153"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54"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55"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この論文は、切り捨てただけの数列についての結果です。</a:t>
            </a:r>
          </a:p>
        </p:txBody>
      </p:sp>
      <p:graphicFrame>
        <p:nvGraphicFramePr>
          <p:cNvPr id="100156" name="Table7"/>
          <p:cNvGraphicFramePr/>
          <p:nvPr/>
        </p:nvGraphicFramePr>
        <p:xfrm>
          <a:off xmlns:a="http://schemas.openxmlformats.org/drawingml/2006/main" x="457200" y="1098000"/>
          <a:ext xmlns:a="http://schemas.openxmlformats.org/drawingml/2006/main" cx="11268000" cy="2520000"/>
        </p:xfrm>
        <a:graphic xmlns:a="http://schemas.openxmlformats.org/drawingml/2006/main">
          <a:graphicData uri="http://schemas.openxmlformats.org/drawingml/2006/table">
            <a:tbl>
              <a:tblPr firstRow="1" bandRow="1"/>
              <a:tblGrid>
                <a:gridCol w="1440000"/>
                <a:gridCol w="2520000"/>
                <a:gridCol w="3348000"/>
                <a:gridCol w="3960000"/>
              </a:tblGrid>
              <a:tr h="360000">
                <a:tc>
                  <a:txBody>
                    <a:bodyPr/>
                    <a:lstStyle/>
                    <a:p>
                      <a:pPr algn="ctr"/>
                      <a:r>
                        <a:rPr lang="en-US" sz="1600" b="1">
                          <a:solidFill>
                            <a:srgbClr val="FFFFFF"/>
                          </a:solidFill>
                          <a:latin typeface="Noto Sans JP"/>
                          <a:ea typeface="Noto Sans JP"/>
                        </a:rPr>
                        <a:t>比 a/b</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数列の形</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素数の集合</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結果</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r>
              <a:tr h="360000">
                <a:tc>
                  <a:txBody>
                    <a:bodyPr/>
                    <a:lstStyle/>
                    <a:p>
                      <a:pPr algn="l"/>
                      <a:r>
                        <a:rPr lang="en-US" sz="1600" b="0">
                          <a:solidFill>
                            <a:srgbClr val="1F2933"/>
                          </a:solidFill>
                          <a:latin typeface="Noto Sans JP"/>
                          <a:ea typeface="Noto Sans JP"/>
                        </a:rPr>
                        <a:t>3/2, 4/3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切り捨て</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3/2: {2,5,7,11}　4/3: {2,3,5}</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合成数: Forman–Shapiro (1967)／素数集合: Dubickas–Novikas</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l"/>
                      <a:r>
                        <a:rPr lang="en-US" sz="1600" b="0">
                          <a:solidFill>
                            <a:srgbClr val="1F2933"/>
                          </a:solidFill>
                          <a:latin typeface="Noto Sans JP"/>
                          <a:ea typeface="Noto Sans JP"/>
                        </a:rPr>
                        <a:t>5/4</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切り捨て</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{2,3,7,11,13}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Dubickas–Novikas</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l"/>
                      <a:r>
                        <a:rPr lang="en-US" sz="1600" b="0">
                          <a:solidFill>
                            <a:srgbClr val="1F2933"/>
                          </a:solidFill>
                          <a:latin typeface="Noto Sans JP"/>
                          <a:ea typeface="Noto Sans JP"/>
                        </a:rPr>
                        <a:t>7/5</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四捨五入</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{2,3,5,11}</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Dubickas–Novikas</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l"/>
                      <a:r>
                        <a:rPr lang="en-US" sz="1600" b="0">
                          <a:solidFill>
                            <a:srgbClr val="1F2933"/>
                          </a:solidFill>
                          <a:latin typeface="Noto Sans JP"/>
                          <a:ea typeface="Noto Sans JP"/>
                        </a:rPr>
                        <a:t>5/2</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切り捨てて 1 を引く</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{2,3,5}</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Dubickas–Novikas</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l"/>
                      <a:r>
                        <a:rPr lang="en-US" sz="1600" b="1">
                          <a:solidFill>
                            <a:srgbClr val="1F2933"/>
                          </a:solidFill>
                          <a:latin typeface="Noto Sans JP"/>
                          <a:ea typeface="Noto Sans JP"/>
                        </a:rPr>
                        <a:t>7/5</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l"/>
                      <a:r>
                        <a:rPr lang="en-US" sz="1600" b="1">
                          <a:solidFill>
                            <a:srgbClr val="1F2933"/>
                          </a:solidFill>
                          <a:latin typeface="Noto Sans JP"/>
                          <a:ea typeface="Noto Sans JP"/>
                        </a:rPr>
                        <a:t>切り捨て</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l"/>
                      <a:r>
                        <a:rPr lang="en-US" sz="1600" b="1">
                          <a:solidFill>
                            <a:srgbClr val="1F2933"/>
                          </a:solidFill>
                          <a:latin typeface="Noto Sans JP"/>
                          <a:ea typeface="Noto Sans JP"/>
                        </a:rPr>
                        <a:t>{2,3,5,11,13}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l"/>
                      <a:r>
                        <a:rPr lang="en-US" sz="1600" b="1">
                          <a:solidFill>
                            <a:srgbClr val="1F2933"/>
                          </a:solidFill>
                          <a:latin typeface="Noto Sans JP"/>
                          <a:ea typeface="Noto Sans JP"/>
                        </a:rPr>
                        <a:t>この論文 定理1 (i)</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r>
              <a:tr h="360000">
                <a:tc>
                  <a:txBody>
                    <a:bodyPr/>
                    <a:lstStyle/>
                    <a:p>
                      <a:pPr algn="l"/>
                      <a:r>
                        <a:rPr lang="en-US" sz="1600" b="1">
                          <a:solidFill>
                            <a:srgbClr val="1F2933"/>
                          </a:solidFill>
                          <a:latin typeface="Noto Sans JP"/>
                          <a:ea typeface="Noto Sans JP"/>
                        </a:rPr>
                        <a:t>5/2</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l"/>
                      <a:r>
                        <a:rPr lang="en-US" sz="1600" b="1">
                          <a:solidFill>
                            <a:srgbClr val="1F2933"/>
                          </a:solidFill>
                          <a:latin typeface="Noto Sans JP"/>
                          <a:ea typeface="Noto Sans JP"/>
                        </a:rPr>
                        <a:t>切り捨て</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l"/>
                      <a:r>
                        <a:rPr lang="en-US" sz="1600" b="1">
                          <a:solidFill>
                            <a:srgbClr val="1F2933"/>
                          </a:solidFill>
                          <a:latin typeface="Noto Sans JP"/>
                          <a:ea typeface="Noto Sans JP"/>
                        </a:rPr>
                        <a:t>{2,3,7,11,…,31}</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l"/>
                      <a:r>
                        <a:rPr lang="en-US" sz="1600" b="1">
                          <a:solidFill>
                            <a:srgbClr val="1F2933"/>
                          </a:solidFill>
                          <a:latin typeface="Noto Sans JP"/>
                          <a:ea typeface="Noto Sans JP"/>
                        </a:rPr>
                        <a:t>この論文 定理1 (ii)</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r>
            </a:tbl>
          </a:graphicData>
        </a:graphic>
      </p:graphicFrame>
      <p:sp>
        <p:nvSpPr>
          <p:cNvPr id="100157" name="Text8"/>
          <p:cNvSpPr txBox="1"/>
          <p:nvPr/>
        </p:nvSpPr>
        <p:spPr>
          <a:xfrm xmlns:a="http://schemas.openxmlformats.org/drawingml/2006/main">
            <a:off x="457200" y="4064040"/>
            <a:ext cx="112777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数列の形は、左から「切り捨て」「四捨五入」「切り捨てて 1 を引く」です（r = a/b）。</a:t>
            </a:r>
          </a:p>
        </p:txBody>
      </p:sp>
      <p:pic>
        <p:nvPicPr>
          <p:cNvPr id="100158" name="Pic9" descr="数式: \lfloor\xi r^n\rfloor,\qquad \lfloor\xi r^n+\tfrac12\rfloor,\qquad \lfloor\xi r^n\rfloor-1"/>
          <p:cNvPicPr>
            <a:picLocks xmlns:a="http://schemas.openxmlformats.org/drawingml/2006/main" noChangeAspect="1"/>
          </p:cNvPicPr>
          <p:nvPr/>
        </p:nvPicPr>
        <p:blipFill>
          <a:blip xmlns:r="http://schemas.openxmlformats.org/officeDocument/2006/relationships" xmlns:a="http://schemas.openxmlformats.org/drawingml/2006/main" r:embed="Rd982bd36759947de"/>
          <a:stretch xmlns:a="http://schemas.openxmlformats.org/drawingml/2006/main">
            <a:fillRect/>
          </a:stretch>
        </p:blipFill>
        <p:spPr>
          <a:xfrm xmlns:a="http://schemas.openxmlformats.org/drawingml/2006/main">
            <a:off x="529200" y="4598640"/>
            <a:ext cx="4013280" cy="353520"/>
          </a:xfrm>
          <a:prstGeom xmlns:a="http://schemas.openxmlformats.org/drawingml/2006/main" prst="rect">
            <a:avLst/>
          </a:prstGeom>
        </p:spPr>
      </p:pic>
    </p:spTree>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59"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1</a:t>
            </a:r>
          </a:p>
        </p:txBody>
      </p:sp>
      <p:sp>
        <p:nvSpPr>
          <p:cNvPr id="100160"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何が難しいのか</a:t>
            </a:r>
          </a:p>
        </p:txBody>
      </p:sp>
      <p:sp>
        <p:nvSpPr>
          <p:cNvPr id="100161"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16 / 99</a:t>
            </a:r>
          </a:p>
        </p:txBody>
      </p:sp>
      <p:sp>
        <p:nvSpPr>
          <p:cNvPr id="100162"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63"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64"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すべての ξ と、無限に続く数列を、有限個の条件にまとめることが、証明の中心です。</a:t>
            </a:r>
          </a:p>
        </p:txBody>
      </p:sp>
      <p:sp>
        <p:nvSpPr>
          <p:cNvPr id="100165" name="Text7"/>
          <p:cNvSpPr txBox="1"/>
          <p:nvPr/>
        </p:nvSpPr>
        <p:spPr>
          <a:xfrm xmlns:a="http://schemas.openxmlformats.org/drawingml/2006/main">
            <a:off x="457200" y="1080000"/>
            <a:ext cx="5247720" cy="358092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marL="223200" indent="-223200" algn="l">
              <a:lnSpc>
                <a:spcPct val="112000"/>
              </a:lnSpc>
              <a:buChar char="•"/>
            </a:pPr>
            <a:r>
              <a:rPr lang="en-US" sz="2000" b="0">
                <a:solidFill>
                  <a:srgbClr val="1F2933"/>
                </a:solidFill>
                <a:latin typeface="Noto Sans JP"/>
                <a:ea typeface="Noto Sans JP"/>
              </a:rPr>
              <a:t>ξ は数えきれないほど多い。全部は試せない。</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1つの ξ でも、数列は無限に続く。最後まで計算できない。</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小数部分のわずかな違いで、先の項が変わる。数値計算の誤差は許されない。</a:t>
            </a:r>
          </a:p>
          <a:p xmlns:a="http://schemas.openxmlformats.org/drawingml/2006/main">
            <a:pPr algn="l">
              <a:lnSpc>
                <a:spcPct val="112000"/>
              </a:lnSpc>
              <a:spcBef>
                <a:spcPts val="400"/>
              </a:spcBef>
            </a:pPr>
            <a:r>
              <a:rPr lang="en-US" sz="2000" b="0">
                <a:solidFill>
                  <a:srgbClr val="1F2933"/>
                </a:solidFill>
                <a:latin typeface="Noto Sans JP"/>
                <a:ea typeface="Noto Sans JP"/>
              </a:rPr>
              <a:t>そこで、個々の ξ を計算せず、どの ξ にも当てはまる有限個の条件だけを調べます。</a:t>
            </a:r>
          </a:p>
        </p:txBody>
      </p:sp>
      <p:pic>
        <p:nvPicPr>
          <p:cNvPr id="100166" name="Pic8" descr="図: 左に「ξ を1つずつ選んで数列を計算する方法は終わらない」、右に「割り切れない項が続く部分は、どの ξ でも有限グラフの道になる」を対比した図。"/>
          <p:cNvPicPr>
            <a:picLocks xmlns:a="http://schemas.openxmlformats.org/drawingml/2006/main" noChangeAspect="1"/>
          </p:cNvPicPr>
          <p:nvPr/>
        </p:nvPicPr>
        <p:blipFill>
          <a:blip xmlns:r="http://schemas.openxmlformats.org/officeDocument/2006/relationships" xmlns:a="http://schemas.openxmlformats.org/drawingml/2006/main" r:embed="R97b3270add2945ff"/>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67"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1</a:t>
            </a:r>
          </a:p>
        </p:txBody>
      </p:sp>
      <p:sp>
        <p:nvSpPr>
          <p:cNvPr id="100168"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証明の作戦: 背理法と有限グラフ</a:t>
            </a:r>
          </a:p>
        </p:txBody>
      </p:sp>
      <p:sp>
        <p:nvSpPr>
          <p:cNvPr id="100169"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17 / 99</a:t>
            </a:r>
          </a:p>
        </p:txBody>
      </p:sp>
      <p:sp>
        <p:nvSpPr>
          <p:cNvPr id="100170"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71"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72"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「ある所から先はずっと割り切れない」と仮定し、矛盾を導きます。</a:t>
            </a:r>
          </a:p>
        </p:txBody>
      </p:sp>
      <p:pic>
        <p:nvPicPr>
          <p:cNvPr id="100173" name="Pic7" descr="図: 証明の作戦を5つの箱で示す流れ図: 割り切れない項が続くと仮定 → 有限グラフの無限ウォーク → 周期的な部分には留まれない → 消して細かくする → グラフが空になり矛盾。"/>
          <p:cNvPicPr>
            <a:picLocks xmlns:a="http://schemas.openxmlformats.org/drawingml/2006/main" noChangeAspect="1"/>
          </p:cNvPicPr>
          <p:nvPr/>
        </p:nvPicPr>
        <p:blipFill>
          <a:blip xmlns:r="http://schemas.openxmlformats.org/officeDocument/2006/relationships" xmlns:a="http://schemas.openxmlformats.org/drawingml/2006/main" r:embed="R16ae63ca2bf342fa"/>
          <a:stretch xmlns:a="http://schemas.openxmlformats.org/drawingml/2006/main">
            <a:fillRect/>
          </a:stretch>
        </p:blipFill>
        <p:spPr>
          <a:xfrm xmlns:a="http://schemas.openxmlformats.org/drawingml/2006/main">
            <a:off x="462960" y="1062000"/>
            <a:ext cx="11265840" cy="2736000"/>
          </a:xfrm>
          <a:prstGeom xmlns:a="http://schemas.openxmlformats.org/drawingml/2006/main" prst="rect">
            <a:avLst/>
          </a:prstGeom>
        </p:spPr>
      </p:pic>
      <p:sp>
        <p:nvSpPr>
          <p:cNvPr id="100174" name="Term8"/>
          <p:cNvSpPr txBox="1"/>
          <p:nvPr/>
        </p:nvSpPr>
        <p:spPr>
          <a:xfrm xmlns:a="http://schemas.openxmlformats.org/drawingml/2006/main">
            <a:off x="457200" y="3960000"/>
            <a:ext cx="545868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背理法</a:t>
            </a:r>
          </a:p>
          <a:p xmlns:a="http://schemas.openxmlformats.org/drawingml/2006/main">
            <a:pPr algn="l">
              <a:lnSpc>
                <a:spcPct val="112000"/>
              </a:lnSpc>
              <a:spcBef>
                <a:spcPts val="200"/>
              </a:spcBef>
            </a:pPr>
            <a:r>
              <a:rPr lang="en-US" sz="1800" b="0">
                <a:solidFill>
                  <a:srgbClr val="1F2933"/>
                </a:solidFill>
                <a:latin typeface="Noto Sans JP"/>
                <a:ea typeface="Noto Sans JP"/>
              </a:rPr>
              <a:t>示したいことの否定を仮定して矛盾を導き、元の主張が正しいと結論する証明法。</a:t>
            </a:r>
          </a:p>
        </p:txBody>
      </p:sp>
      <p:sp>
        <p:nvSpPr>
          <p:cNvPr id="100175" name="Text9"/>
          <p:cNvSpPr txBox="1"/>
          <p:nvPr/>
        </p:nvSpPr>
        <p:spPr>
          <a:xfrm xmlns:a="http://schemas.openxmlformats.org/drawingml/2006/main">
            <a:off x="6275880" y="3960000"/>
            <a:ext cx="545868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「割り切れる項が無限にある」の否定は「ある番号から先の項はすべて 4290 と互いに素」です。これを仮定して矛盾を導きます。</a:t>
            </a:r>
          </a:p>
        </p:txBody>
      </p:sp>
    </p:spTree>
  </p:cSld>
</p:sld>
</file>

<file path=ppt/slides/slide18.xml><?xml version="1.0" encoding="utf-8"?>
<p:sld xmlns:p="http://schemas.openxmlformats.org/presentationml/2006/main">
  <p:cSld>
    <p:bg>
      <p:bgPr>
        <a:solidFill xmlns:a="http://schemas.openxmlformats.org/drawingml/2006/main">
          <a:srgbClr val="1B2A41"/>
        </a:solidFill>
      </p:bgPr>
    </p:bg>
    <p:spTree>
      <p:nvGrpSpPr>
        <p:cNvPr id="1" name=""/>
        <p:cNvGrpSpPr/>
        <p:nvPr/>
      </p:nvGrpSpPr>
      <p:grpSpPr/>
      <p:sp>
        <p:nvSpPr>
          <p:cNvPr id="100176" name="SecNum1"/>
          <p:cNvSpPr txBox="1"/>
          <p:nvPr/>
        </p:nvSpPr>
        <p:spPr>
          <a:xfrm xmlns:a="http://schemas.openxmlformats.org/drawingml/2006/main">
            <a:off x="792000" y="1080000"/>
            <a:ext cx="2160000" cy="1944000"/>
          </a:xfrm>
          <a:prstGeom xmlns:a="http://schemas.openxmlformats.org/drawingml/2006/main" prst="rect">
            <a:avLst/>
          </a:prstGeom>
          <a:noFill xmlns:a="http://schemas.openxmlformats.org/drawingml/2006/main"/>
        </p:spPr>
        <p:txBody>
          <a:bodyPr xmlns:a="http://schemas.openxmlformats.org/drawingml/2006/main" lIns="0" tIns="0" rIns="0" bIns="0" anchor="b">
            <a:noAutofit/>
          </a:bodyPr>
          <a:lstStyle xmlns:a="http://schemas.openxmlformats.org/drawingml/2006/main"/>
          <a:p xmlns:a="http://schemas.openxmlformats.org/drawingml/2006/main">
            <a:pPr algn="l">
              <a:lnSpc>
                <a:spcPct val="112000"/>
              </a:lnSpc>
            </a:pPr>
            <a:r>
              <a:rPr lang="en-US" sz="11000" b="1">
                <a:solidFill>
                  <a:srgbClr val="D97B1F"/>
                </a:solidFill>
                <a:latin typeface="Noto Sans JP"/>
                <a:ea typeface="Noto Sans JP"/>
              </a:rPr>
              <a:t>2</a:t>
            </a:r>
          </a:p>
        </p:txBody>
      </p:sp>
      <p:sp>
        <p:nvSpPr>
          <p:cNvPr id="100177" name="SecTitle2"/>
          <p:cNvSpPr txBox="1"/>
          <p:nvPr/>
        </p:nvSpPr>
        <p:spPr>
          <a:xfrm xmlns:a="http://schemas.openxmlformats.org/drawingml/2006/main">
            <a:off x="792000" y="3096000"/>
            <a:ext cx="10608120" cy="79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4000" b="1">
                <a:solidFill>
                  <a:srgbClr val="FFFFFF"/>
                </a:solidFill>
                <a:latin typeface="Noto Sans JP"/>
                <a:ea typeface="Noto Sans JP"/>
              </a:rPr>
              <a:t>繰り上がりと非周期性</a:t>
            </a:r>
          </a:p>
        </p:txBody>
      </p:sp>
      <p:sp>
        <p:nvSpPr>
          <p:cNvPr id="100178" name="Text3"/>
          <p:cNvSpPr txBox="1"/>
          <p:nvPr/>
        </p:nvSpPr>
        <p:spPr>
          <a:xfrm xmlns:a="http://schemas.openxmlformats.org/drawingml/2006/main">
            <a:off x="792000" y="3996000"/>
            <a:ext cx="100321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FFFFFF"/>
                </a:solidFill>
                <a:latin typeface="Noto Sans JP"/>
                <a:ea typeface="Noto Sans JP"/>
              </a:rPr>
              <a:t>隣り合う2つの項を結ぶ整数の式と、その式から出る「周期的にならない」という性質</a:t>
            </a:r>
          </a:p>
        </p:txBody>
      </p:sp>
      <p:sp>
        <p:nvSpPr>
          <p:cNvPr id="100179" name="PageNo4"/>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9FB0C3"/>
                </a:solidFill>
                <a:latin typeface="Noto Sans JP"/>
                <a:ea typeface="Noto Sans JP"/>
              </a:rPr>
              <a:t>18 / 99</a:t>
            </a:r>
          </a:p>
        </p:txBody>
      </p:sp>
    </p:spTree>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80"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2</a:t>
            </a:r>
          </a:p>
        </p:txBody>
      </p:sp>
      <p:sp>
        <p:nvSpPr>
          <p:cNvPr id="100181"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整数部分と小数部分</a:t>
            </a:r>
          </a:p>
        </p:txBody>
      </p:sp>
      <p:sp>
        <p:nvSpPr>
          <p:cNvPr id="100182"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19 / 99</a:t>
            </a:r>
          </a:p>
        </p:txBody>
      </p:sp>
      <p:sp>
        <p:nvSpPr>
          <p:cNvPr id="100183"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84"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85"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各項 x</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を「整数部分 Q</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」と「小数部分 θ</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（0 以上 1 未満）」に分けて考えます。</a:t>
            </a:r>
          </a:p>
        </p:txBody>
      </p:sp>
      <p:sp>
        <p:nvSpPr>
          <p:cNvPr id="100186" name="Text7"/>
          <p:cNvSpPr txBox="1"/>
          <p:nvPr/>
        </p:nvSpPr>
        <p:spPr>
          <a:xfrm xmlns:a="http://schemas.openxmlformats.org/drawingml/2006/main">
            <a:off x="457200" y="1080000"/>
            <a:ext cx="524772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比を r = a/b と書きます。a &gt; b ≥ 2 で、a と b は互いに素とします。例: 7/5 なら a = 7、b = 5。</a:t>
            </a:r>
          </a:p>
        </p:txBody>
      </p:sp>
      <p:pic>
        <p:nvPicPr>
          <p:cNvPr id="100187" name="Pic8" descr="数式: x_n=\xi r^n,\qquad Q_n=\lfloor x_n\rfloor,\qquad \theta_n=x_n-Q_n"/>
          <p:cNvPicPr>
            <a:picLocks xmlns:a="http://schemas.openxmlformats.org/drawingml/2006/main" noChangeAspect="1"/>
          </p:cNvPicPr>
          <p:nvPr/>
        </p:nvPicPr>
        <p:blipFill>
          <a:blip xmlns:r="http://schemas.openxmlformats.org/officeDocument/2006/relationships" xmlns:a="http://schemas.openxmlformats.org/drawingml/2006/main" r:embed="Rd17213b20d584081"/>
          <a:stretch xmlns:a="http://schemas.openxmlformats.org/drawingml/2006/main">
            <a:fillRect/>
          </a:stretch>
        </p:blipFill>
        <p:spPr>
          <a:xfrm xmlns:a="http://schemas.openxmlformats.org/drawingml/2006/main">
            <a:off x="529200" y="2308680"/>
            <a:ext cx="4994640" cy="304560"/>
          </a:xfrm>
          <a:prstGeom xmlns:a="http://schemas.openxmlformats.org/drawingml/2006/main" prst="rect">
            <a:avLst/>
          </a:prstGeom>
        </p:spPr>
      </p:pic>
      <p:sp>
        <p:nvSpPr>
          <p:cNvPr id="100188" name="Term9"/>
          <p:cNvSpPr txBox="1"/>
          <p:nvPr/>
        </p:nvSpPr>
        <p:spPr>
          <a:xfrm xmlns:a="http://schemas.openxmlformats.org/drawingml/2006/main">
            <a:off x="457200" y="274680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小数部分 θ</a:t>
            </a:r>
            <a:r>
              <a:rPr lang="en-US" sz="1800" b="1" baseline="-25000">
                <a:solidFill>
                  <a:srgbClr val="1B2A41"/>
                </a:solidFill>
                <a:latin typeface="Noto Sans JP"/>
                <a:ea typeface="Noto Sans JP"/>
              </a:rPr>
              <a:t>n</a:t>
            </a:r>
          </a:p>
          <a:p xmlns:a="http://schemas.openxmlformats.org/drawingml/2006/main">
            <a:pPr algn="l">
              <a:lnSpc>
                <a:spcPct val="112000"/>
              </a:lnSpc>
              <a:spcBef>
                <a:spcPts val="200"/>
              </a:spcBef>
            </a:pPr>
            <a:r>
              <a:rPr lang="en-US" sz="1800" b="0">
                <a:solidFill>
                  <a:srgbClr val="1F2933"/>
                </a:solidFill>
                <a:latin typeface="Noto Sans JP"/>
                <a:ea typeface="Noto Sans JP"/>
              </a:rPr>
              <a:t>x</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から整数部分を引いた残り。0 ≤ θ</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&lt; 1 を満たす（θ はシータと読む）。</a:t>
            </a:r>
          </a:p>
        </p:txBody>
      </p:sp>
      <p:sp>
        <p:nvSpPr>
          <p:cNvPr id="100189" name="Text10"/>
          <p:cNvSpPr txBox="1"/>
          <p:nvPr/>
        </p:nvSpPr>
        <p:spPr>
          <a:xfrm xmlns:a="http://schemas.openxmlformats.org/drawingml/2006/main">
            <a:off x="457200" y="415908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例: ξ = 1, n = 3 では x</a:t>
            </a:r>
            <a:r>
              <a:rPr lang="en-US" sz="2000" b="0" baseline="-25000">
                <a:solidFill>
                  <a:srgbClr val="1F2933"/>
                </a:solidFill>
                <a:latin typeface="Noto Sans JP"/>
                <a:ea typeface="Noto Sans JP"/>
              </a:rPr>
              <a:t>3</a:t>
            </a:r>
            <a:r>
              <a:rPr lang="en-US" sz="2000" b="0">
                <a:solidFill>
                  <a:srgbClr val="1F2933"/>
                </a:solidFill>
                <a:latin typeface="Noto Sans JP"/>
                <a:ea typeface="Noto Sans JP"/>
              </a:rPr>
              <a:t xml:space="preserve"> = 2.744 なので Q</a:t>
            </a:r>
            <a:r>
              <a:rPr lang="en-US" sz="2000" b="0" baseline="-25000">
                <a:solidFill>
                  <a:srgbClr val="1F2933"/>
                </a:solidFill>
                <a:latin typeface="Noto Sans JP"/>
                <a:ea typeface="Noto Sans JP"/>
              </a:rPr>
              <a:t>3</a:t>
            </a:r>
            <a:r>
              <a:rPr lang="en-US" sz="2000" b="0">
                <a:solidFill>
                  <a:srgbClr val="1F2933"/>
                </a:solidFill>
                <a:latin typeface="Noto Sans JP"/>
                <a:ea typeface="Noto Sans JP"/>
              </a:rPr>
              <a:t xml:space="preserve"> = 2, θ</a:t>
            </a:r>
            <a:r>
              <a:rPr lang="en-US" sz="2000" b="0" baseline="-25000">
                <a:solidFill>
                  <a:srgbClr val="1F2933"/>
                </a:solidFill>
                <a:latin typeface="Noto Sans JP"/>
                <a:ea typeface="Noto Sans JP"/>
              </a:rPr>
              <a:t>3</a:t>
            </a:r>
            <a:r>
              <a:rPr lang="en-US" sz="2000" b="0">
                <a:solidFill>
                  <a:srgbClr val="1F2933"/>
                </a:solidFill>
                <a:latin typeface="Noto Sans JP"/>
                <a:ea typeface="Noto Sans JP"/>
              </a:rPr>
              <a:t xml:space="preserve"> = 0.744 です。</a:t>
            </a:r>
          </a:p>
        </p:txBody>
      </p:sp>
      <p:pic>
        <p:nvPicPr>
          <p:cNvPr id="100190" name="Pic11" descr="図: ξ=1, n=3, 4, 5 の数直線で、x_n を整数部分 Q_n と小数部分 θ_n に分けて示す図。"/>
          <p:cNvPicPr>
            <a:picLocks xmlns:a="http://schemas.openxmlformats.org/drawingml/2006/main" noChangeAspect="1"/>
          </p:cNvPicPr>
          <p:nvPr/>
        </p:nvPicPr>
        <p:blipFill>
          <a:blip xmlns:r="http://schemas.openxmlformats.org/officeDocument/2006/relationships" xmlns:a="http://schemas.openxmlformats.org/drawingml/2006/main" r:embed="R92ad3277a04c4a09"/>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91"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2</a:t>
            </a:r>
          </a:p>
        </p:txBody>
      </p:sp>
      <p:sp>
        <p:nvSpPr>
          <p:cNvPr id="100192"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繰り上がり c</a:t>
            </a:r>
            <a:r>
              <a:rPr lang="en-US" sz="3200" b="1" baseline="-25000">
                <a:solidFill>
                  <a:srgbClr val="1B2A41"/>
                </a:solidFill>
                <a:latin typeface="Noto Sans JP"/>
                <a:ea typeface="Noto Sans JP"/>
              </a:rPr>
              <a:t>n</a:t>
            </a:r>
          </a:p>
        </p:txBody>
      </p:sp>
      <p:sp>
        <p:nvSpPr>
          <p:cNvPr id="100193"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20 / 99</a:t>
            </a:r>
          </a:p>
        </p:txBody>
      </p:sp>
      <p:sp>
        <p:nvSpPr>
          <p:cNvPr id="100194"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95"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196"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繰り上がり c</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は、隣り合う項を結ぶ式 b·Q</a:t>
            </a:r>
            <a:r>
              <a:rPr lang="en-US" sz="1800" b="0" baseline="-25000">
                <a:solidFill>
                  <a:srgbClr val="1F2933"/>
                </a:solidFill>
                <a:latin typeface="Noto Sans JP"/>
                <a:ea typeface="Noto Sans JP"/>
              </a:rPr>
              <a:t>n+1</a:t>
            </a:r>
            <a:r>
              <a:rPr lang="en-US" sz="1800" b="0">
                <a:solidFill>
                  <a:srgbClr val="1F2933"/>
                </a:solidFill>
                <a:latin typeface="Noto Sans JP"/>
                <a:ea typeface="Noto Sans JP"/>
              </a:rPr>
              <a:t xml:space="preserve"> = a·Q</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 c</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の「ずれ」の整数です。</a:t>
            </a:r>
          </a:p>
        </p:txBody>
      </p:sp>
      <p:sp>
        <p:nvSpPr>
          <p:cNvPr id="100197" name="Term7"/>
          <p:cNvSpPr txBox="1"/>
          <p:nvPr/>
        </p:nvSpPr>
        <p:spPr>
          <a:xfrm xmlns:a="http://schemas.openxmlformats.org/drawingml/2006/main">
            <a:off x="457200" y="108000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繰り上がり c</a:t>
            </a:r>
            <a:r>
              <a:rPr lang="en-US" sz="1800" b="1" baseline="-25000">
                <a:solidFill>
                  <a:srgbClr val="1B2A41"/>
                </a:solidFill>
                <a:latin typeface="Noto Sans JP"/>
                <a:ea typeface="Noto Sans JP"/>
              </a:rPr>
              <a:t>n</a:t>
            </a:r>
          </a:p>
          <a:p xmlns:a="http://schemas.openxmlformats.org/drawingml/2006/main">
            <a:pPr algn="l">
              <a:lnSpc>
                <a:spcPct val="112000"/>
              </a:lnSpc>
              <a:spcBef>
                <a:spcPts val="200"/>
              </a:spcBef>
            </a:pPr>
            <a:r>
              <a:rPr lang="en-US" sz="1800" b="0">
                <a:solidFill>
                  <a:srgbClr val="1F2933"/>
                </a:solidFill>
                <a:latin typeface="Noto Sans JP"/>
                <a:ea typeface="Noto Sans JP"/>
              </a:rPr>
              <a:t>隣り合う2つの整数部分から作る整数 c</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 b·Q</a:t>
            </a:r>
            <a:r>
              <a:rPr lang="en-US" sz="1800" b="0" baseline="-25000">
                <a:solidFill>
                  <a:srgbClr val="1F2933"/>
                </a:solidFill>
                <a:latin typeface="Noto Sans JP"/>
                <a:ea typeface="Noto Sans JP"/>
              </a:rPr>
              <a:t>n+1</a:t>
            </a:r>
            <a:r>
              <a:rPr lang="en-US" sz="1800" b="0">
                <a:solidFill>
                  <a:srgbClr val="1F2933"/>
                </a:solidFill>
                <a:latin typeface="Noto Sans JP"/>
                <a:ea typeface="Noto Sans JP"/>
              </a:rPr>
              <a:t xml:space="preserve"> − a·Q</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a:t>
            </a:r>
          </a:p>
        </p:txBody>
      </p:sp>
      <p:pic>
        <p:nvPicPr>
          <p:cNvPr id="100198" name="Pic8" descr="数式: b\,Q_{n+1}=a\,Q_n+c_n"/>
          <p:cNvPicPr>
            <a:picLocks xmlns:a="http://schemas.openxmlformats.org/drawingml/2006/main" noChangeAspect="1"/>
          </p:cNvPicPr>
          <p:nvPr/>
        </p:nvPicPr>
        <p:blipFill>
          <a:blip xmlns:r="http://schemas.openxmlformats.org/officeDocument/2006/relationships" xmlns:a="http://schemas.openxmlformats.org/drawingml/2006/main" r:embed="R8bc310f6c3c94819"/>
          <a:stretch xmlns:a="http://schemas.openxmlformats.org/drawingml/2006/main">
            <a:fillRect/>
          </a:stretch>
        </p:blipFill>
        <p:spPr>
          <a:xfrm xmlns:a="http://schemas.openxmlformats.org/drawingml/2006/main">
            <a:off x="529200" y="2510640"/>
            <a:ext cx="2203200" cy="286200"/>
          </a:xfrm>
          <a:prstGeom xmlns:a="http://schemas.openxmlformats.org/drawingml/2006/main" prst="rect">
            <a:avLst/>
          </a:prstGeom>
        </p:spPr>
      </p:pic>
      <p:sp>
        <p:nvSpPr>
          <p:cNvPr id="100199" name="Text9"/>
          <p:cNvSpPr txBox="1"/>
          <p:nvPr/>
        </p:nvSpPr>
        <p:spPr>
          <a:xfrm xmlns:a="http://schemas.openxmlformats.org/drawingml/2006/main">
            <a:off x="457200" y="2930040"/>
            <a:ext cx="5247720" cy="18525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「a 倍して b で割る」ときに、切り捨てによるずれを整数で記録したものです。</a:t>
            </a:r>
          </a:p>
          <a:p xmlns:a="http://schemas.openxmlformats.org/drawingml/2006/main">
            <a:pPr algn="l">
              <a:lnSpc>
                <a:spcPct val="112000"/>
              </a:lnSpc>
              <a:spcBef>
                <a:spcPts val="400"/>
              </a:spcBef>
            </a:pPr>
            <a:r>
              <a:rPr lang="en-US" sz="2000" b="0">
                <a:solidFill>
                  <a:srgbClr val="1F2933"/>
                </a:solidFill>
                <a:latin typeface="Noto Sans JP"/>
                <a:ea typeface="Noto Sans JP"/>
              </a:rPr>
              <a:t>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が分かれば、Q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から Q</a:t>
            </a:r>
            <a:r>
              <a:rPr lang="en-US" sz="2000" b="0" baseline="-25000">
                <a:solidFill>
                  <a:srgbClr val="1F2933"/>
                </a:solidFill>
                <a:latin typeface="Noto Sans JP"/>
                <a:ea typeface="Noto Sans JP"/>
              </a:rPr>
              <a:t>n+1</a:t>
            </a:r>
            <a:r>
              <a:rPr lang="en-US" sz="2000" b="0">
                <a:solidFill>
                  <a:srgbClr val="1F2933"/>
                </a:solidFill>
                <a:latin typeface="Noto Sans JP"/>
                <a:ea typeface="Noto Sans JP"/>
              </a:rPr>
              <a:t xml:space="preserve"> が決まります。</a:t>
            </a:r>
          </a:p>
        </p:txBody>
      </p:sp>
      <p:pic>
        <p:nvPicPr>
          <p:cNvPr id="100200" name="Pic10" descr="図: ξ=1, 比 7/5 の表。n=0〜9 の Q_n、7Q_n、5Q_{n+1} と、繰り上がり c_n = 5Q_{n+1} − 7Q_n（−2, −2, 3, 1, 4, 0, 1, 0, 2, 0）。"/>
          <p:cNvPicPr>
            <a:picLocks xmlns:a="http://schemas.openxmlformats.org/drawingml/2006/main" noChangeAspect="1"/>
          </p:cNvPicPr>
          <p:nvPr/>
        </p:nvPicPr>
        <p:blipFill>
          <a:blip xmlns:r="http://schemas.openxmlformats.org/officeDocument/2006/relationships" xmlns:a="http://schemas.openxmlformats.org/drawingml/2006/main" r:embed="R4df892a5bd7f4314"/>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201"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2</a:t>
            </a:r>
          </a:p>
        </p:txBody>
      </p:sp>
      <p:sp>
        <p:nvSpPr>
          <p:cNvPr id="100202"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繰り上がりのとりうる範囲</a:t>
            </a:r>
          </a:p>
        </p:txBody>
      </p:sp>
      <p:sp>
        <p:nvSpPr>
          <p:cNvPr id="100203"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21 / 99</a:t>
            </a:r>
          </a:p>
        </p:txBody>
      </p:sp>
      <p:sp>
        <p:nvSpPr>
          <p:cNvPr id="100204"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05"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06"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繰り上がりは有限個の値しかとりません。これが「有限のグラフ」で扱える理由の1つです。</a:t>
            </a:r>
          </a:p>
        </p:txBody>
      </p:sp>
      <p:sp>
        <p:nvSpPr>
          <p:cNvPr id="100207"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x</a:t>
            </a:r>
            <a:r>
              <a:rPr lang="en-US" sz="2000" b="0" baseline="-25000">
                <a:solidFill>
                  <a:srgbClr val="1F2933"/>
                </a:solidFill>
                <a:latin typeface="Noto Sans JP"/>
                <a:ea typeface="Noto Sans JP"/>
              </a:rPr>
              <a:t>n+1</a:t>
            </a:r>
            <a:r>
              <a:rPr lang="en-US" sz="2000" b="0">
                <a:solidFill>
                  <a:srgbClr val="1F2933"/>
                </a:solidFill>
                <a:latin typeface="Noto Sans JP"/>
                <a:ea typeface="Noto Sans JP"/>
              </a:rPr>
              <a:t xml:space="preserve"> = (a/b)·x</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を使うと、繰り上がりは小数部分だけで書けます。</a:t>
            </a:r>
          </a:p>
        </p:txBody>
      </p:sp>
      <p:pic>
        <p:nvPicPr>
          <p:cNvPr id="100208" name="Pic8" descr="数式: b(Q_{n+1}+\theta_{n+1})=a(Q_n+\theta_n)\ \Longrightarrow\ c_n=a\,\theta_n-b\,\theta_{n+1}"/>
          <p:cNvPicPr>
            <a:picLocks xmlns:a="http://schemas.openxmlformats.org/drawingml/2006/main" noChangeAspect="1"/>
          </p:cNvPicPr>
          <p:nvPr/>
        </p:nvPicPr>
        <p:blipFill>
          <a:blip xmlns:r="http://schemas.openxmlformats.org/officeDocument/2006/relationships" xmlns:a="http://schemas.openxmlformats.org/drawingml/2006/main" r:embed="R94771a74aaa94715"/>
          <a:stretch xmlns:a="http://schemas.openxmlformats.org/drawingml/2006/main">
            <a:fillRect/>
          </a:stretch>
        </p:blipFill>
        <p:spPr>
          <a:xfrm xmlns:a="http://schemas.openxmlformats.org/drawingml/2006/main">
            <a:off x="529200" y="1961640"/>
            <a:ext cx="5247720" cy="264240"/>
          </a:xfrm>
          <a:prstGeom xmlns:a="http://schemas.openxmlformats.org/drawingml/2006/main" prst="rect">
            <a:avLst/>
          </a:prstGeom>
        </p:spPr>
      </p:pic>
      <p:sp>
        <p:nvSpPr>
          <p:cNvPr id="100209" name="Text9"/>
          <p:cNvSpPr txBox="1"/>
          <p:nvPr/>
        </p:nvSpPr>
        <p:spPr>
          <a:xfrm xmlns:a="http://schemas.openxmlformats.org/drawingml/2006/main">
            <a:off x="457200" y="235908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0 ≤ θ &lt; 1 なので −b &lt; 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&lt; a。c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は整数だから</a:t>
            </a:r>
          </a:p>
        </p:txBody>
      </p:sp>
      <p:pic>
        <p:nvPicPr>
          <p:cNvPr id="100210" name="Pic10" descr="数式: 1-b\ \le\ c_n\ \le\ a-1"/>
          <p:cNvPicPr>
            <a:picLocks xmlns:a="http://schemas.openxmlformats.org/drawingml/2006/main" noChangeAspect="1"/>
          </p:cNvPicPr>
          <p:nvPr/>
        </p:nvPicPr>
        <p:blipFill>
          <a:blip xmlns:r="http://schemas.openxmlformats.org/officeDocument/2006/relationships" xmlns:a="http://schemas.openxmlformats.org/drawingml/2006/main" r:embed="R922f89f3c0ba42ba"/>
          <a:stretch xmlns:a="http://schemas.openxmlformats.org/drawingml/2006/main">
            <a:fillRect/>
          </a:stretch>
        </p:blipFill>
        <p:spPr>
          <a:xfrm xmlns:a="http://schemas.openxmlformats.org/drawingml/2006/main">
            <a:off x="529200" y="3240720"/>
            <a:ext cx="2423880" cy="266040"/>
          </a:xfrm>
          <a:prstGeom xmlns:a="http://schemas.openxmlformats.org/drawingml/2006/main" prst="rect">
            <a:avLst/>
          </a:prstGeom>
        </p:spPr>
      </p:pic>
      <p:sp>
        <p:nvSpPr>
          <p:cNvPr id="100211" name="Text11"/>
          <p:cNvSpPr txBox="1"/>
          <p:nvPr/>
        </p:nvSpPr>
        <p:spPr>
          <a:xfrm xmlns:a="http://schemas.openxmlformats.org/drawingml/2006/main">
            <a:off x="457200" y="3639960"/>
            <a:ext cx="524772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7/5 では 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は −4 から 6 までの 11 通り、5/2 では −1 から 4 までの 6 通りしかありません。</a:t>
            </a:r>
          </a:p>
        </p:txBody>
      </p:sp>
      <p:pic>
        <p:nvPicPr>
          <p:cNvPr id="100212" name="Pic12" descr="図: 繰り上がりのとりうる整数を数直線に示す図。7/5 では −4〜6 の11個、5/2 では −1〜4 の6個。"/>
          <p:cNvPicPr>
            <a:picLocks xmlns:a="http://schemas.openxmlformats.org/drawingml/2006/main" noChangeAspect="1"/>
          </p:cNvPicPr>
          <p:nvPr/>
        </p:nvPicPr>
        <p:blipFill>
          <a:blip xmlns:r="http://schemas.openxmlformats.org/officeDocument/2006/relationships" xmlns:a="http://schemas.openxmlformats.org/drawingml/2006/main" r:embed="R535e98b9d08a4519"/>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213"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2</a:t>
            </a:r>
          </a:p>
        </p:txBody>
      </p:sp>
      <p:sp>
        <p:nvSpPr>
          <p:cNvPr id="100214"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周期的と「最終的に周期的」</a:t>
            </a:r>
          </a:p>
        </p:txBody>
      </p:sp>
      <p:sp>
        <p:nvSpPr>
          <p:cNvPr id="100215"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22 / 99</a:t>
            </a:r>
          </a:p>
        </p:txBody>
      </p:sp>
      <p:sp>
        <p:nvSpPr>
          <p:cNvPr id="100216"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17"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18"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「最終的に周期的」とは、ある所から先が同じパターンの繰り返しになることです。</a:t>
            </a:r>
          </a:p>
        </p:txBody>
      </p:sp>
      <p:sp>
        <p:nvSpPr>
          <p:cNvPr id="100219" name="Term7"/>
          <p:cNvSpPr txBox="1"/>
          <p:nvPr/>
        </p:nvSpPr>
        <p:spPr>
          <a:xfrm xmlns:a="http://schemas.openxmlformats.org/drawingml/2006/main">
            <a:off x="457200" y="108000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周期 L の列</a:t>
            </a:r>
          </a:p>
          <a:p xmlns:a="http://schemas.openxmlformats.org/drawingml/2006/main">
            <a:pPr algn="l">
              <a:lnSpc>
                <a:spcPct val="112000"/>
              </a:lnSpc>
              <a:spcBef>
                <a:spcPts val="200"/>
              </a:spcBef>
            </a:pPr>
            <a:r>
              <a:rPr lang="en-US" sz="1800" b="0">
                <a:solidFill>
                  <a:srgbClr val="1F2933"/>
                </a:solidFill>
                <a:latin typeface="Noto Sans JP"/>
                <a:ea typeface="Noto Sans JP"/>
              </a:rPr>
              <a:t>すべての番号で c</a:t>
            </a:r>
            <a:r>
              <a:rPr lang="en-US" sz="1800" b="0" baseline="-25000">
                <a:solidFill>
                  <a:srgbClr val="1F2933"/>
                </a:solidFill>
                <a:latin typeface="Noto Sans JP"/>
                <a:ea typeface="Noto Sans JP"/>
              </a:rPr>
              <a:t>n+L</a:t>
            </a:r>
            <a:r>
              <a:rPr lang="en-US" sz="1800" b="0">
                <a:solidFill>
                  <a:srgbClr val="1F2933"/>
                </a:solidFill>
                <a:latin typeface="Noto Sans JP"/>
                <a:ea typeface="Noto Sans JP"/>
              </a:rPr>
              <a:t xml:space="preserve"> = c</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。同じ長さ L のかたまりが繰り返される列。</a:t>
            </a:r>
          </a:p>
        </p:txBody>
      </p:sp>
      <p:sp>
        <p:nvSpPr>
          <p:cNvPr id="100220" name="Term8"/>
          <p:cNvSpPr txBox="1"/>
          <p:nvPr/>
        </p:nvSpPr>
        <p:spPr>
          <a:xfrm xmlns:a="http://schemas.openxmlformats.org/drawingml/2006/main">
            <a:off x="457200" y="249264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最終的に周期的</a:t>
            </a:r>
          </a:p>
          <a:p xmlns:a="http://schemas.openxmlformats.org/drawingml/2006/main">
            <a:pPr algn="l">
              <a:lnSpc>
                <a:spcPct val="112000"/>
              </a:lnSpc>
              <a:spcBef>
                <a:spcPts val="200"/>
              </a:spcBef>
            </a:pPr>
            <a:r>
              <a:rPr lang="en-US" sz="1800" b="0">
                <a:solidFill>
                  <a:srgbClr val="1F2933"/>
                </a:solidFill>
                <a:latin typeface="Noto Sans JP"/>
                <a:ea typeface="Noto Sans JP"/>
              </a:rPr>
              <a:t>ある番号 N から先だけで c</a:t>
            </a:r>
            <a:r>
              <a:rPr lang="en-US" sz="1800" b="0" baseline="-25000">
                <a:solidFill>
                  <a:srgbClr val="1F2933"/>
                </a:solidFill>
                <a:latin typeface="Noto Sans JP"/>
                <a:ea typeface="Noto Sans JP"/>
              </a:rPr>
              <a:t>n+L</a:t>
            </a:r>
            <a:r>
              <a:rPr lang="en-US" sz="1800" b="0">
                <a:solidFill>
                  <a:srgbClr val="1F2933"/>
                </a:solidFill>
                <a:latin typeface="Noto Sans JP"/>
                <a:ea typeface="Noto Sans JP"/>
              </a:rPr>
              <a:t xml:space="preserve"> = c</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が成り立つ列。最初の部分はばらばらでもよい。</a:t>
            </a:r>
          </a:p>
        </p:txBody>
      </p:sp>
      <p:sp>
        <p:nvSpPr>
          <p:cNvPr id="100221" name="Text9"/>
          <p:cNvSpPr txBox="1"/>
          <p:nvPr/>
        </p:nvSpPr>
        <p:spPr>
          <a:xfrm xmlns:a="http://schemas.openxmlformats.org/drawingml/2006/main">
            <a:off x="457200" y="390528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例: 3, 1, 4, 2, 5, 2, 5, 2, 5, … は N = 3, L = 2 で最終的に周期的です。</a:t>
            </a:r>
          </a:p>
        </p:txBody>
      </p:sp>
      <p:pic>
        <p:nvPicPr>
          <p:cNvPr id="100222" name="Pic10" descr="図: 周期 3 で繰り返す列と、最初の3項のあと周期 2 で繰り返す「最終的に周期的」な列をタイルで比べる図。"/>
          <p:cNvPicPr>
            <a:picLocks xmlns:a="http://schemas.openxmlformats.org/drawingml/2006/main" noChangeAspect="1"/>
          </p:cNvPicPr>
          <p:nvPr/>
        </p:nvPicPr>
        <p:blipFill>
          <a:blip xmlns:r="http://schemas.openxmlformats.org/officeDocument/2006/relationships" xmlns:a="http://schemas.openxmlformats.org/drawingml/2006/main" r:embed="R2413ce3a69e44d3a"/>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223"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2</a:t>
            </a:r>
          </a:p>
        </p:txBody>
      </p:sp>
      <p:sp>
        <p:nvSpPr>
          <p:cNvPr id="100224"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補題4: 繰り上がりは周期的にならない</a:t>
            </a:r>
          </a:p>
        </p:txBody>
      </p:sp>
      <p:sp>
        <p:nvSpPr>
          <p:cNvPr id="100225"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23 / 99</a:t>
            </a:r>
          </a:p>
        </p:txBody>
      </p:sp>
      <p:sp>
        <p:nvSpPr>
          <p:cNvPr id="100226"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27"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28"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補題4は、この後の証明で矛盾を導くときに毎回使う性質です。</a:t>
            </a:r>
          </a:p>
        </p:txBody>
      </p:sp>
      <p:sp>
        <p:nvSpPr>
          <p:cNvPr id="100229" name="Text7"/>
          <p:cNvSpPr txBox="1"/>
          <p:nvPr/>
        </p:nvSpPr>
        <p:spPr>
          <a:xfrm xmlns:a="http://schemas.openxmlformats.org/drawingml/2006/main">
            <a:off x="457200" y="1080000"/>
            <a:ext cx="5247720" cy="43376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補題4（非周期性）</a:t>
            </a:r>
          </a:p>
          <a:p xmlns:a="http://schemas.openxmlformats.org/drawingml/2006/main">
            <a:pPr algn="l">
              <a:lnSpc>
                <a:spcPct val="112000"/>
              </a:lnSpc>
              <a:spcBef>
                <a:spcPts val="400"/>
              </a:spcBef>
            </a:pPr>
            <a:r>
              <a:rPr lang="en-US" sz="2000" b="0">
                <a:solidFill>
                  <a:srgbClr val="1F2933"/>
                </a:solidFill>
                <a:latin typeface="Noto Sans JP"/>
                <a:ea typeface="Noto Sans JP"/>
              </a:rPr>
              <a:t>どんな ξ &gt; 0 に対しても、繰り上がりの列 c</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c</a:t>
            </a:r>
            <a:r>
              <a:rPr lang="en-US" sz="2000" b="0" baseline="-25000">
                <a:solidFill>
                  <a:srgbClr val="1F2933"/>
                </a:solidFill>
                <a:latin typeface="Noto Sans JP"/>
                <a:ea typeface="Noto Sans JP"/>
              </a:rPr>
              <a:t>1</a:t>
            </a:r>
            <a:r>
              <a:rPr lang="en-US" sz="2000" b="0">
                <a:solidFill>
                  <a:srgbClr val="1F2933"/>
                </a:solidFill>
                <a:latin typeface="Noto Sans JP"/>
                <a:ea typeface="Noto Sans JP"/>
              </a:rPr>
              <a:t>, c</a:t>
            </a:r>
            <a:r>
              <a:rPr lang="en-US" sz="2000" b="0" baseline="-25000">
                <a:solidFill>
                  <a:srgbClr val="1F2933"/>
                </a:solidFill>
                <a:latin typeface="Noto Sans JP"/>
                <a:ea typeface="Noto Sans JP"/>
              </a:rPr>
              <a:t>2</a:t>
            </a:r>
            <a:r>
              <a:rPr lang="en-US" sz="2000" b="0">
                <a:solidFill>
                  <a:srgbClr val="1F2933"/>
                </a:solidFill>
                <a:latin typeface="Noto Sans JP"/>
                <a:ea typeface="Noto Sans JP"/>
              </a:rPr>
              <a:t>, … は最終的に周期的になりません。</a:t>
            </a:r>
          </a:p>
          <a:p xmlns:a="http://schemas.openxmlformats.org/drawingml/2006/main">
            <a:pPr algn="l">
              <a:lnSpc>
                <a:spcPct val="112000"/>
              </a:lnSpc>
              <a:spcBef>
                <a:spcPts val="400"/>
              </a:spcBef>
            </a:pPr>
            <a:r>
              <a:rPr lang="en-US" sz="2000" b="0">
                <a:solidFill>
                  <a:srgbClr val="1F2933"/>
                </a:solidFill>
                <a:latin typeface="Noto Sans JP"/>
                <a:ea typeface="Noto Sans JP"/>
              </a:rPr>
              <a:t>つまり、どんな N と L ≥ 1 をとっても、「n ≥ N で常に c</a:t>
            </a:r>
            <a:r>
              <a:rPr lang="en-US" sz="2000" b="0" baseline="-25000">
                <a:solidFill>
                  <a:srgbClr val="1F2933"/>
                </a:solidFill>
                <a:latin typeface="Noto Sans JP"/>
                <a:ea typeface="Noto Sans JP"/>
              </a:rPr>
              <a:t>n+L</a:t>
            </a:r>
            <a:r>
              <a:rPr lang="en-US" sz="2000" b="0">
                <a:solidFill>
                  <a:srgbClr val="1F2933"/>
                </a:solidFill>
                <a:latin typeface="Noto Sans JP"/>
                <a:ea typeface="Noto Sans JP"/>
              </a:rPr>
              <a:t xml:space="preserve"> = 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」は成り立ちません。</a:t>
            </a:r>
          </a:p>
          <a:p xmlns:a="http://schemas.openxmlformats.org/drawingml/2006/main">
            <a:pPr algn="l">
              <a:lnSpc>
                <a:spcPct val="112000"/>
              </a:lnSpc>
              <a:spcBef>
                <a:spcPts val="600"/>
              </a:spcBef>
            </a:pPr>
            <a:r>
              <a:rPr lang="en-US" sz="1800" b="0">
                <a:solidFill>
                  <a:srgbClr val="4F5D6E"/>
                </a:solidFill>
                <a:latin typeface="Noto Sans JP"/>
                <a:ea typeface="Noto Sans JP"/>
              </a:rPr>
              <a:t>b ≥ 2 と gcd(a, b) = 1 が必要です。整数の比（例 7/1）では c</a:t>
            </a:r>
            <a:r>
              <a:rPr lang="en-US" sz="1800" b="0" baseline="-25000">
                <a:solidFill>
                  <a:srgbClr val="4F5D6E"/>
                </a:solidFill>
                <a:latin typeface="Noto Sans JP"/>
                <a:ea typeface="Noto Sans JP"/>
              </a:rPr>
              <a:t>n</a:t>
            </a:r>
            <a:r>
              <a:rPr lang="en-US" sz="1800" b="0">
                <a:solidFill>
                  <a:srgbClr val="4F5D6E"/>
                </a:solidFill>
                <a:latin typeface="Noto Sans JP"/>
                <a:ea typeface="Noto Sans JP"/>
              </a:rPr>
              <a:t xml:space="preserve"> = 0 がずっと続く ξ があります。</a:t>
            </a:r>
          </a:p>
        </p:txBody>
      </p:sp>
      <p:pic>
        <p:nvPicPr>
          <p:cNvPr id="100230" name="Pic8" descr="図: 補題4の証明の流れ図: 周期 L を仮定 → 差 D_k が b·D_{k+1} = a·D_k を満たす → すべての k で b^k が D_0 を割り切り D_0 = 0 → Q_{m+L} = Q_m となり矛盾。"/>
          <p:cNvPicPr>
            <a:picLocks xmlns:a="http://schemas.openxmlformats.org/drawingml/2006/main" noChangeAspect="1"/>
          </p:cNvPicPr>
          <p:nvPr/>
        </p:nvPicPr>
        <p:blipFill>
          <a:blip xmlns:r="http://schemas.openxmlformats.org/officeDocument/2006/relationships" xmlns:a="http://schemas.openxmlformats.org/drawingml/2006/main" r:embed="Rfe120887b9eb4aad"/>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231"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2</a:t>
            </a:r>
          </a:p>
        </p:txBody>
      </p:sp>
      <p:sp>
        <p:nvSpPr>
          <p:cNvPr id="100232"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補題4の証明 (1): すべての b</a:t>
            </a:r>
            <a:r>
              <a:rPr lang="en-US" sz="3200" b="1" baseline="30000">
                <a:solidFill>
                  <a:srgbClr val="1B2A41"/>
                </a:solidFill>
                <a:latin typeface="Noto Sans JP"/>
                <a:ea typeface="Noto Sans JP"/>
              </a:rPr>
              <a:t>k</a:t>
            </a:r>
            <a:r>
              <a:rPr lang="en-US" sz="3200" b="1">
                <a:solidFill>
                  <a:srgbClr val="1B2A41"/>
                </a:solidFill>
                <a:latin typeface="Noto Sans JP"/>
                <a:ea typeface="Noto Sans JP"/>
              </a:rPr>
              <a:t xml:space="preserve"> で割り切れる整数</a:t>
            </a:r>
          </a:p>
        </p:txBody>
      </p:sp>
      <p:sp>
        <p:nvSpPr>
          <p:cNvPr id="100233"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24 / 99</a:t>
            </a:r>
          </a:p>
        </p:txBody>
      </p:sp>
      <p:sp>
        <p:nvSpPr>
          <p:cNvPr id="100234"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35"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36"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すべての b</a:t>
            </a:r>
            <a:r>
              <a:rPr lang="en-US" sz="1800" b="0" baseline="30000">
                <a:solidFill>
                  <a:srgbClr val="1F2933"/>
                </a:solidFill>
                <a:latin typeface="Noto Sans JP"/>
                <a:ea typeface="Noto Sans JP"/>
              </a:rPr>
              <a:t>k</a:t>
            </a:r>
            <a:r>
              <a:rPr lang="en-US" sz="1800" b="0">
                <a:solidFill>
                  <a:srgbClr val="1F2933"/>
                </a:solidFill>
                <a:latin typeface="Noto Sans JP"/>
                <a:ea typeface="Noto Sans JP"/>
              </a:rPr>
              <a:t xml:space="preserve"> で割り切れる整数は 0 しかありません。</a:t>
            </a:r>
          </a:p>
        </p:txBody>
      </p:sp>
      <p:sp>
        <p:nvSpPr>
          <p:cNvPr id="100237"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整数の列 D</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D</a:t>
            </a:r>
            <a:r>
              <a:rPr lang="en-US" sz="2000" b="0" baseline="-25000">
                <a:solidFill>
                  <a:srgbClr val="1F2933"/>
                </a:solidFill>
                <a:latin typeface="Noto Sans JP"/>
                <a:ea typeface="Noto Sans JP"/>
              </a:rPr>
              <a:t>1</a:t>
            </a:r>
            <a:r>
              <a:rPr lang="en-US" sz="2000" b="0">
                <a:solidFill>
                  <a:srgbClr val="1F2933"/>
                </a:solidFill>
                <a:latin typeface="Noto Sans JP"/>
                <a:ea typeface="Noto Sans JP"/>
              </a:rPr>
              <a:t>, … が b·D</a:t>
            </a:r>
            <a:r>
              <a:rPr lang="en-US" sz="2000" b="0" baseline="-25000">
                <a:solidFill>
                  <a:srgbClr val="1F2933"/>
                </a:solidFill>
                <a:latin typeface="Noto Sans JP"/>
                <a:ea typeface="Noto Sans JP"/>
              </a:rPr>
              <a:t>k+1</a:t>
            </a:r>
            <a:r>
              <a:rPr lang="en-US" sz="2000" b="0">
                <a:solidFill>
                  <a:srgbClr val="1F2933"/>
                </a:solidFill>
                <a:latin typeface="Noto Sans JP"/>
                <a:ea typeface="Noto Sans JP"/>
              </a:rPr>
              <a:t xml:space="preserve"> = a·D</a:t>
            </a:r>
            <a:r>
              <a:rPr lang="en-US" sz="2000" b="0" baseline="-25000">
                <a:solidFill>
                  <a:srgbClr val="1F2933"/>
                </a:solidFill>
                <a:latin typeface="Noto Sans JP"/>
                <a:ea typeface="Noto Sans JP"/>
              </a:rPr>
              <a:t>k</a:t>
            </a:r>
            <a:r>
              <a:rPr lang="en-US" sz="2000" b="0">
                <a:solidFill>
                  <a:srgbClr val="1F2933"/>
                </a:solidFill>
                <a:latin typeface="Noto Sans JP"/>
                <a:ea typeface="Noto Sans JP"/>
              </a:rPr>
              <a:t xml:space="preserve"> を満たすとします。くり返し使うと</a:t>
            </a:r>
          </a:p>
        </p:txBody>
      </p:sp>
      <p:pic>
        <p:nvPicPr>
          <p:cNvPr id="100238" name="Pic8" descr="数式: b^k D_k=a^k D_0\qquad(k=0,1,2,\ldots)"/>
          <p:cNvPicPr>
            <a:picLocks xmlns:a="http://schemas.openxmlformats.org/drawingml/2006/main" noChangeAspect="1"/>
          </p:cNvPicPr>
          <p:nvPr/>
        </p:nvPicPr>
        <p:blipFill>
          <a:blip xmlns:r="http://schemas.openxmlformats.org/officeDocument/2006/relationships" xmlns:a="http://schemas.openxmlformats.org/drawingml/2006/main" r:embed="R1332ccd4c72c48bd"/>
          <a:stretch xmlns:a="http://schemas.openxmlformats.org/drawingml/2006/main">
            <a:fillRect/>
          </a:stretch>
        </p:blipFill>
        <p:spPr>
          <a:xfrm xmlns:a="http://schemas.openxmlformats.org/drawingml/2006/main">
            <a:off x="529200" y="1961640"/>
            <a:ext cx="3728520" cy="341280"/>
          </a:xfrm>
          <a:prstGeom xmlns:a="http://schemas.openxmlformats.org/drawingml/2006/main" prst="rect">
            <a:avLst/>
          </a:prstGeom>
        </p:spPr>
      </p:pic>
      <p:sp>
        <p:nvSpPr>
          <p:cNvPr id="100239" name="Text9"/>
          <p:cNvSpPr txBox="1"/>
          <p:nvPr/>
        </p:nvSpPr>
        <p:spPr>
          <a:xfrm xmlns:a="http://schemas.openxmlformats.org/drawingml/2006/main">
            <a:off x="457200" y="2436120"/>
            <a:ext cx="5247720" cy="22622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左辺は b</a:t>
            </a:r>
            <a:r>
              <a:rPr lang="en-US" sz="2000" b="0" baseline="30000">
                <a:solidFill>
                  <a:srgbClr val="1F2933"/>
                </a:solidFill>
                <a:latin typeface="Noto Sans JP"/>
                <a:ea typeface="Noto Sans JP"/>
              </a:rPr>
              <a:t>k</a:t>
            </a:r>
            <a:r>
              <a:rPr lang="en-US" sz="2000" b="0">
                <a:solidFill>
                  <a:srgbClr val="1F2933"/>
                </a:solidFill>
                <a:latin typeface="Noto Sans JP"/>
                <a:ea typeface="Noto Sans JP"/>
              </a:rPr>
              <a:t xml:space="preserve"> の倍数なので、右辺 a</a:t>
            </a:r>
            <a:r>
              <a:rPr lang="en-US" sz="2000" b="0" baseline="30000">
                <a:solidFill>
                  <a:srgbClr val="1F2933"/>
                </a:solidFill>
                <a:latin typeface="Noto Sans JP"/>
                <a:ea typeface="Noto Sans JP"/>
              </a:rPr>
              <a:t>k</a:t>
            </a:r>
            <a:r>
              <a:rPr lang="en-US" sz="2000" b="0">
                <a:solidFill>
                  <a:srgbClr val="1F2933"/>
                </a:solidFill>
                <a:latin typeface="Noto Sans JP"/>
                <a:ea typeface="Noto Sans JP"/>
              </a:rPr>
              <a:t>D</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も b</a:t>
            </a:r>
            <a:r>
              <a:rPr lang="en-US" sz="2000" b="0" baseline="30000">
                <a:solidFill>
                  <a:srgbClr val="1F2933"/>
                </a:solidFill>
                <a:latin typeface="Noto Sans JP"/>
                <a:ea typeface="Noto Sans JP"/>
              </a:rPr>
              <a:t>k</a:t>
            </a:r>
            <a:r>
              <a:rPr lang="en-US" sz="2000" b="0">
                <a:solidFill>
                  <a:srgbClr val="1F2933"/>
                </a:solidFill>
                <a:latin typeface="Noto Sans JP"/>
                <a:ea typeface="Noto Sans JP"/>
              </a:rPr>
              <a:t xml:space="preserve"> の倍数。a</a:t>
            </a:r>
            <a:r>
              <a:rPr lang="en-US" sz="2000" b="0" baseline="30000">
                <a:solidFill>
                  <a:srgbClr val="1F2933"/>
                </a:solidFill>
                <a:latin typeface="Noto Sans JP"/>
                <a:ea typeface="Noto Sans JP"/>
              </a:rPr>
              <a:t>k</a:t>
            </a:r>
            <a:r>
              <a:rPr lang="en-US" sz="2000" b="0">
                <a:solidFill>
                  <a:srgbClr val="1F2933"/>
                </a:solidFill>
                <a:latin typeface="Noto Sans JP"/>
                <a:ea typeface="Noto Sans JP"/>
              </a:rPr>
              <a:t xml:space="preserve"> と b</a:t>
            </a:r>
            <a:r>
              <a:rPr lang="en-US" sz="2000" b="0" baseline="30000">
                <a:solidFill>
                  <a:srgbClr val="1F2933"/>
                </a:solidFill>
                <a:latin typeface="Noto Sans JP"/>
                <a:ea typeface="Noto Sans JP"/>
              </a:rPr>
              <a:t>k</a:t>
            </a:r>
            <a:r>
              <a:rPr lang="en-US" sz="2000" b="0">
                <a:solidFill>
                  <a:srgbClr val="1F2933"/>
                </a:solidFill>
                <a:latin typeface="Noto Sans JP"/>
                <a:ea typeface="Noto Sans JP"/>
              </a:rPr>
              <a:t xml:space="preserve"> は互いに素なので、b</a:t>
            </a:r>
            <a:r>
              <a:rPr lang="en-US" sz="2000" b="0" baseline="30000">
                <a:solidFill>
                  <a:srgbClr val="1F2933"/>
                </a:solidFill>
                <a:latin typeface="Noto Sans JP"/>
                <a:ea typeface="Noto Sans JP"/>
              </a:rPr>
              <a:t>k</a:t>
            </a:r>
            <a:r>
              <a:rPr lang="en-US" sz="2000" b="0">
                <a:solidFill>
                  <a:srgbClr val="1F2933"/>
                </a:solidFill>
                <a:latin typeface="Noto Sans JP"/>
                <a:ea typeface="Noto Sans JP"/>
              </a:rPr>
              <a:t xml:space="preserve"> は D</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を割り切ります。</a:t>
            </a:r>
          </a:p>
          <a:p xmlns:a="http://schemas.openxmlformats.org/drawingml/2006/main">
            <a:pPr algn="l">
              <a:lnSpc>
                <a:spcPct val="112000"/>
              </a:lnSpc>
              <a:spcBef>
                <a:spcPts val="400"/>
              </a:spcBef>
            </a:pPr>
            <a:r>
              <a:rPr lang="en-US" sz="2000" b="0">
                <a:solidFill>
                  <a:srgbClr val="1F2933"/>
                </a:solidFill>
                <a:latin typeface="Noto Sans JP"/>
                <a:ea typeface="Noto Sans JP"/>
              </a:rPr>
              <a:t>これがすべての k で成り立ちます。b ≥ 2 なので、そんな整数は D</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 0 だけです。</a:t>
            </a:r>
          </a:p>
        </p:txBody>
      </p:sp>
      <p:pic>
        <p:nvPicPr>
          <p:cNvPr id="100240" name="Pic10" descr="図: 5 のべき 5, 25, 125, 625, 3125 を棒で示し、0 でない例 D_0 = 250 は 125 までしか割り切れないことを示す図。"/>
          <p:cNvPicPr>
            <a:picLocks xmlns:a="http://schemas.openxmlformats.org/drawingml/2006/main" noChangeAspect="1"/>
          </p:cNvPicPr>
          <p:nvPr/>
        </p:nvPicPr>
        <p:blipFill>
          <a:blip xmlns:r="http://schemas.openxmlformats.org/officeDocument/2006/relationships" xmlns:a="http://schemas.openxmlformats.org/drawingml/2006/main" r:embed="R78f96fb8f19e4136"/>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241"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2</a:t>
            </a:r>
          </a:p>
        </p:txBody>
      </p:sp>
      <p:sp>
        <p:nvSpPr>
          <p:cNvPr id="100242"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補題4の証明 (2): 周期なら同じ値に戻る</a:t>
            </a:r>
          </a:p>
        </p:txBody>
      </p:sp>
      <p:sp>
        <p:nvSpPr>
          <p:cNvPr id="100243"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25 / 99</a:t>
            </a:r>
          </a:p>
        </p:txBody>
      </p:sp>
      <p:sp>
        <p:nvSpPr>
          <p:cNvPr id="100244"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45"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46"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周期的なら Q</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 Q</a:t>
            </a:r>
            <a:r>
              <a:rPr lang="en-US" sz="1800" b="0" baseline="-25000">
                <a:solidFill>
                  <a:srgbClr val="1F2933"/>
                </a:solidFill>
                <a:latin typeface="Noto Sans JP"/>
                <a:ea typeface="Noto Sans JP"/>
              </a:rPr>
              <a:t>N+L</a:t>
            </a:r>
            <a:r>
              <a:rPr lang="en-US" sz="1800" b="0">
                <a:solidFill>
                  <a:srgbClr val="1F2933"/>
                </a:solidFill>
                <a:latin typeface="Noto Sans JP"/>
                <a:ea typeface="Noto Sans JP"/>
              </a:rPr>
              <a:t xml:space="preserve"> = … となり、項が大きくなることと矛盾します。</a:t>
            </a:r>
          </a:p>
        </p:txBody>
      </p:sp>
      <p:sp>
        <p:nvSpPr>
          <p:cNvPr id="100247"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が n ≥ N で周期 L だと仮定します。m ≥ N を1つ固定して</a:t>
            </a:r>
          </a:p>
        </p:txBody>
      </p:sp>
      <p:pic>
        <p:nvPicPr>
          <p:cNvPr id="100248" name="Pic8" descr="数式: D_k=Q_{m+k+L}-Q_{m+k}"/>
          <p:cNvPicPr>
            <a:picLocks xmlns:a="http://schemas.openxmlformats.org/drawingml/2006/main" noChangeAspect="1"/>
          </p:cNvPicPr>
          <p:nvPr/>
        </p:nvPicPr>
        <p:blipFill>
          <a:blip xmlns:r="http://schemas.openxmlformats.org/officeDocument/2006/relationships" xmlns:a="http://schemas.openxmlformats.org/drawingml/2006/main" r:embed="R5b97d6e0bfbb4658"/>
          <a:stretch xmlns:a="http://schemas.openxmlformats.org/drawingml/2006/main">
            <a:fillRect/>
          </a:stretch>
        </p:blipFill>
        <p:spPr>
          <a:xfrm xmlns:a="http://schemas.openxmlformats.org/drawingml/2006/main">
            <a:off x="529200" y="1961640"/>
            <a:ext cx="2644560" cy="282240"/>
          </a:xfrm>
          <a:prstGeom xmlns:a="http://schemas.openxmlformats.org/drawingml/2006/main" prst="rect">
            <a:avLst/>
          </a:prstGeom>
        </p:spPr>
      </p:pic>
      <p:sp>
        <p:nvSpPr>
          <p:cNvPr id="100249" name="Text9"/>
          <p:cNvSpPr txBox="1"/>
          <p:nvPr/>
        </p:nvSpPr>
        <p:spPr>
          <a:xfrm xmlns:a="http://schemas.openxmlformats.org/drawingml/2006/main">
            <a:off x="457200" y="2377080"/>
            <a:ext cx="5247720" cy="267192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とおくと、2つの式 b·Q</a:t>
            </a:r>
            <a:r>
              <a:rPr lang="en-US" sz="2000" b="0" baseline="-25000">
                <a:solidFill>
                  <a:srgbClr val="1F2933"/>
                </a:solidFill>
                <a:latin typeface="Noto Sans JP"/>
                <a:ea typeface="Noto Sans JP"/>
              </a:rPr>
              <a:t>n+1</a:t>
            </a:r>
            <a:r>
              <a:rPr lang="en-US" sz="2000" b="0">
                <a:solidFill>
                  <a:srgbClr val="1F2933"/>
                </a:solidFill>
                <a:latin typeface="Noto Sans JP"/>
                <a:ea typeface="Noto Sans JP"/>
              </a:rPr>
              <a:t xml:space="preserve"> = a·Q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 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を引き算して b·D</a:t>
            </a:r>
            <a:r>
              <a:rPr lang="en-US" sz="2000" b="0" baseline="-25000">
                <a:solidFill>
                  <a:srgbClr val="1F2933"/>
                </a:solidFill>
                <a:latin typeface="Noto Sans JP"/>
                <a:ea typeface="Noto Sans JP"/>
              </a:rPr>
              <a:t>k+1</a:t>
            </a:r>
            <a:r>
              <a:rPr lang="en-US" sz="2000" b="0">
                <a:solidFill>
                  <a:srgbClr val="1F2933"/>
                </a:solidFill>
                <a:latin typeface="Noto Sans JP"/>
                <a:ea typeface="Noto Sans JP"/>
              </a:rPr>
              <a:t xml:space="preserve"> = a·D</a:t>
            </a:r>
            <a:r>
              <a:rPr lang="en-US" sz="2000" b="0" baseline="-25000">
                <a:solidFill>
                  <a:srgbClr val="1F2933"/>
                </a:solidFill>
                <a:latin typeface="Noto Sans JP"/>
                <a:ea typeface="Noto Sans JP"/>
              </a:rPr>
              <a:t>k</a:t>
            </a:r>
            <a:r>
              <a:rPr lang="en-US" sz="2000" b="0">
                <a:solidFill>
                  <a:srgbClr val="1F2933"/>
                </a:solidFill>
                <a:latin typeface="Noto Sans JP"/>
                <a:ea typeface="Noto Sans JP"/>
              </a:rPr>
              <a:t>。前の頁から D</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 0、つまり Q</a:t>
            </a:r>
            <a:r>
              <a:rPr lang="en-US" sz="2000" b="0" baseline="-25000">
                <a:solidFill>
                  <a:srgbClr val="1F2933"/>
                </a:solidFill>
                <a:latin typeface="Noto Sans JP"/>
                <a:ea typeface="Noto Sans JP"/>
              </a:rPr>
              <a:t>m+L</a:t>
            </a:r>
            <a:r>
              <a:rPr lang="en-US" sz="2000" b="0">
                <a:solidFill>
                  <a:srgbClr val="1F2933"/>
                </a:solidFill>
                <a:latin typeface="Noto Sans JP"/>
                <a:ea typeface="Noto Sans JP"/>
              </a:rPr>
              <a:t xml:space="preserve"> = Q</a:t>
            </a:r>
            <a:r>
              <a:rPr lang="en-US" sz="2000" b="0" baseline="-25000">
                <a:solidFill>
                  <a:srgbClr val="1F2933"/>
                </a:solidFill>
                <a:latin typeface="Noto Sans JP"/>
                <a:ea typeface="Noto Sans JP"/>
              </a:rPr>
              <a:t>m</a:t>
            </a:r>
            <a:r>
              <a:rPr lang="en-US" sz="2000" b="0">
                <a:solidFill>
                  <a:srgbClr val="1F2933"/>
                </a:solidFill>
                <a:latin typeface="Noto Sans JP"/>
                <a:ea typeface="Noto Sans JP"/>
              </a:rPr>
              <a:t xml:space="preserve"> です。</a:t>
            </a:r>
          </a:p>
          <a:p xmlns:a="http://schemas.openxmlformats.org/drawingml/2006/main">
            <a:pPr algn="l">
              <a:lnSpc>
                <a:spcPct val="112000"/>
              </a:lnSpc>
              <a:spcBef>
                <a:spcPts val="400"/>
              </a:spcBef>
            </a:pPr>
            <a:r>
              <a:rPr lang="en-US" sz="2000" b="0">
                <a:solidFill>
                  <a:srgbClr val="1F2933"/>
                </a:solidFill>
                <a:latin typeface="Noto Sans JP"/>
                <a:ea typeface="Noto Sans JP"/>
              </a:rPr>
              <a:t>これが全ての m ≥ N で成り立つので 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 Q</a:t>
            </a:r>
            <a:r>
              <a:rPr lang="en-US" sz="2000" b="0" baseline="-25000">
                <a:solidFill>
                  <a:srgbClr val="1F2933"/>
                </a:solidFill>
                <a:latin typeface="Noto Sans JP"/>
                <a:ea typeface="Noto Sans JP"/>
              </a:rPr>
              <a:t>N+L</a:t>
            </a:r>
            <a:r>
              <a:rPr lang="en-US" sz="2000" b="0">
                <a:solidFill>
                  <a:srgbClr val="1F2933"/>
                </a:solidFill>
                <a:latin typeface="Noto Sans JP"/>
                <a:ea typeface="Noto Sans JP"/>
              </a:rPr>
              <a:t xml:space="preserve"> = Q</a:t>
            </a:r>
            <a:r>
              <a:rPr lang="en-US" sz="2000" b="0" baseline="-25000">
                <a:solidFill>
                  <a:srgbClr val="1F2933"/>
                </a:solidFill>
                <a:latin typeface="Noto Sans JP"/>
                <a:ea typeface="Noto Sans JP"/>
              </a:rPr>
              <a:t>N+2L</a:t>
            </a:r>
            <a:r>
              <a:rPr lang="en-US" sz="2000" b="0">
                <a:solidFill>
                  <a:srgbClr val="1F2933"/>
                </a:solidFill>
                <a:latin typeface="Noto Sans JP"/>
                <a:ea typeface="Noto Sans JP"/>
              </a:rPr>
              <a:t xml:space="preserve"> = … となり、項がいくらでも大きくなることに矛盾します。</a:t>
            </a:r>
          </a:p>
        </p:txBody>
      </p:sp>
      <p:pic>
        <p:nvPicPr>
          <p:cNvPr id="100250" name="Pic10" descr="図: 周期的なら Q_N, Q_{N+L}, … が同じ値になるはずだが、実際の ξ=1 の項は増えていくことを、対数目盛りの散布図で示す。"/>
          <p:cNvPicPr>
            <a:picLocks xmlns:a="http://schemas.openxmlformats.org/drawingml/2006/main" noChangeAspect="1"/>
          </p:cNvPicPr>
          <p:nvPr/>
        </p:nvPicPr>
        <p:blipFill>
          <a:blip xmlns:r="http://schemas.openxmlformats.org/officeDocument/2006/relationships" xmlns:a="http://schemas.openxmlformats.org/drawingml/2006/main" r:embed="R76ef40ce06344155"/>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26.xml><?xml version="1.0" encoding="utf-8"?>
<p:sld xmlns:p="http://schemas.openxmlformats.org/presentationml/2006/main">
  <p:cSld>
    <p:bg>
      <p:bgPr>
        <a:solidFill xmlns:a="http://schemas.openxmlformats.org/drawingml/2006/main">
          <a:srgbClr val="1B2A41"/>
        </a:solidFill>
      </p:bgPr>
    </p:bg>
    <p:spTree>
      <p:nvGrpSpPr>
        <p:cNvPr id="1" name=""/>
        <p:cNvGrpSpPr/>
        <p:nvPr/>
      </p:nvGrpSpPr>
      <p:grpSpPr/>
      <p:sp>
        <p:nvSpPr>
          <p:cNvPr id="100251" name="SecNum1"/>
          <p:cNvSpPr txBox="1"/>
          <p:nvPr/>
        </p:nvSpPr>
        <p:spPr>
          <a:xfrm xmlns:a="http://schemas.openxmlformats.org/drawingml/2006/main">
            <a:off x="792000" y="1080000"/>
            <a:ext cx="2160000" cy="1944000"/>
          </a:xfrm>
          <a:prstGeom xmlns:a="http://schemas.openxmlformats.org/drawingml/2006/main" prst="rect">
            <a:avLst/>
          </a:prstGeom>
          <a:noFill xmlns:a="http://schemas.openxmlformats.org/drawingml/2006/main"/>
        </p:spPr>
        <p:txBody>
          <a:bodyPr xmlns:a="http://schemas.openxmlformats.org/drawingml/2006/main" lIns="0" tIns="0" rIns="0" bIns="0" anchor="b">
            <a:noAutofit/>
          </a:bodyPr>
          <a:lstStyle xmlns:a="http://schemas.openxmlformats.org/drawingml/2006/main"/>
          <a:p xmlns:a="http://schemas.openxmlformats.org/drawingml/2006/main">
            <a:pPr algn="l">
              <a:lnSpc>
                <a:spcPct val="112000"/>
              </a:lnSpc>
            </a:pPr>
            <a:r>
              <a:rPr lang="en-US" sz="11000" b="1">
                <a:solidFill>
                  <a:srgbClr val="D97B1F"/>
                </a:solidFill>
                <a:latin typeface="Noto Sans JP"/>
                <a:ea typeface="Noto Sans JP"/>
              </a:rPr>
              <a:t>3</a:t>
            </a:r>
          </a:p>
        </p:txBody>
      </p:sp>
      <p:sp>
        <p:nvSpPr>
          <p:cNvPr id="100252" name="SecTitle2"/>
          <p:cNvSpPr txBox="1"/>
          <p:nvPr/>
        </p:nvSpPr>
        <p:spPr>
          <a:xfrm xmlns:a="http://schemas.openxmlformats.org/drawingml/2006/main">
            <a:off x="792000" y="3096000"/>
            <a:ext cx="10608120" cy="79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4000" b="1">
                <a:solidFill>
                  <a:srgbClr val="FFFFFF"/>
                </a:solidFill>
                <a:latin typeface="Noto Sans JP"/>
                <a:ea typeface="Noto Sans JP"/>
              </a:rPr>
              <a:t>1ステップ法</a:t>
            </a:r>
          </a:p>
        </p:txBody>
      </p:sp>
      <p:sp>
        <p:nvSpPr>
          <p:cNvPr id="100253" name="Text3"/>
          <p:cNvSpPr txBox="1"/>
          <p:nvPr/>
        </p:nvSpPr>
        <p:spPr>
          <a:xfrm xmlns:a="http://schemas.openxmlformats.org/drawingml/2006/main">
            <a:off x="792000" y="3996000"/>
            <a:ext cx="100321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FFFFFF"/>
                </a:solidFill>
                <a:latin typeface="Noto Sans JP"/>
                <a:ea typeface="Noto Sans JP"/>
              </a:rPr>
              <a:t>数列の「状態」を有限個にまとめてグラフを作り、周期的な部分を取り除いていく</a:t>
            </a:r>
          </a:p>
        </p:txBody>
      </p:sp>
      <p:sp>
        <p:nvSpPr>
          <p:cNvPr id="100254" name="PageNo4"/>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9FB0C3"/>
                </a:solidFill>
                <a:latin typeface="Noto Sans JP"/>
                <a:ea typeface="Noto Sans JP"/>
              </a:rPr>
              <a:t>26 / 99</a:t>
            </a:r>
          </a:p>
        </p:txBody>
      </p:sp>
    </p:spTree>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255"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256"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あまりと合同式</a:t>
            </a:r>
          </a:p>
        </p:txBody>
      </p:sp>
      <p:sp>
        <p:nvSpPr>
          <p:cNvPr id="100257"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27 / 99</a:t>
            </a:r>
          </a:p>
        </p:txBody>
      </p:sp>
      <p:sp>
        <p:nvSpPr>
          <p:cNvPr id="100258"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59"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60"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「互いに素かどうか」は M で割ったあまりだけで決まるので、有限個の場合に分けられます。</a:t>
            </a:r>
          </a:p>
        </p:txBody>
      </p:sp>
      <p:sp>
        <p:nvSpPr>
          <p:cNvPr id="100261" name="Term7"/>
          <p:cNvSpPr txBox="1"/>
          <p:nvPr/>
        </p:nvSpPr>
        <p:spPr>
          <a:xfrm xmlns:a="http://schemas.openxmlformats.org/drawingml/2006/main">
            <a:off x="457200" y="108000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Q mod M</a:t>
            </a:r>
          </a:p>
          <a:p xmlns:a="http://schemas.openxmlformats.org/drawingml/2006/main">
            <a:pPr algn="l">
              <a:lnSpc>
                <a:spcPct val="112000"/>
              </a:lnSpc>
              <a:spcBef>
                <a:spcPts val="200"/>
              </a:spcBef>
            </a:pPr>
            <a:r>
              <a:rPr lang="en-US" sz="1800" b="0">
                <a:solidFill>
                  <a:srgbClr val="1F2933"/>
                </a:solidFill>
                <a:latin typeface="Noto Sans JP"/>
                <a:ea typeface="Noto Sans JP"/>
              </a:rPr>
              <a:t>整数 Q を M で割ったあまり（0 以上 M 未満）。</a:t>
            </a:r>
          </a:p>
        </p:txBody>
      </p:sp>
      <p:sp>
        <p:nvSpPr>
          <p:cNvPr id="100262" name="Term8"/>
          <p:cNvSpPr txBox="1"/>
          <p:nvPr/>
        </p:nvSpPr>
        <p:spPr>
          <a:xfrm xmlns:a="http://schemas.openxmlformats.org/drawingml/2006/main">
            <a:off x="457200" y="249264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合同式 x ≡ y (mod M)</a:t>
            </a:r>
          </a:p>
          <a:p xmlns:a="http://schemas.openxmlformats.org/drawingml/2006/main">
            <a:pPr algn="l">
              <a:lnSpc>
                <a:spcPct val="112000"/>
              </a:lnSpc>
              <a:spcBef>
                <a:spcPts val="200"/>
              </a:spcBef>
            </a:pPr>
            <a:r>
              <a:rPr lang="en-US" sz="1800" b="0">
                <a:solidFill>
                  <a:srgbClr val="1F2933"/>
                </a:solidFill>
                <a:latin typeface="Noto Sans JP"/>
                <a:ea typeface="Noto Sans JP"/>
              </a:rPr>
              <a:t>x − y が M で割り切れること。「x と y は M で割ったあまりが等しい」と同じ。</a:t>
            </a:r>
          </a:p>
        </p:txBody>
      </p:sp>
      <p:sp>
        <p:nvSpPr>
          <p:cNvPr id="100263" name="Text9"/>
          <p:cNvSpPr txBox="1"/>
          <p:nvPr/>
        </p:nvSpPr>
        <p:spPr>
          <a:xfrm xmlns:a="http://schemas.openxmlformats.org/drawingml/2006/main">
            <a:off x="457200" y="3905280"/>
            <a:ext cx="5247720" cy="176472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例: 4319 ≡ 29 (mod 4290)。</a:t>
            </a:r>
          </a:p>
          <a:p xmlns:a="http://schemas.openxmlformats.org/drawingml/2006/main">
            <a:pPr algn="l">
              <a:lnSpc>
                <a:spcPct val="112000"/>
              </a:lnSpc>
              <a:spcBef>
                <a:spcPts val="400"/>
              </a:spcBef>
            </a:pPr>
            <a:r>
              <a:rPr lang="en-US" sz="2000" b="0">
                <a:solidFill>
                  <a:srgbClr val="1F2933"/>
                </a:solidFill>
                <a:latin typeface="Noto Sans JP"/>
                <a:ea typeface="Noto Sans JP"/>
              </a:rPr>
              <a:t>Q が 4290 と互いに素かは Q mod 4290 だけで決まります。互いに素なあまりの個数を φ(M) と書き、φ(4290) = 960 です。</a:t>
            </a:r>
          </a:p>
        </p:txBody>
      </p:sp>
      <p:pic>
        <p:nvPicPr>
          <p:cNvPr id="100264" name="Pic10" descr="図: 10 で割ったあまりを時計の形に並べ、10 と互いに素な 1, 3, 7, 9 を色付けした図と、φ(4290) = 960 の計算。"/>
          <p:cNvPicPr>
            <a:picLocks xmlns:a="http://schemas.openxmlformats.org/drawingml/2006/main" noChangeAspect="1"/>
          </p:cNvPicPr>
          <p:nvPr/>
        </p:nvPicPr>
        <p:blipFill>
          <a:blip xmlns:r="http://schemas.openxmlformats.org/officeDocument/2006/relationships" xmlns:a="http://schemas.openxmlformats.org/drawingml/2006/main" r:embed="Rc2350af59d694dd0"/>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265"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266"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セル: 小数部分を K 等分する</a:t>
            </a:r>
          </a:p>
        </p:txBody>
      </p:sp>
      <p:sp>
        <p:nvSpPr>
          <p:cNvPr id="100267"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28 / 99</a:t>
            </a:r>
          </a:p>
        </p:txBody>
      </p:sp>
      <p:sp>
        <p:nvSpPr>
          <p:cNvPr id="100268"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69"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70"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θ</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の正確な値の代わりに、「K 等分したどの小区間にあるか」だけを使います。</a:t>
            </a:r>
          </a:p>
        </p:txBody>
      </p:sp>
      <p:sp>
        <p:nvSpPr>
          <p:cNvPr id="100271" name="Text7"/>
          <p:cNvSpPr txBox="1"/>
          <p:nvPr/>
        </p:nvSpPr>
        <p:spPr>
          <a:xfrm xmlns:a="http://schemas.openxmlformats.org/drawingml/2006/main">
            <a:off x="457200" y="1080000"/>
            <a:ext cx="5247720" cy="22622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小数部分 θ</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は 0 以上 1 未満の実数で、無限に多くの値があります。</a:t>
            </a:r>
          </a:p>
          <a:p xmlns:a="http://schemas.openxmlformats.org/drawingml/2006/main">
            <a:pPr algn="l">
              <a:lnSpc>
                <a:spcPct val="112000"/>
              </a:lnSpc>
              <a:spcBef>
                <a:spcPts val="400"/>
              </a:spcBef>
            </a:pPr>
            <a:r>
              <a:rPr lang="en-US" sz="2000" b="0">
                <a:solidFill>
                  <a:srgbClr val="1F2933"/>
                </a:solidFill>
                <a:latin typeface="Noto Sans JP"/>
                <a:ea typeface="Noto Sans JP"/>
              </a:rPr>
              <a:t>そこで区間 [0, 1) を K 個の等しい小区間に分け、θ</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がどれに入るかだけを記録します。</a:t>
            </a:r>
          </a:p>
        </p:txBody>
      </p:sp>
      <p:sp>
        <p:nvSpPr>
          <p:cNvPr id="100272" name="Term8"/>
          <p:cNvSpPr txBox="1"/>
          <p:nvPr/>
        </p:nvSpPr>
        <p:spPr>
          <a:xfrm xmlns:a="http://schemas.openxmlformats.org/drawingml/2006/main">
            <a:off x="457200" y="303588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セル</a:t>
            </a:r>
          </a:p>
          <a:p xmlns:a="http://schemas.openxmlformats.org/drawingml/2006/main">
            <a:pPr algn="l">
              <a:lnSpc>
                <a:spcPct val="112000"/>
              </a:lnSpc>
              <a:spcBef>
                <a:spcPts val="200"/>
              </a:spcBef>
            </a:pPr>
            <a:r>
              <a:rPr lang="en-US" sz="1800" b="0">
                <a:solidFill>
                  <a:srgbClr val="1F2933"/>
                </a:solidFill>
                <a:latin typeface="Noto Sans JP"/>
                <a:ea typeface="Noto Sans JP"/>
              </a:rPr>
              <a:t>小区間 [j/K, (j+1)/K) のこと。番号 j は </a:t>
            </a:r>
            <a:r>
              <a:rPr lang="en-US" sz="1800" b="0">
                <a:solidFill>
                  <a:srgbClr val="1F2933"/>
                </a:solidFill>
                <a:latin typeface="Noto Sans Math"/>
                <a:ea typeface="Noto Sans Math"/>
              </a:rPr>
              <a:t>⌊</a:t>
            </a:r>
            <a:r>
              <a:rPr lang="en-US" sz="1800" b="0">
                <a:solidFill>
                  <a:srgbClr val="1F2933"/>
                </a:solidFill>
                <a:latin typeface="Noto Sans JP"/>
                <a:ea typeface="Noto Sans JP"/>
              </a:rPr>
              <a:t>K·θ</a:t>
            </a:r>
            <a:r>
              <a:rPr lang="en-US" sz="1800" b="0" baseline="-25000">
                <a:solidFill>
                  <a:srgbClr val="1F2933"/>
                </a:solidFill>
                <a:latin typeface="Noto Sans JP"/>
                <a:ea typeface="Noto Sans JP"/>
              </a:rPr>
              <a:t>n</a:t>
            </a:r>
            <a:r>
              <a:rPr lang="en-US" sz="1800" b="0">
                <a:solidFill>
                  <a:srgbClr val="1F2933"/>
                </a:solidFill>
                <a:latin typeface="Noto Sans Math"/>
                <a:ea typeface="Noto Sans Math"/>
              </a:rPr>
              <a:t>⌋</a:t>
            </a:r>
            <a:r>
              <a:rPr lang="en-US" sz="1800" b="0">
                <a:solidFill>
                  <a:srgbClr val="1F2933"/>
                </a:solidFill>
                <a:latin typeface="Noto Sans JP"/>
                <a:ea typeface="Noto Sans JP"/>
              </a:rPr>
              <a:t xml:space="preserve"> で求まる（0 ≤ j &lt; K）。</a:t>
            </a:r>
          </a:p>
        </p:txBody>
      </p:sp>
      <p:sp>
        <p:nvSpPr>
          <p:cNvPr id="100273" name="Text9"/>
          <p:cNvSpPr txBox="1"/>
          <p:nvPr/>
        </p:nvSpPr>
        <p:spPr>
          <a:xfrm xmlns:a="http://schemas.openxmlformats.org/drawingml/2006/main">
            <a:off x="457200" y="444852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例: K = 4、θ = 0.4 なら 4 × 0.4 = 1.6 なので j = 1 です。</a:t>
            </a:r>
          </a:p>
        </p:txBody>
      </p:sp>
      <p:pic>
        <p:nvPicPr>
          <p:cNvPr id="100274" name="Pic10" descr="図: 区間 [0,1) を 4 等分したセルの図。θ = 0.4 はセル 1 に入る。セルは左端を含み右端を含まない。"/>
          <p:cNvPicPr>
            <a:picLocks xmlns:a="http://schemas.openxmlformats.org/drawingml/2006/main" noChangeAspect="1"/>
          </p:cNvPicPr>
          <p:nvPr/>
        </p:nvPicPr>
        <p:blipFill>
          <a:blip xmlns:r="http://schemas.openxmlformats.org/officeDocument/2006/relationships" xmlns:a="http://schemas.openxmlformats.org/drawingml/2006/main" r:embed="Re0fa53c4d1594deb"/>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275"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276"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状態 σ</a:t>
            </a:r>
            <a:r>
              <a:rPr lang="en-US" sz="3200" b="1" baseline="-25000">
                <a:solidFill>
                  <a:srgbClr val="1B2A41"/>
                </a:solidFill>
                <a:latin typeface="Noto Sans JP"/>
                <a:ea typeface="Noto Sans JP"/>
              </a:rPr>
              <a:t>K</a:t>
            </a:r>
            <a:r>
              <a:rPr lang="en-US" sz="3200" b="1">
                <a:solidFill>
                  <a:srgbClr val="1B2A41"/>
                </a:solidFill>
                <a:latin typeface="Noto Sans JP"/>
                <a:ea typeface="Noto Sans JP"/>
              </a:rPr>
              <a:t>(n) = (あまり, セル)</a:t>
            </a:r>
          </a:p>
        </p:txBody>
      </p:sp>
      <p:sp>
        <p:nvSpPr>
          <p:cNvPr id="100277"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29 / 99</a:t>
            </a:r>
          </a:p>
        </p:txBody>
      </p:sp>
      <p:sp>
        <p:nvSpPr>
          <p:cNvPr id="100278"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79"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80"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状態は「あまり」と「セル番号」の組で、互いに素な状態は有限個（960·K 個）しかありません。</a:t>
            </a:r>
          </a:p>
        </p:txBody>
      </p:sp>
      <p:sp>
        <p:nvSpPr>
          <p:cNvPr id="100281"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番号 n での数列の様子を、2つの整数の組で表します。</a:t>
            </a:r>
          </a:p>
        </p:txBody>
      </p:sp>
      <p:pic>
        <p:nvPicPr>
          <p:cNvPr id="100282" name="Pic8" descr="数式: \sigma_K(n)=\bigl(\,Q_n \bmod M,\ \ \lfloor K\theta_n\rfloor\,\bigr)"/>
          <p:cNvPicPr>
            <a:picLocks xmlns:a="http://schemas.openxmlformats.org/drawingml/2006/main" noChangeAspect="1"/>
          </p:cNvPicPr>
          <p:nvPr/>
        </p:nvPicPr>
        <p:blipFill>
          <a:blip xmlns:r="http://schemas.openxmlformats.org/officeDocument/2006/relationships" xmlns:a="http://schemas.openxmlformats.org/drawingml/2006/main" r:embed="R875412e8e31f4f0f"/>
          <a:stretch xmlns:a="http://schemas.openxmlformats.org/drawingml/2006/main">
            <a:fillRect/>
          </a:stretch>
        </p:blipFill>
        <p:spPr>
          <a:xfrm xmlns:a="http://schemas.openxmlformats.org/drawingml/2006/main">
            <a:off x="529200" y="1961640"/>
            <a:ext cx="3610800" cy="355680"/>
          </a:xfrm>
          <a:prstGeom xmlns:a="http://schemas.openxmlformats.org/drawingml/2006/main" prst="rect">
            <a:avLst/>
          </a:prstGeom>
        </p:spPr>
      </p:pic>
      <p:sp>
        <p:nvSpPr>
          <p:cNvPr id="100283" name="Text9"/>
          <p:cNvSpPr txBox="1"/>
          <p:nvPr/>
        </p:nvSpPr>
        <p:spPr>
          <a:xfrm xmlns:a="http://schemas.openxmlformats.org/drawingml/2006/main">
            <a:off x="457200" y="2450520"/>
            <a:ext cx="52477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例: ξ = 2, M = 4290, K = 4 のとき</a:t>
            </a:r>
          </a:p>
        </p:txBody>
      </p:sp>
      <p:pic>
        <p:nvPicPr>
          <p:cNvPr id="100284" name="Pic10" descr="数式: \sigma_4(8)=(29,\,2),\qquad \sigma_4(9)=(41,\,1)"/>
          <p:cNvPicPr>
            <a:picLocks xmlns:a="http://schemas.openxmlformats.org/drawingml/2006/main" noChangeAspect="1"/>
          </p:cNvPicPr>
          <p:nvPr/>
        </p:nvPicPr>
        <p:blipFill>
          <a:blip xmlns:r="http://schemas.openxmlformats.org/officeDocument/2006/relationships" xmlns:a="http://schemas.openxmlformats.org/drawingml/2006/main" r:embed="R3c92f3d33129439b"/>
          <a:stretch xmlns:a="http://schemas.openxmlformats.org/drawingml/2006/main">
            <a:fillRect/>
          </a:stretch>
        </p:blipFill>
        <p:spPr>
          <a:xfrm xmlns:a="http://schemas.openxmlformats.org/drawingml/2006/main">
            <a:off x="529200" y="2984760"/>
            <a:ext cx="3969000" cy="304560"/>
          </a:xfrm>
          <a:prstGeom xmlns:a="http://schemas.openxmlformats.org/drawingml/2006/main" prst="rect">
            <a:avLst/>
          </a:prstGeom>
        </p:spPr>
      </p:pic>
      <p:sp>
        <p:nvSpPr>
          <p:cNvPr id="100285" name="Text11"/>
          <p:cNvSpPr txBox="1"/>
          <p:nvPr/>
        </p:nvSpPr>
        <p:spPr>
          <a:xfrm xmlns:a="http://schemas.openxmlformats.org/drawingml/2006/main">
            <a:off x="457200" y="342252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が 4290 と互いに素なら、状態は 960 × K 個のどれかです。</a:t>
            </a:r>
          </a:p>
        </p:txBody>
      </p:sp>
      <p:pic>
        <p:nvPicPr>
          <p:cNvPr id="100286" name="Pic12" descr="図: ξ=2 の x_8 ≈ 29.52 と x_9 ≈ 41.32 を、あまり（29, 41）とセル番号（2, 1）に分けて状態 (29, 2), (41, 1) を作る図。"/>
          <p:cNvPicPr>
            <a:picLocks xmlns:a="http://schemas.openxmlformats.org/drawingml/2006/main" noChangeAspect="1"/>
          </p:cNvPicPr>
          <p:nvPr/>
        </p:nvPicPr>
        <p:blipFill>
          <a:blip xmlns:r="http://schemas.openxmlformats.org/officeDocument/2006/relationships" xmlns:a="http://schemas.openxmlformats.org/drawingml/2006/main" r:embed="R79b13b49201446b2"/>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287"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288"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グラフ・辺・ウォーク</a:t>
            </a:r>
          </a:p>
        </p:txBody>
      </p:sp>
      <p:sp>
        <p:nvSpPr>
          <p:cNvPr id="100289"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30 / 99</a:t>
            </a:r>
          </a:p>
        </p:txBody>
      </p:sp>
      <p:sp>
        <p:nvSpPr>
          <p:cNvPr id="100290"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91"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292"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ウォークは矢印をたどる道で、その出力はたどった辺のラベルの列です。</a:t>
            </a:r>
          </a:p>
        </p:txBody>
      </p:sp>
      <p:sp>
        <p:nvSpPr>
          <p:cNvPr id="100293" name="Term7"/>
          <p:cNvSpPr txBox="1"/>
          <p:nvPr/>
        </p:nvSpPr>
        <p:spPr>
          <a:xfrm xmlns:a="http://schemas.openxmlformats.org/drawingml/2006/main">
            <a:off x="457200" y="108000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有向グラフ</a:t>
            </a:r>
          </a:p>
          <a:p xmlns:a="http://schemas.openxmlformats.org/drawingml/2006/main">
            <a:pPr algn="l">
              <a:lnSpc>
                <a:spcPct val="112000"/>
              </a:lnSpc>
              <a:spcBef>
                <a:spcPts val="200"/>
              </a:spcBef>
            </a:pPr>
            <a:r>
              <a:rPr lang="en-US" sz="1800" b="0">
                <a:solidFill>
                  <a:srgbClr val="1F2933"/>
                </a:solidFill>
                <a:latin typeface="Noto Sans JP"/>
                <a:ea typeface="Noto Sans JP"/>
              </a:rPr>
              <a:t>頂点（点）と、向きのある辺（矢印）の集まり。</a:t>
            </a:r>
          </a:p>
        </p:txBody>
      </p:sp>
      <p:sp>
        <p:nvSpPr>
          <p:cNvPr id="100294" name="Term8"/>
          <p:cNvSpPr txBox="1"/>
          <p:nvPr/>
        </p:nvSpPr>
        <p:spPr>
          <a:xfrm xmlns:a="http://schemas.openxmlformats.org/drawingml/2006/main">
            <a:off x="457200" y="2492640"/>
            <a:ext cx="5247720" cy="98496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ラベル</a:t>
            </a:r>
          </a:p>
          <a:p xmlns:a="http://schemas.openxmlformats.org/drawingml/2006/main">
            <a:pPr algn="l">
              <a:lnSpc>
                <a:spcPct val="112000"/>
              </a:lnSpc>
              <a:spcBef>
                <a:spcPts val="200"/>
              </a:spcBef>
            </a:pPr>
            <a:r>
              <a:rPr lang="en-US" sz="1800" b="0">
                <a:solidFill>
                  <a:srgbClr val="1F2933"/>
                </a:solidFill>
                <a:latin typeface="Noto Sans JP"/>
                <a:ea typeface="Noto Sans JP"/>
              </a:rPr>
              <a:t>辺に付けた数（ここでは繰り上がり）。</a:t>
            </a:r>
          </a:p>
        </p:txBody>
      </p:sp>
      <p:sp>
        <p:nvSpPr>
          <p:cNvPr id="100295" name="Term9"/>
          <p:cNvSpPr txBox="1"/>
          <p:nvPr/>
        </p:nvSpPr>
        <p:spPr>
          <a:xfrm xmlns:a="http://schemas.openxmlformats.org/drawingml/2006/main">
            <a:off x="457200" y="359280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ウォーク</a:t>
            </a:r>
          </a:p>
          <a:p xmlns:a="http://schemas.openxmlformats.org/drawingml/2006/main">
            <a:pPr algn="l">
              <a:lnSpc>
                <a:spcPct val="112000"/>
              </a:lnSpc>
              <a:spcBef>
                <a:spcPts val="200"/>
              </a:spcBef>
            </a:pPr>
            <a:r>
              <a:rPr lang="en-US" sz="1800" b="0">
                <a:solidFill>
                  <a:srgbClr val="1F2933"/>
                </a:solidFill>
                <a:latin typeface="Noto Sans JP"/>
                <a:ea typeface="Noto Sans JP"/>
              </a:rPr>
              <a:t>辺の向きに従って頂点を順にたどる列。同じ頂点や辺を何度通ってもよい。</a:t>
            </a:r>
          </a:p>
        </p:txBody>
      </p:sp>
      <p:sp>
        <p:nvSpPr>
          <p:cNvPr id="100296" name="Text10"/>
          <p:cNvSpPr txBox="1"/>
          <p:nvPr/>
        </p:nvSpPr>
        <p:spPr>
          <a:xfrm xmlns:a="http://schemas.openxmlformats.org/drawingml/2006/main">
            <a:off x="457200" y="5005440"/>
            <a:ext cx="5247720" cy="7484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たどったラベルの列を、ウォークの出力とよびます。</a:t>
            </a:r>
          </a:p>
        </p:txBody>
      </p:sp>
      <p:pic>
        <p:nvPicPr>
          <p:cNvPr id="100297" name="Pic11" descr="図: 4頂点 A, B, C, D の有向グラフと、ウォーク A→B→C→A→B→D→D、その出力 2, −2, 4, 2, 6, 2 を示す図。"/>
          <p:cNvPicPr>
            <a:picLocks xmlns:a="http://schemas.openxmlformats.org/drawingml/2006/main" noChangeAspect="1"/>
          </p:cNvPicPr>
          <p:nvPr/>
        </p:nvPicPr>
        <p:blipFill>
          <a:blip xmlns:r="http://schemas.openxmlformats.org/officeDocument/2006/relationships" xmlns:a="http://schemas.openxmlformats.org/drawingml/2006/main" r:embed="Rbfeaff02e5374bde"/>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29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29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辺の3つの条件 (E1)(E2)(E3)</a:t>
            </a:r>
          </a:p>
        </p:txBody>
      </p:sp>
      <p:sp>
        <p:nvSpPr>
          <p:cNvPr id="10030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31 / 99</a:t>
            </a:r>
          </a:p>
        </p:txBody>
      </p:sp>
      <p:sp>
        <p:nvSpPr>
          <p:cNvPr id="10030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0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0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3つの条件は、真の数列の隣り合う2項が必ず満たす性質を、整数の式で書いたものです。</a:t>
            </a:r>
          </a:p>
        </p:txBody>
      </p:sp>
      <p:sp>
        <p:nvSpPr>
          <p:cNvPr id="100304" name="Text7"/>
          <p:cNvSpPr txBox="1"/>
          <p:nvPr/>
        </p:nvSpPr>
        <p:spPr>
          <a:xfrm xmlns:a="http://schemas.openxmlformats.org/drawingml/2006/main">
            <a:off x="457200" y="1080000"/>
            <a:ext cx="5458680" cy="17924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状態 (q, j) から (z, k) へ、ラベル e の辺を引くのは、次の3つが全部成り立つときです（真の数列では (q, j) = σ</a:t>
            </a:r>
            <a:r>
              <a:rPr lang="en-US" sz="2000" b="0" baseline="-25000">
                <a:solidFill>
                  <a:srgbClr val="1F2933"/>
                </a:solidFill>
                <a:latin typeface="Noto Sans JP"/>
                <a:ea typeface="Noto Sans JP"/>
              </a:rPr>
              <a:t>K</a:t>
            </a:r>
            <a:r>
              <a:rPr lang="en-US" sz="2000" b="0">
                <a:solidFill>
                  <a:srgbClr val="1F2933"/>
                </a:solidFill>
                <a:latin typeface="Noto Sans JP"/>
                <a:ea typeface="Noto Sans JP"/>
              </a:rPr>
              <a:t>(n)、(z, k) = σ</a:t>
            </a:r>
            <a:r>
              <a:rPr lang="en-US" sz="2000" b="0" baseline="-25000">
                <a:solidFill>
                  <a:srgbClr val="1F2933"/>
                </a:solidFill>
                <a:latin typeface="Noto Sans JP"/>
                <a:ea typeface="Noto Sans JP"/>
              </a:rPr>
              <a:t>K</a:t>
            </a:r>
            <a:r>
              <a:rPr lang="en-US" sz="2000" b="0">
                <a:solidFill>
                  <a:srgbClr val="1F2933"/>
                </a:solidFill>
                <a:latin typeface="Noto Sans JP"/>
                <a:ea typeface="Noto Sans JP"/>
              </a:rPr>
              <a:t>(n+1)、e = 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a:t>
            </a:r>
          </a:p>
        </p:txBody>
      </p:sp>
      <p:pic>
        <p:nvPicPr>
          <p:cNvPr id="100305" name="Pic8" descr="数式: \text{(E1)}\qquad 1-b\ \le\ e\ \le\ a-1"/>
          <p:cNvPicPr>
            <a:picLocks xmlns:a="http://schemas.openxmlformats.org/drawingml/2006/main" noChangeAspect="1"/>
          </p:cNvPicPr>
          <p:nvPr/>
        </p:nvPicPr>
        <p:blipFill>
          <a:blip xmlns:r="http://schemas.openxmlformats.org/officeDocument/2006/relationships" xmlns:a="http://schemas.openxmlformats.org/drawingml/2006/main" r:embed="R7cacd78d08d544bd"/>
          <a:stretch xmlns:a="http://schemas.openxmlformats.org/drawingml/2006/main">
            <a:fillRect/>
          </a:stretch>
        </p:blipFill>
        <p:spPr>
          <a:xfrm xmlns:a="http://schemas.openxmlformats.org/drawingml/2006/main">
            <a:off x="529200" y="2656080"/>
            <a:ext cx="3296160" cy="304560"/>
          </a:xfrm>
          <a:prstGeom xmlns:a="http://schemas.openxmlformats.org/drawingml/2006/main" prst="rect">
            <a:avLst/>
          </a:prstGeom>
        </p:spPr>
      </p:pic>
      <p:pic>
        <p:nvPicPr>
          <p:cNvPr id="100306" name="Pic9" descr="数式: \text{(E2)}\qquad b\,z\ \equiv\ a\,q+e\pmod M"/>
          <p:cNvPicPr>
            <a:picLocks xmlns:a="http://schemas.openxmlformats.org/drawingml/2006/main" noChangeAspect="1"/>
          </p:cNvPicPr>
          <p:nvPr/>
        </p:nvPicPr>
        <p:blipFill>
          <a:blip xmlns:r="http://schemas.openxmlformats.org/officeDocument/2006/relationships" xmlns:a="http://schemas.openxmlformats.org/drawingml/2006/main" r:embed="Rb4b03ce7121642a6"/>
          <a:stretch xmlns:a="http://schemas.openxmlformats.org/drawingml/2006/main">
            <a:fillRect/>
          </a:stretch>
        </p:blipFill>
        <p:spPr>
          <a:xfrm xmlns:a="http://schemas.openxmlformats.org/drawingml/2006/main">
            <a:off x="529200" y="3111840"/>
            <a:ext cx="3714840" cy="304560"/>
          </a:xfrm>
          <a:prstGeom xmlns:a="http://schemas.openxmlformats.org/drawingml/2006/main" prst="rect">
            <a:avLst/>
          </a:prstGeom>
        </p:spPr>
      </p:pic>
      <p:pic>
        <p:nvPicPr>
          <p:cNvPr id="100307" name="Pic10" descr="数式: \text{(E3)}\qquad a j-b(k+1)\ &lt;\ eK\ &lt;\ a(j+1)-bk"/>
          <p:cNvPicPr>
            <a:picLocks xmlns:a="http://schemas.openxmlformats.org/drawingml/2006/main" noChangeAspect="1"/>
          </p:cNvPicPr>
          <p:nvPr/>
        </p:nvPicPr>
        <p:blipFill>
          <a:blip xmlns:r="http://schemas.openxmlformats.org/officeDocument/2006/relationships" xmlns:a="http://schemas.openxmlformats.org/drawingml/2006/main" r:embed="R48dd3caf5afc4ab8"/>
          <a:stretch xmlns:a="http://schemas.openxmlformats.org/drawingml/2006/main">
            <a:fillRect/>
          </a:stretch>
        </p:blipFill>
        <p:spPr>
          <a:xfrm xmlns:a="http://schemas.openxmlformats.org/drawingml/2006/main">
            <a:off x="529200" y="3567600"/>
            <a:ext cx="5300640" cy="304920"/>
          </a:xfrm>
          <a:prstGeom xmlns:a="http://schemas.openxmlformats.org/drawingml/2006/main" prst="rect">
            <a:avLst/>
          </a:prstGeom>
        </p:spPr>
      </p:pic>
      <p:sp>
        <p:nvSpPr>
          <p:cNvPr id="100308" name="Text11"/>
          <p:cNvSpPr txBox="1"/>
          <p:nvPr/>
        </p:nvSpPr>
        <p:spPr>
          <a:xfrm xmlns:a="http://schemas.openxmlformats.org/drawingml/2006/main">
            <a:off x="6275880" y="1080000"/>
            <a:ext cx="5458680" cy="39988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それぞれの意味</a:t>
            </a:r>
          </a:p>
          <a:p xmlns:a="http://schemas.openxmlformats.org/drawingml/2006/main">
            <a:pPr marL="223200" indent="-223200" algn="l">
              <a:lnSpc>
                <a:spcPct val="112000"/>
              </a:lnSpc>
              <a:spcBef>
                <a:spcPts val="400"/>
              </a:spcBef>
              <a:buChar char="•"/>
            </a:pPr>
            <a:r>
              <a:rPr lang="en-US" sz="2000" b="0">
                <a:solidFill>
                  <a:srgbClr val="1F2933"/>
                </a:solidFill>
                <a:latin typeface="Noto Sans JP"/>
                <a:ea typeface="Noto Sans JP"/>
              </a:rPr>
              <a:t>(E1): ラベルは繰り上がりのとりうる範囲にある。</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(E2): あまりが式 b·Q</a:t>
            </a:r>
            <a:r>
              <a:rPr lang="en-US" sz="2000" b="0" baseline="-25000">
                <a:solidFill>
                  <a:srgbClr val="1F2933"/>
                </a:solidFill>
                <a:latin typeface="Noto Sans JP"/>
                <a:ea typeface="Noto Sans JP"/>
              </a:rPr>
              <a:t>n+1</a:t>
            </a:r>
            <a:r>
              <a:rPr lang="en-US" sz="2000" b="0">
                <a:solidFill>
                  <a:srgbClr val="1F2933"/>
                </a:solidFill>
                <a:latin typeface="Noto Sans JP"/>
                <a:ea typeface="Noto Sans JP"/>
              </a:rPr>
              <a:t xml:space="preserve"> = a·Q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 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と合っている。</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(E3): 2つのセルの小数部分で c = aθ − bθ' が起こりうる。</a:t>
            </a:r>
          </a:p>
          <a:p xmlns:a="http://schemas.openxmlformats.org/drawingml/2006/main">
            <a:pPr algn="l">
              <a:lnSpc>
                <a:spcPct val="112000"/>
              </a:lnSpc>
              <a:spcBef>
                <a:spcPts val="600"/>
              </a:spcBef>
            </a:pPr>
            <a:r>
              <a:rPr lang="en-US" sz="1800" b="0">
                <a:solidFill>
                  <a:srgbClr val="4F5D6E"/>
                </a:solidFill>
                <a:latin typeface="Noto Sans JP"/>
                <a:ea typeface="Noto Sans JP"/>
              </a:rPr>
              <a:t>頂点は 4290 と互いに素なあまりをもつ状態だけ。条件はすべて整数の計算で判定できます。</a:t>
            </a:r>
          </a:p>
        </p:txBody>
      </p:sp>
    </p:spTree>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309"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310"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(E3) の意味: 隣のセルと両立するか</a:t>
            </a:r>
          </a:p>
        </p:txBody>
      </p:sp>
      <p:sp>
        <p:nvSpPr>
          <p:cNvPr id="100311"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32 / 99</a:t>
            </a:r>
          </a:p>
        </p:txBody>
      </p:sp>
      <p:sp>
        <p:nvSpPr>
          <p:cNvPr id="100312"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13"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14"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(E3) は「2つのセルの中で、繰り上がり e が実際に起こりうるか」を整数の不等式で判定します。</a:t>
            </a:r>
          </a:p>
        </p:txBody>
      </p:sp>
      <p:sp>
        <p:nvSpPr>
          <p:cNvPr id="100315" name="Text7"/>
          <p:cNvSpPr txBox="1"/>
          <p:nvPr/>
        </p:nvSpPr>
        <p:spPr>
          <a:xfrm xmlns:a="http://schemas.openxmlformats.org/drawingml/2006/main">
            <a:off x="457200" y="1080000"/>
            <a:ext cx="5247720" cy="459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θ がセル j、次の θ' がセル k にあるとき、a·θ − b·θ' = e となる組はあるか？</a:t>
            </a:r>
          </a:p>
          <a:p xmlns:a="http://schemas.openxmlformats.org/drawingml/2006/main">
            <a:pPr algn="l">
              <a:lnSpc>
                <a:spcPct val="112000"/>
              </a:lnSpc>
              <a:spcBef>
                <a:spcPts val="400"/>
              </a:spcBef>
            </a:pPr>
            <a:r>
              <a:rPr lang="en-US" sz="2000" b="0">
                <a:solidFill>
                  <a:srgbClr val="1F2933"/>
                </a:solidFill>
                <a:latin typeface="Noto Sans JP"/>
                <a:ea typeface="Noto Sans JP"/>
              </a:rPr>
              <a:t>図は説明用に a = 5, b = 2（比 5/2）、K = 4, j = k = 1, e = 1 とした場合です。正方形は2つのセルの組、直線は 5u − 2v = 4 を満たす点です。</a:t>
            </a:r>
          </a:p>
          <a:p xmlns:a="http://schemas.openxmlformats.org/drawingml/2006/main">
            <a:pPr algn="l">
              <a:lnSpc>
                <a:spcPct val="112000"/>
              </a:lnSpc>
              <a:spcBef>
                <a:spcPts val="400"/>
              </a:spcBef>
            </a:pPr>
            <a:r>
              <a:rPr lang="en-US" sz="2000" b="0">
                <a:solidFill>
                  <a:srgbClr val="1F2933"/>
                </a:solidFill>
                <a:latin typeface="Noto Sans JP"/>
                <a:ea typeface="Noto Sans JP"/>
              </a:rPr>
              <a:t>直線が正方形を通れば、その組は両立し、(E3) が成り立ちます。</a:t>
            </a:r>
          </a:p>
          <a:p xmlns:a="http://schemas.openxmlformats.org/drawingml/2006/main">
            <a:pPr algn="l">
              <a:lnSpc>
                <a:spcPct val="112000"/>
              </a:lnSpc>
              <a:spcBef>
                <a:spcPts val="600"/>
              </a:spcBef>
            </a:pPr>
            <a:r>
              <a:rPr lang="en-US" sz="1800" b="0">
                <a:solidFill>
                  <a:srgbClr val="4F5D6E"/>
                </a:solidFill>
                <a:latin typeface="Noto Sans JP"/>
                <a:ea typeface="Noto Sans JP"/>
              </a:rPr>
              <a:t>正方形は左・下の辺を含み、右・上の辺を含みません。そのため (E3) の不等号は両方とも「&lt;」です。</a:t>
            </a:r>
          </a:p>
        </p:txBody>
      </p:sp>
      <p:pic>
        <p:nvPicPr>
          <p:cNvPr id="100316" name="Pic8" descr="図: a=5, b=2, K=4 の例で、セルの組 (1,1) の正方形を直線 5u − 2v = 4 が通ることを示す図。(E3) の数値確認 1 &lt; 4 &lt; 8 付き。"/>
          <p:cNvPicPr>
            <a:picLocks xmlns:a="http://schemas.openxmlformats.org/drawingml/2006/main" noChangeAspect="1"/>
          </p:cNvPicPr>
          <p:nvPr/>
        </p:nvPicPr>
        <p:blipFill>
          <a:blip xmlns:r="http://schemas.openxmlformats.org/officeDocument/2006/relationships" xmlns:a="http://schemas.openxmlformats.org/drawingml/2006/main" r:embed="R206eb214f4654cb1"/>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317"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318"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辺の具体例: ξ = 2 の数列から</a:t>
            </a:r>
          </a:p>
        </p:txBody>
      </p:sp>
      <p:sp>
        <p:nvSpPr>
          <p:cNvPr id="100319"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33 / 99</a:t>
            </a:r>
          </a:p>
        </p:txBody>
      </p:sp>
      <p:sp>
        <p:nvSpPr>
          <p:cNvPr id="100320"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21"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22"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真の数列の隣り合う状態は、実際に3つの条件を満たし、グラフの辺になっています。</a:t>
            </a:r>
          </a:p>
        </p:txBody>
      </p:sp>
      <p:sp>
        <p:nvSpPr>
          <p:cNvPr id="100323" name="Text7"/>
          <p:cNvSpPr txBox="1"/>
          <p:nvPr/>
        </p:nvSpPr>
        <p:spPr>
          <a:xfrm xmlns:a="http://schemas.openxmlformats.org/drawingml/2006/main">
            <a:off x="457200" y="1080000"/>
            <a:ext cx="524772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ξ = 2, 7/5, M = 4290, K = 4 で、σ(8) = (29, 2) から σ(9) = (41, 1) へ。繰り上がりは</a:t>
            </a:r>
          </a:p>
        </p:txBody>
      </p:sp>
      <p:pic>
        <p:nvPicPr>
          <p:cNvPr id="100324" name="Pic8" descr="数式: c_8=5\cdot 41-7\cdot 29=205-203=2"/>
          <p:cNvPicPr>
            <a:picLocks xmlns:a="http://schemas.openxmlformats.org/drawingml/2006/main" noChangeAspect="1"/>
          </p:cNvPicPr>
          <p:nvPr/>
        </p:nvPicPr>
        <p:blipFill>
          <a:blip xmlns:r="http://schemas.openxmlformats.org/officeDocument/2006/relationships" xmlns:a="http://schemas.openxmlformats.org/drawingml/2006/main" r:embed="Rf045a34348bb47db"/>
          <a:stretch xmlns:a="http://schemas.openxmlformats.org/drawingml/2006/main">
            <a:fillRect/>
          </a:stretch>
        </p:blipFill>
        <p:spPr>
          <a:xfrm xmlns:a="http://schemas.openxmlformats.org/drawingml/2006/main">
            <a:off x="529200" y="2308680"/>
            <a:ext cx="3914640" cy="249840"/>
          </a:xfrm>
          <a:prstGeom xmlns:a="http://schemas.openxmlformats.org/drawingml/2006/main" prst="rect">
            <a:avLst/>
          </a:prstGeom>
        </p:spPr>
      </p:pic>
      <p:sp>
        <p:nvSpPr>
          <p:cNvPr id="100325" name="Text9"/>
          <p:cNvSpPr txBox="1"/>
          <p:nvPr/>
        </p:nvSpPr>
        <p:spPr>
          <a:xfrm xmlns:a="http://schemas.openxmlformats.org/drawingml/2006/main">
            <a:off x="457200" y="2691720"/>
            <a:ext cx="52477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3つの条件を確かめます。</a:t>
            </a:r>
          </a:p>
        </p:txBody>
      </p:sp>
      <p:pic>
        <p:nvPicPr>
          <p:cNvPr id="100326" name="Pic10" descr="数式: \text{(E1)}\ \ -4\le 2\le 6"/>
          <p:cNvPicPr>
            <a:picLocks xmlns:a="http://schemas.openxmlformats.org/drawingml/2006/main" noChangeAspect="1"/>
          </p:cNvPicPr>
          <p:nvPr/>
        </p:nvPicPr>
        <p:blipFill>
          <a:blip xmlns:r="http://schemas.openxmlformats.org/officeDocument/2006/relationships" xmlns:a="http://schemas.openxmlformats.org/drawingml/2006/main" r:embed="R2b91999cdb6944bd"/>
          <a:stretch xmlns:a="http://schemas.openxmlformats.org/drawingml/2006/main">
            <a:fillRect/>
          </a:stretch>
        </p:blipFill>
        <p:spPr>
          <a:xfrm xmlns:a="http://schemas.openxmlformats.org/drawingml/2006/main">
            <a:off x="529200" y="3226320"/>
            <a:ext cx="2078640" cy="304920"/>
          </a:xfrm>
          <a:prstGeom xmlns:a="http://schemas.openxmlformats.org/drawingml/2006/main" prst="rect">
            <a:avLst/>
          </a:prstGeom>
        </p:spPr>
      </p:pic>
      <p:pic>
        <p:nvPicPr>
          <p:cNvPr id="100327" name="Pic11" descr="数式: \text{(E2)}\ \ 5\cdot41=205\equiv 7\cdot 29+2 \pmod{4290}"/>
          <p:cNvPicPr>
            <a:picLocks xmlns:a="http://schemas.openxmlformats.org/drawingml/2006/main" noChangeAspect="1"/>
          </p:cNvPicPr>
          <p:nvPr/>
        </p:nvPicPr>
        <p:blipFill>
          <a:blip xmlns:r="http://schemas.openxmlformats.org/officeDocument/2006/relationships" xmlns:a="http://schemas.openxmlformats.org/drawingml/2006/main" r:embed="Rf14953257acc4dd0"/>
          <a:stretch xmlns:a="http://schemas.openxmlformats.org/drawingml/2006/main">
            <a:fillRect/>
          </a:stretch>
        </p:blipFill>
        <p:spPr>
          <a:xfrm xmlns:a="http://schemas.openxmlformats.org/drawingml/2006/main">
            <a:off x="529200" y="3682080"/>
            <a:ext cx="4714560" cy="304560"/>
          </a:xfrm>
          <a:prstGeom xmlns:a="http://schemas.openxmlformats.org/drawingml/2006/main" prst="rect">
            <a:avLst/>
          </a:prstGeom>
        </p:spPr>
      </p:pic>
      <p:pic>
        <p:nvPicPr>
          <p:cNvPr id="100328" name="Pic12" descr="数式: \text{(E3)}\ \ 7\cdot2-5\cdot2=4\ &lt;\ 2\cdot4=8\ &lt;\ 7\cdot3-5\cdot1=16"/>
          <p:cNvPicPr>
            <a:picLocks xmlns:a="http://schemas.openxmlformats.org/drawingml/2006/main" noChangeAspect="1"/>
          </p:cNvPicPr>
          <p:nvPr/>
        </p:nvPicPr>
        <p:blipFill>
          <a:blip xmlns:r="http://schemas.openxmlformats.org/officeDocument/2006/relationships" xmlns:a="http://schemas.openxmlformats.org/drawingml/2006/main" r:embed="Re9ee6875a42d4d69"/>
          <a:stretch xmlns:a="http://schemas.openxmlformats.org/drawingml/2006/main">
            <a:fillRect/>
          </a:stretch>
        </p:blipFill>
        <p:spPr>
          <a:xfrm xmlns:a="http://schemas.openxmlformats.org/drawingml/2006/main">
            <a:off x="529200" y="4138200"/>
            <a:ext cx="5247720" cy="264600"/>
          </a:xfrm>
          <a:prstGeom xmlns:a="http://schemas.openxmlformats.org/drawingml/2006/main" prst="rect">
            <a:avLst/>
          </a:prstGeom>
        </p:spPr>
      </p:pic>
      <p:pic>
        <p:nvPicPr>
          <p:cNvPr id="100329" name="Pic13" descr="図: 状態 (29, 2) から (41, 1) へのラベル 2 の辺と、(E1)(E2)(E3) がすべて成り立つことの確認。"/>
          <p:cNvPicPr>
            <a:picLocks xmlns:a="http://schemas.openxmlformats.org/drawingml/2006/main" noChangeAspect="1"/>
          </p:cNvPicPr>
          <p:nvPr/>
        </p:nvPicPr>
        <p:blipFill>
          <a:blip xmlns:r="http://schemas.openxmlformats.org/officeDocument/2006/relationships" xmlns:a="http://schemas.openxmlformats.org/drawingml/2006/main" r:embed="R0abdb87fd9954539"/>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330"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331"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(E2) の解はすべて使う</a:t>
            </a:r>
          </a:p>
        </p:txBody>
      </p:sp>
      <p:sp>
        <p:nvSpPr>
          <p:cNvPr id="100332"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34 / 99</a:t>
            </a:r>
          </a:p>
        </p:txBody>
      </p:sp>
      <p:sp>
        <p:nvSpPr>
          <p:cNvPr id="100333"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34"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35"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5x ≡ 1 (mod 4290) となる x がないので、合同式の全部の解について辺を作ります。</a:t>
            </a:r>
          </a:p>
        </p:txBody>
      </p:sp>
      <p:sp>
        <p:nvSpPr>
          <p:cNvPr id="100336" name="Text7"/>
          <p:cNvSpPr txBox="1"/>
          <p:nvPr/>
        </p:nvSpPr>
        <p:spPr>
          <a:xfrm xmlns:a="http://schemas.openxmlformats.org/drawingml/2006/main">
            <a:off x="457200" y="1080000"/>
            <a:ext cx="5247720" cy="31413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(E2) の b·z ≡ a·q + e (mod M) から、次のあまり z を求めます。</a:t>
            </a:r>
          </a:p>
          <a:p xmlns:a="http://schemas.openxmlformats.org/drawingml/2006/main">
            <a:pPr algn="l">
              <a:lnSpc>
                <a:spcPct val="112000"/>
              </a:lnSpc>
              <a:spcBef>
                <a:spcPts val="400"/>
              </a:spcBef>
            </a:pPr>
            <a:r>
              <a:rPr lang="en-US" sz="2000" b="0">
                <a:solidFill>
                  <a:srgbClr val="1F2933"/>
                </a:solidFill>
                <a:latin typeface="Noto Sans JP"/>
                <a:ea typeface="Noto Sans JP"/>
              </a:rPr>
              <a:t>7/5 で M = 4290 のとき b = 5 は 4290 を割り切ります（gcd(5, 4290) = 5）。</a:t>
            </a:r>
          </a:p>
          <a:p xmlns:a="http://schemas.openxmlformats.org/drawingml/2006/main">
            <a:pPr algn="l">
              <a:lnSpc>
                <a:spcPct val="112000"/>
              </a:lnSpc>
              <a:spcBef>
                <a:spcPts val="400"/>
              </a:spcBef>
            </a:pPr>
            <a:r>
              <a:rPr lang="en-US" sz="2000" b="0">
                <a:solidFill>
                  <a:srgbClr val="1F2933"/>
                </a:solidFill>
                <a:latin typeface="Noto Sans JP"/>
                <a:ea typeface="Noto Sans JP"/>
              </a:rPr>
              <a:t>そのため 5x ≡ 1 (mod 4290) となる x がなく、「5 で割る」ことができません。解は、ないか、ちょうど 5 個あるかです。</a:t>
            </a:r>
          </a:p>
        </p:txBody>
      </p:sp>
      <p:pic>
        <p:nvPicPr>
          <p:cNvPr id="100337" name="Pic8" descr="数式: 5z\equiv 205\pmod{4290}\iff z\equiv 41\pmod{858}"/>
          <p:cNvPicPr>
            <a:picLocks xmlns:a="http://schemas.openxmlformats.org/drawingml/2006/main" noChangeAspect="1"/>
          </p:cNvPicPr>
          <p:nvPr/>
        </p:nvPicPr>
        <p:blipFill>
          <a:blip xmlns:r="http://schemas.openxmlformats.org/officeDocument/2006/relationships" xmlns:a="http://schemas.openxmlformats.org/drawingml/2006/main" r:embed="Rff36bc9eb51242d3"/>
          <a:stretch xmlns:a="http://schemas.openxmlformats.org/drawingml/2006/main">
            <a:fillRect/>
          </a:stretch>
        </p:blipFill>
        <p:spPr>
          <a:xfrm xmlns:a="http://schemas.openxmlformats.org/drawingml/2006/main">
            <a:off x="529200" y="3799080"/>
            <a:ext cx="5130360" cy="304920"/>
          </a:xfrm>
          <a:prstGeom xmlns:a="http://schemas.openxmlformats.org/drawingml/2006/main" prst="rect">
            <a:avLst/>
          </a:prstGeom>
        </p:spPr>
      </p:pic>
      <p:sp>
        <p:nvSpPr>
          <p:cNvPr id="100338" name="Text9"/>
          <p:cNvSpPr txBox="1"/>
          <p:nvPr/>
        </p:nvSpPr>
        <p:spPr>
          <a:xfrm xmlns:a="http://schemas.openxmlformats.org/drawingml/2006/main">
            <a:off x="457200" y="4237200"/>
            <a:ext cx="524772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z = 41, 899, 1757, 2615, 3473 の 5 個すべてについて辺を考えます（4290 と互いに素なものだけを残す）。</a:t>
            </a:r>
          </a:p>
        </p:txBody>
      </p:sp>
      <p:pic>
        <p:nvPicPr>
          <p:cNvPr id="100339" name="Pic10" descr="図: 5z ≡ 205 (mod 4290) の解 z = 41, 899, 1757, 2615, 3473（858 おき）を示し、4290 と互いに素でない 2615 を除く図。"/>
          <p:cNvPicPr>
            <a:picLocks xmlns:a="http://schemas.openxmlformats.org/drawingml/2006/main" noChangeAspect="1"/>
          </p:cNvPicPr>
          <p:nvPr/>
        </p:nvPicPr>
        <p:blipFill>
          <a:blip xmlns:r="http://schemas.openxmlformats.org/officeDocument/2006/relationships" xmlns:a="http://schemas.openxmlformats.org/drawingml/2006/main" r:embed="R0f9e5f4734fd4652"/>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340"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341"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命題5: 数列はグラフのウォークになる</a:t>
            </a:r>
          </a:p>
        </p:txBody>
      </p:sp>
      <p:sp>
        <p:nvSpPr>
          <p:cNvPr id="100342"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35 / 99</a:t>
            </a:r>
          </a:p>
        </p:txBody>
      </p:sp>
      <p:sp>
        <p:nvSpPr>
          <p:cNvPr id="100343"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44"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45"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どの ξ についても、割り切れない項が続く部分は、1つの有限グラフ上のウォークになります。</a:t>
            </a:r>
          </a:p>
        </p:txBody>
      </p:sp>
      <p:sp>
        <p:nvSpPr>
          <p:cNvPr id="100346" name="Text7"/>
          <p:cNvSpPr txBox="1"/>
          <p:nvPr/>
        </p:nvSpPr>
        <p:spPr>
          <a:xfrm xmlns:a="http://schemas.openxmlformats.org/drawingml/2006/main">
            <a:off x="457200" y="1080000"/>
            <a:ext cx="5247720" cy="35510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命題5（軌道の包含）</a:t>
            </a:r>
          </a:p>
          <a:p xmlns:a="http://schemas.openxmlformats.org/drawingml/2006/main">
            <a:pPr algn="l">
              <a:lnSpc>
                <a:spcPct val="112000"/>
              </a:lnSpc>
              <a:spcBef>
                <a:spcPts val="400"/>
              </a:spcBef>
            </a:pPr>
            <a:r>
              <a:rPr lang="en-US" sz="2000" b="0">
                <a:solidFill>
                  <a:srgbClr val="1F2933"/>
                </a:solidFill>
                <a:latin typeface="Noto Sans JP"/>
                <a:ea typeface="Noto Sans JP"/>
              </a:rPr>
              <a:t>番号 n と n+1 の状態がどちらも頂点なら、ラベル 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の辺 σ</a:t>
            </a:r>
            <a:r>
              <a:rPr lang="en-US" sz="2000" b="0" baseline="-25000">
                <a:solidFill>
                  <a:srgbClr val="1F2933"/>
                </a:solidFill>
                <a:latin typeface="Noto Sans JP"/>
                <a:ea typeface="Noto Sans JP"/>
              </a:rPr>
              <a:t>K</a:t>
            </a:r>
            <a:r>
              <a:rPr lang="en-US" sz="2000" b="0">
                <a:solidFill>
                  <a:srgbClr val="1F2933"/>
                </a:solidFill>
                <a:latin typeface="Noto Sans JP"/>
                <a:ea typeface="Noto Sans JP"/>
              </a:rPr>
              <a:t>(n) → σ</a:t>
            </a:r>
            <a:r>
              <a:rPr lang="en-US" sz="2000" b="0" baseline="-25000">
                <a:solidFill>
                  <a:srgbClr val="1F2933"/>
                </a:solidFill>
                <a:latin typeface="Noto Sans JP"/>
                <a:ea typeface="Noto Sans JP"/>
              </a:rPr>
              <a:t>K</a:t>
            </a:r>
            <a:r>
              <a:rPr lang="en-US" sz="2000" b="0">
                <a:solidFill>
                  <a:srgbClr val="1F2933"/>
                </a:solidFill>
                <a:latin typeface="Noto Sans JP"/>
                <a:ea typeface="Noto Sans JP"/>
              </a:rPr>
              <a:t>(n+1) があります。</a:t>
            </a:r>
          </a:p>
          <a:p xmlns:a="http://schemas.openxmlformats.org/drawingml/2006/main">
            <a:pPr algn="l">
              <a:lnSpc>
                <a:spcPct val="112000"/>
              </a:lnSpc>
              <a:spcBef>
                <a:spcPts val="400"/>
              </a:spcBef>
            </a:pPr>
            <a:r>
              <a:rPr lang="en-US" sz="2000" b="0">
                <a:solidFill>
                  <a:srgbClr val="1F2933"/>
                </a:solidFill>
                <a:latin typeface="Noto Sans JP"/>
                <a:ea typeface="Noto Sans JP"/>
              </a:rPr>
              <a:t>したがって、ある番号から先の項がすべて 4290 と互いに素なら、状態の列はグラフの無限に続くウォークになり、その出力は繰り上がりの列です。</a:t>
            </a:r>
          </a:p>
        </p:txBody>
      </p:sp>
      <p:sp>
        <p:nvSpPr>
          <p:cNvPr id="100347" name="Term8"/>
          <p:cNvSpPr txBox="1"/>
          <p:nvPr/>
        </p:nvSpPr>
        <p:spPr>
          <a:xfrm xmlns:a="http://schemas.openxmlformats.org/drawingml/2006/main">
            <a:off x="457200" y="412848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軌道</a:t>
            </a:r>
          </a:p>
          <a:p xmlns:a="http://schemas.openxmlformats.org/drawingml/2006/main">
            <a:pPr algn="l">
              <a:lnSpc>
                <a:spcPct val="112000"/>
              </a:lnSpc>
              <a:spcBef>
                <a:spcPts val="200"/>
              </a:spcBef>
            </a:pPr>
            <a:r>
              <a:rPr lang="en-US" sz="1800" b="0">
                <a:solidFill>
                  <a:srgbClr val="1F2933"/>
                </a:solidFill>
                <a:latin typeface="Noto Sans JP"/>
                <a:ea typeface="Noto Sans JP"/>
              </a:rPr>
              <a:t>1つの ξ から作られる実際の数列（x</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Q</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θ</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）のこと。</a:t>
            </a:r>
          </a:p>
        </p:txBody>
      </p:sp>
      <p:pic>
        <p:nvPicPr>
          <p:cNvPr id="100348" name="Pic9" descr="図: 真の数列の状態の列が、1つの有限グラフの上のウォークとしてたどられる様子を示す図。"/>
          <p:cNvPicPr>
            <a:picLocks xmlns:a="http://schemas.openxmlformats.org/drawingml/2006/main" noChangeAspect="1"/>
          </p:cNvPicPr>
          <p:nvPr/>
        </p:nvPicPr>
        <p:blipFill>
          <a:blip xmlns:r="http://schemas.openxmlformats.org/officeDocument/2006/relationships" xmlns:a="http://schemas.openxmlformats.org/drawingml/2006/main" r:embed="R428f7dee20504ea7"/>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349"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350"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外側近似: 逆向きは使わない</a:t>
            </a:r>
          </a:p>
        </p:txBody>
      </p:sp>
      <p:sp>
        <p:nvSpPr>
          <p:cNvPr id="100351"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36 / 99</a:t>
            </a:r>
          </a:p>
        </p:txBody>
      </p:sp>
      <p:sp>
        <p:nvSpPr>
          <p:cNvPr id="100352"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53"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54"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グラフは真の数列をすべて含む外側近似です。</a:t>
            </a:r>
          </a:p>
        </p:txBody>
      </p:sp>
      <p:sp>
        <p:nvSpPr>
          <p:cNvPr id="100355" name="Text7"/>
          <p:cNvSpPr txBox="1"/>
          <p:nvPr/>
        </p:nvSpPr>
        <p:spPr>
          <a:xfrm xmlns:a="http://schemas.openxmlformats.org/drawingml/2006/main">
            <a:off x="457200" y="1080000"/>
            <a:ext cx="524772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グラフにはウォークがたくさんあります。そのすべてが実際の数列から来るわけではありません。</a:t>
            </a:r>
          </a:p>
        </p:txBody>
      </p:sp>
      <p:sp>
        <p:nvSpPr>
          <p:cNvPr id="100356" name="Term8"/>
          <p:cNvSpPr txBox="1"/>
          <p:nvPr/>
        </p:nvSpPr>
        <p:spPr>
          <a:xfrm xmlns:a="http://schemas.openxmlformats.org/drawingml/2006/main">
            <a:off x="457200" y="229068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外側近似</a:t>
            </a:r>
          </a:p>
          <a:p xmlns:a="http://schemas.openxmlformats.org/drawingml/2006/main">
            <a:pPr algn="l">
              <a:lnSpc>
                <a:spcPct val="112000"/>
              </a:lnSpc>
              <a:spcBef>
                <a:spcPts val="200"/>
              </a:spcBef>
            </a:pPr>
            <a:r>
              <a:rPr lang="en-US" sz="1800" b="0">
                <a:solidFill>
                  <a:srgbClr val="1F2933"/>
                </a:solidFill>
                <a:latin typeface="Noto Sans JP"/>
                <a:ea typeface="Noto Sans JP"/>
              </a:rPr>
              <a:t>本物（真の軌道）をすべて含むが、本物でないものも含んでよい、大きめの集まり。</a:t>
            </a:r>
          </a:p>
        </p:txBody>
      </p:sp>
      <p:sp>
        <p:nvSpPr>
          <p:cNvPr id="100357" name="Text9"/>
          <p:cNvSpPr txBox="1"/>
          <p:nvPr/>
        </p:nvSpPr>
        <p:spPr>
          <a:xfrm xmlns:a="http://schemas.openxmlformats.org/drawingml/2006/main">
            <a:off x="457200" y="3703320"/>
            <a:ext cx="5247720" cy="14428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証明で使うのは「数列 ⇒ ウォーク」の向きだけです。</a:t>
            </a:r>
          </a:p>
          <a:p xmlns:a="http://schemas.openxmlformats.org/drawingml/2006/main">
            <a:pPr algn="l">
              <a:lnSpc>
                <a:spcPct val="112000"/>
              </a:lnSpc>
              <a:spcBef>
                <a:spcPts val="400"/>
              </a:spcBef>
            </a:pPr>
            <a:r>
              <a:rPr lang="en-US" sz="2000" b="0">
                <a:solidFill>
                  <a:srgbClr val="1F2933"/>
                </a:solidFill>
                <a:latin typeface="Noto Sans JP"/>
                <a:ea typeface="Noto Sans JP"/>
              </a:rPr>
              <a:t>「ウォーク ⇒ 数列」は仮定しません。</a:t>
            </a:r>
          </a:p>
        </p:txBody>
      </p:sp>
      <p:pic>
        <p:nvPicPr>
          <p:cNvPr id="100358" name="Pic10" descr="図: グラフのウォーク全体の中に、真の数列から来るウォークが含まれる包含図。「数列 ⇒ ウォーク」だけを使い、逆は使わない。"/>
          <p:cNvPicPr>
            <a:picLocks xmlns:a="http://schemas.openxmlformats.org/drawingml/2006/main" noChangeAspect="1"/>
          </p:cNvPicPr>
          <p:nvPr/>
        </p:nvPicPr>
        <p:blipFill>
          <a:blip xmlns:r="http://schemas.openxmlformats.org/officeDocument/2006/relationships" xmlns:a="http://schemas.openxmlformats.org/drawingml/2006/main" r:embed="Ref18c5905ebe4956"/>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359"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360"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強連結成分（SCC）</a:t>
            </a:r>
          </a:p>
        </p:txBody>
      </p:sp>
      <p:sp>
        <p:nvSpPr>
          <p:cNvPr id="100361"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37 / 99</a:t>
            </a:r>
          </a:p>
        </p:txBody>
      </p:sp>
      <p:sp>
        <p:nvSpPr>
          <p:cNvPr id="100362"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63"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64"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グラフは「行き来できるグループ（SCC）」に分けられ、グループ間は一方通行です。</a:t>
            </a:r>
          </a:p>
        </p:txBody>
      </p:sp>
      <p:sp>
        <p:nvSpPr>
          <p:cNvPr id="100365" name="Term7"/>
          <p:cNvSpPr txBox="1"/>
          <p:nvPr/>
        </p:nvSpPr>
        <p:spPr>
          <a:xfrm xmlns:a="http://schemas.openxmlformats.org/drawingml/2006/main">
            <a:off x="457200" y="108000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強連結成分（SCC）</a:t>
            </a:r>
          </a:p>
          <a:p xmlns:a="http://schemas.openxmlformats.org/drawingml/2006/main">
            <a:pPr algn="l">
              <a:lnSpc>
                <a:spcPct val="112000"/>
              </a:lnSpc>
              <a:spcBef>
                <a:spcPts val="200"/>
              </a:spcBef>
            </a:pPr>
            <a:r>
              <a:rPr lang="en-US" sz="1800" b="0">
                <a:solidFill>
                  <a:srgbClr val="1F2933"/>
                </a:solidFill>
                <a:latin typeface="Noto Sans JP"/>
                <a:ea typeface="Noto Sans JP"/>
              </a:rPr>
              <a:t>お互いに行き来できる頂点どうしを1つにまとめたグループ。</a:t>
            </a:r>
          </a:p>
        </p:txBody>
      </p:sp>
      <p:sp>
        <p:nvSpPr>
          <p:cNvPr id="100366" name="Term8"/>
          <p:cNvSpPr txBox="1"/>
          <p:nvPr/>
        </p:nvSpPr>
        <p:spPr>
          <a:xfrm xmlns:a="http://schemas.openxmlformats.org/drawingml/2006/main">
            <a:off x="457200" y="2492640"/>
            <a:ext cx="5247720" cy="160992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巡回的な SCC</a:t>
            </a:r>
          </a:p>
          <a:p xmlns:a="http://schemas.openxmlformats.org/drawingml/2006/main">
            <a:pPr algn="l">
              <a:lnSpc>
                <a:spcPct val="112000"/>
              </a:lnSpc>
              <a:spcBef>
                <a:spcPts val="200"/>
              </a:spcBef>
            </a:pPr>
            <a:r>
              <a:rPr lang="en-US" sz="1800" b="0">
                <a:solidFill>
                  <a:srgbClr val="1F2933"/>
                </a:solidFill>
                <a:latin typeface="Noto Sans JP"/>
                <a:ea typeface="Noto Sans JP"/>
              </a:rPr>
              <a:t>グループの中に辺（内部辺）が少なくとも1本ある SCC。1 頂点なら自己ループがあるもの。</a:t>
            </a:r>
          </a:p>
        </p:txBody>
      </p:sp>
      <p:sp>
        <p:nvSpPr>
          <p:cNvPr id="100367" name="Text9"/>
          <p:cNvSpPr txBox="1"/>
          <p:nvPr/>
        </p:nvSpPr>
        <p:spPr>
          <a:xfrm xmlns:a="http://schemas.openxmlformats.org/drawingml/2006/main">
            <a:off x="457200" y="421776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SCC の間の辺は一方向にしか進めません。一度出た SCC には戻れません。</a:t>
            </a:r>
          </a:p>
        </p:txBody>
      </p:sp>
      <p:pic>
        <p:nvPicPr>
          <p:cNvPr id="100368" name="Pic10" descr="図: グラフを3つの強連結成分（SCC）と、巡回的でない1頂点に色分けし、SCC どうしの辺が一方向であることを示す図。"/>
          <p:cNvPicPr>
            <a:picLocks xmlns:a="http://schemas.openxmlformats.org/drawingml/2006/main" noChangeAspect="1"/>
          </p:cNvPicPr>
          <p:nvPr/>
        </p:nvPicPr>
        <p:blipFill>
          <a:blip xmlns:r="http://schemas.openxmlformats.org/officeDocument/2006/relationships" xmlns:a="http://schemas.openxmlformats.org/drawingml/2006/main" r:embed="R0a101656d1b341e3"/>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369"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370"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補題6: 無限ウォークは最後に1つの SCC に留まる</a:t>
            </a:r>
          </a:p>
        </p:txBody>
      </p:sp>
      <p:sp>
        <p:nvSpPr>
          <p:cNvPr id="100371"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38 / 99</a:t>
            </a:r>
          </a:p>
        </p:txBody>
      </p:sp>
      <p:sp>
        <p:nvSpPr>
          <p:cNvPr id="100372"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73"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74"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無限に続くウォークは、ある所から先、1つの巡回的な SCC の中にあります。</a:t>
            </a:r>
          </a:p>
        </p:txBody>
      </p:sp>
      <p:sp>
        <p:nvSpPr>
          <p:cNvPr id="100375" name="Text7"/>
          <p:cNvSpPr txBox="1"/>
          <p:nvPr/>
        </p:nvSpPr>
        <p:spPr>
          <a:xfrm xmlns:a="http://schemas.openxmlformats.org/drawingml/2006/main">
            <a:off x="457200" y="1080000"/>
            <a:ext cx="5247720" cy="459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補題6</a:t>
            </a:r>
          </a:p>
          <a:p xmlns:a="http://schemas.openxmlformats.org/drawingml/2006/main">
            <a:pPr algn="l">
              <a:lnSpc>
                <a:spcPct val="112000"/>
              </a:lnSpc>
              <a:spcBef>
                <a:spcPts val="400"/>
              </a:spcBef>
            </a:pPr>
            <a:r>
              <a:rPr lang="en-US" sz="2000" b="0">
                <a:solidFill>
                  <a:srgbClr val="1F2933"/>
                </a:solidFill>
                <a:latin typeface="Noto Sans JP"/>
                <a:ea typeface="Noto Sans JP"/>
              </a:rPr>
              <a:t>有限グラフの無限に続くウォークは、ある所から先、1つの巡回的な SCC の中だけを動きます。</a:t>
            </a:r>
          </a:p>
          <a:p xmlns:a="http://schemas.openxmlformats.org/drawingml/2006/main">
            <a:pPr algn="l">
              <a:lnSpc>
                <a:spcPct val="112000"/>
              </a:lnSpc>
              <a:spcBef>
                <a:spcPts val="1000"/>
              </a:spcBef>
            </a:pPr>
            <a:r>
              <a:rPr lang="en-US" sz="2000" b="1">
                <a:solidFill>
                  <a:srgbClr val="1B2A41"/>
                </a:solidFill>
                <a:latin typeface="Noto Sans JP"/>
                <a:ea typeface="Noto Sans JP"/>
              </a:rPr>
              <a:t>理由</a:t>
            </a:r>
          </a:p>
          <a:p xmlns:a="http://schemas.openxmlformats.org/drawingml/2006/main">
            <a:pPr marL="288000" indent="-288000" algn="l">
              <a:lnSpc>
                <a:spcPct val="112000"/>
              </a:lnSpc>
              <a:spcBef>
                <a:spcPts val="400"/>
              </a:spcBef>
              <a:buNone/>
            </a:pPr>
            <a:r>
              <a:rPr lang="en-US" sz="2000" b="0">
                <a:solidFill>
                  <a:srgbClr val="1F2933"/>
                </a:solidFill>
                <a:latin typeface="Noto Sans JP"/>
                <a:ea typeface="Noto Sans JP"/>
              </a:rPr>
              <a:t>1. 一度出た SCC には戻れない。</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2. SCC は有限個なので、移動も有限回で終わる。</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3. 最後の SCC に無限に留まるので、そこには辺がある（巡回的）。</a:t>
            </a:r>
          </a:p>
        </p:txBody>
      </p:sp>
      <p:pic>
        <p:nvPicPr>
          <p:cNvPr id="100376" name="Pic8" descr="図: 1本の無限ウォークが SCC1 → SCC2 → SCC3 と移り、最後は SCC3 の中を回り続けることを時間の帯とともに示す図。"/>
          <p:cNvPicPr>
            <a:picLocks xmlns:a="http://schemas.openxmlformats.org/drawingml/2006/main" noChangeAspect="1"/>
          </p:cNvPicPr>
          <p:nvPr/>
        </p:nvPicPr>
        <p:blipFill>
          <a:blip xmlns:r="http://schemas.openxmlformats.org/officeDocument/2006/relationships" xmlns:a="http://schemas.openxmlformats.org/drawingml/2006/main" r:embed="Rff713e03250e4f5f"/>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377"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378"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根からの長さ h、周期 d、位相</a:t>
            </a:r>
          </a:p>
        </p:txBody>
      </p:sp>
      <p:sp>
        <p:nvSpPr>
          <p:cNvPr id="100379"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39 / 99</a:t>
            </a:r>
          </a:p>
        </p:txBody>
      </p:sp>
      <p:sp>
        <p:nvSpPr>
          <p:cNvPr id="100380"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81"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82"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辺を進むたびに位相が 0, 1, …, d−1 と順に回るように、頂点に番号を付けられます。</a:t>
            </a:r>
          </a:p>
        </p:txBody>
      </p:sp>
      <p:sp>
        <p:nvSpPr>
          <p:cNvPr id="100383"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巡回的な SCC C に根 ρ を選び、各頂点 v に数 h(v) を付けます。</a:t>
            </a:r>
          </a:p>
        </p:txBody>
      </p:sp>
      <p:sp>
        <p:nvSpPr>
          <p:cNvPr id="100384" name="Term8"/>
          <p:cNvSpPr txBox="1"/>
          <p:nvPr/>
        </p:nvSpPr>
        <p:spPr>
          <a:xfrm xmlns:a="http://schemas.openxmlformats.org/drawingml/2006/main">
            <a:off x="457200" y="194364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h(v)</a:t>
            </a:r>
          </a:p>
          <a:p xmlns:a="http://schemas.openxmlformats.org/drawingml/2006/main">
            <a:pPr algn="l">
              <a:lnSpc>
                <a:spcPct val="112000"/>
              </a:lnSpc>
              <a:spcBef>
                <a:spcPts val="200"/>
              </a:spcBef>
            </a:pPr>
            <a:r>
              <a:rPr lang="en-US" sz="1800" b="0">
                <a:solidFill>
                  <a:srgbClr val="1F2933"/>
                </a:solidFill>
                <a:latin typeface="Noto Sans JP"/>
                <a:ea typeface="Noto Sans JP"/>
              </a:rPr>
              <a:t>根 ρ から v への C 内の道を1本決めたときの長さ（辺の本数。例: 最短の道）。</a:t>
            </a:r>
          </a:p>
        </p:txBody>
      </p:sp>
      <p:pic>
        <p:nvPicPr>
          <p:cNvPr id="100385" name="Pic9" descr="数式: d=\gcd\bigl\{\,|h(u)+1-h(v)|:\ u\to v\in E_C\bigr\}"/>
          <p:cNvPicPr>
            <a:picLocks xmlns:a="http://schemas.openxmlformats.org/drawingml/2006/main" noChangeAspect="1"/>
          </p:cNvPicPr>
          <p:nvPr/>
        </p:nvPicPr>
        <p:blipFill>
          <a:blip xmlns:r="http://schemas.openxmlformats.org/officeDocument/2006/relationships" xmlns:a="http://schemas.openxmlformats.org/drawingml/2006/main" r:embed="Reccff977dd6f49ab"/>
          <a:stretch xmlns:a="http://schemas.openxmlformats.org/drawingml/2006/main">
            <a:fillRect/>
          </a:stretch>
        </p:blipFill>
        <p:spPr>
          <a:xfrm xmlns:a="http://schemas.openxmlformats.org/drawingml/2006/main">
            <a:off x="529200" y="3374280"/>
            <a:ext cx="4716000" cy="355680"/>
          </a:xfrm>
          <a:prstGeom xmlns:a="http://schemas.openxmlformats.org/drawingml/2006/main" prst="rect">
            <a:avLst/>
          </a:prstGeom>
        </p:spPr>
      </p:pic>
      <p:sp>
        <p:nvSpPr>
          <p:cNvPr id="100386" name="Text10"/>
          <p:cNvSpPr txBox="1"/>
          <p:nvPr/>
        </p:nvSpPr>
        <p:spPr>
          <a:xfrm xmlns:a="http://schemas.openxmlformats.org/drawingml/2006/main">
            <a:off x="457200" y="3862800"/>
            <a:ext cx="5247720" cy="6123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spcBef>
                <a:spcPts val="600"/>
              </a:spcBef>
            </a:pPr>
            <a:r>
              <a:rPr lang="en-US" sz="1800" b="0">
                <a:solidFill>
                  <a:srgbClr val="4F5D6E"/>
                </a:solidFill>
                <a:latin typeface="Noto Sans JP"/>
                <a:ea typeface="Noto Sans JP"/>
              </a:rPr>
              <a:t>E</a:t>
            </a:r>
            <a:r>
              <a:rPr lang="en-US" sz="1800" b="0" baseline="-25000">
                <a:solidFill>
                  <a:srgbClr val="4F5D6E"/>
                </a:solidFill>
                <a:latin typeface="Noto Sans JP"/>
                <a:ea typeface="Noto Sans JP"/>
              </a:rPr>
              <a:t>C</a:t>
            </a:r>
            <a:r>
              <a:rPr lang="en-US" sz="1800" b="0">
                <a:solidFill>
                  <a:srgbClr val="4F5D6E"/>
                </a:solidFill>
                <a:latin typeface="Noto Sans JP"/>
                <a:ea typeface="Noto Sans JP"/>
              </a:rPr>
              <a:t>: C の内部辺（両端が C にある辺）の全体</a:t>
            </a:r>
          </a:p>
        </p:txBody>
      </p:sp>
      <p:sp>
        <p:nvSpPr>
          <p:cNvPr id="100387" name="Term11"/>
          <p:cNvSpPr txBox="1"/>
          <p:nvPr/>
        </p:nvSpPr>
        <p:spPr>
          <a:xfrm xmlns:a="http://schemas.openxmlformats.org/drawingml/2006/main">
            <a:off x="457200" y="442080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位相</a:t>
            </a:r>
          </a:p>
          <a:p xmlns:a="http://schemas.openxmlformats.org/drawingml/2006/main">
            <a:pPr algn="l">
              <a:lnSpc>
                <a:spcPct val="112000"/>
              </a:lnSpc>
              <a:spcBef>
                <a:spcPts val="200"/>
              </a:spcBef>
            </a:pPr>
            <a:r>
              <a:rPr lang="en-US" sz="1800" b="0">
                <a:solidFill>
                  <a:srgbClr val="1F2933"/>
                </a:solidFill>
                <a:latin typeface="Noto Sans JP"/>
                <a:ea typeface="Noto Sans JP"/>
              </a:rPr>
              <a:t>h(v) を d で割ったあまり。辺を1本進むと位相は1つ進む。</a:t>
            </a:r>
          </a:p>
        </p:txBody>
      </p:sp>
      <p:pic>
        <p:nvPicPr>
          <p:cNvPr id="100388" name="Pic12" descr="図: 説明用の5頂点の例で、根からの長さ h、各辺の |h(u)+1−h(v)|、その gcd d=3、位相 h mod 3 の色分けを示す図。"/>
          <p:cNvPicPr>
            <a:picLocks xmlns:a="http://schemas.openxmlformats.org/drawingml/2006/main" noChangeAspect="1"/>
          </p:cNvPicPr>
          <p:nvPr/>
        </p:nvPicPr>
        <p:blipFill>
          <a:blip xmlns:r="http://schemas.openxmlformats.org/officeDocument/2006/relationships" xmlns:a="http://schemas.openxmlformats.org/drawingml/2006/main" r:embed="Rc6ab16e5f02a48a2"/>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389"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390"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位相判定: 位相ごとにラベルが1つか</a:t>
            </a:r>
          </a:p>
        </p:txBody>
      </p:sp>
      <p:sp>
        <p:nvSpPr>
          <p:cNvPr id="100391"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40 / 99</a:t>
            </a:r>
          </a:p>
        </p:txBody>
      </p:sp>
      <p:sp>
        <p:nvSpPr>
          <p:cNvPr id="100392"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93"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394"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位相ごとにラベルが1つに決まるかを、すべての内部辺について確かめます。</a:t>
            </a:r>
          </a:p>
        </p:txBody>
      </p:sp>
      <p:sp>
        <p:nvSpPr>
          <p:cNvPr id="100395" name="Text7"/>
          <p:cNvSpPr txBox="1"/>
          <p:nvPr/>
        </p:nvSpPr>
        <p:spPr>
          <a:xfrm xmlns:a="http://schemas.openxmlformats.org/drawingml/2006/main">
            <a:off x="457200" y="1080000"/>
            <a:ext cx="524772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各位相 s（0 ≤ s &lt; d）について、位相 s の頂点から出る内部辺のラベルを全部集めます。</a:t>
            </a:r>
          </a:p>
        </p:txBody>
      </p:sp>
      <p:sp>
        <p:nvSpPr>
          <p:cNvPr id="100396" name="Term8"/>
          <p:cNvSpPr txBox="1"/>
          <p:nvPr/>
        </p:nvSpPr>
        <p:spPr>
          <a:xfrm xmlns:a="http://schemas.openxmlformats.org/drawingml/2006/main">
            <a:off x="457200" y="229068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認証</a:t>
            </a:r>
          </a:p>
          <a:p xmlns:a="http://schemas.openxmlformats.org/drawingml/2006/main">
            <a:pPr algn="l">
              <a:lnSpc>
                <a:spcPct val="112000"/>
              </a:lnSpc>
              <a:spcBef>
                <a:spcPts val="200"/>
              </a:spcBef>
            </a:pPr>
            <a:r>
              <a:rPr lang="en-US" sz="1800" b="0">
                <a:solidFill>
                  <a:srgbClr val="1F2933"/>
                </a:solidFill>
                <a:latin typeface="Noto Sans JP"/>
                <a:ea typeface="Noto Sans JP"/>
              </a:rPr>
              <a:t>どの位相でも、集めたラベルが1種類だけのとき、その SCC を「認証された」という。</a:t>
            </a:r>
          </a:p>
        </p:txBody>
      </p:sp>
      <p:sp>
        <p:nvSpPr>
          <p:cNvPr id="100397" name="Text9"/>
          <p:cNvSpPr txBox="1"/>
          <p:nvPr/>
        </p:nvSpPr>
        <p:spPr>
          <a:xfrm xmlns:a="http://schemas.openxmlformats.org/drawingml/2006/main">
            <a:off x="457200" y="3703320"/>
            <a:ext cx="5247720" cy="18525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左の例: 位相 0 は {2}、位相 1 は {4} で認証。</a:t>
            </a:r>
          </a:p>
          <a:p xmlns:a="http://schemas.openxmlformats.org/drawingml/2006/main">
            <a:pPr algn="l">
              <a:lnSpc>
                <a:spcPct val="112000"/>
              </a:lnSpc>
              <a:spcBef>
                <a:spcPts val="400"/>
              </a:spcBef>
            </a:pPr>
            <a:r>
              <a:rPr lang="en-US" sz="2000" b="0">
                <a:solidFill>
                  <a:srgbClr val="1F2933"/>
                </a:solidFill>
                <a:latin typeface="Noto Sans JP"/>
                <a:ea typeface="Noto Sans JP"/>
              </a:rPr>
              <a:t>右の例: 点線の辺を足すと位相 0 に {2, 4} の2種類が入り、認証されません。</a:t>
            </a:r>
          </a:p>
        </p:txBody>
      </p:sp>
      <p:pic>
        <p:nvPicPr>
          <p:cNvPr id="100398" name="Pic10" descr="図: 説明用の2頂点の例。左は位相ごとにラベルが1つで認証、右は平行辺を足すと位相 0 に 2 と 4 が入り認証されない。"/>
          <p:cNvPicPr>
            <a:picLocks xmlns:a="http://schemas.openxmlformats.org/drawingml/2006/main" noChangeAspect="1"/>
          </p:cNvPicPr>
          <p:nvPr/>
        </p:nvPicPr>
        <p:blipFill>
          <a:blip xmlns:r="http://schemas.openxmlformats.org/officeDocument/2006/relationships" xmlns:a="http://schemas.openxmlformats.org/drawingml/2006/main" r:embed="Re51c0c83ad104511"/>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399"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400"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補題7: 認証された SCC の出力は周期的</a:t>
            </a:r>
          </a:p>
        </p:txBody>
      </p:sp>
      <p:sp>
        <p:nvSpPr>
          <p:cNvPr id="100401"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41 / 99</a:t>
            </a:r>
          </a:p>
        </p:txBody>
      </p:sp>
      <p:sp>
        <p:nvSpPr>
          <p:cNvPr id="100402"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03"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04"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認証された SCC の中だけを通るウォークは、周期的な出力しか出せません。</a:t>
            </a:r>
          </a:p>
        </p:txBody>
      </p:sp>
      <p:sp>
        <p:nvSpPr>
          <p:cNvPr id="100405" name="Text7"/>
          <p:cNvSpPr txBox="1"/>
          <p:nvPr/>
        </p:nvSpPr>
        <p:spPr>
          <a:xfrm xmlns:a="http://schemas.openxmlformats.org/drawingml/2006/main">
            <a:off x="457200" y="1080000"/>
            <a:ext cx="5247720" cy="41104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補題7（位相判定）</a:t>
            </a:r>
          </a:p>
          <a:p xmlns:a="http://schemas.openxmlformats.org/drawingml/2006/main">
            <a:pPr algn="l">
              <a:lnSpc>
                <a:spcPct val="112000"/>
              </a:lnSpc>
              <a:spcBef>
                <a:spcPts val="400"/>
              </a:spcBef>
            </a:pPr>
            <a:r>
              <a:rPr lang="en-US" sz="2000" b="0">
                <a:solidFill>
                  <a:srgbClr val="1F2933"/>
                </a:solidFill>
                <a:latin typeface="Noto Sans JP"/>
                <a:ea typeface="Noto Sans JP"/>
              </a:rPr>
              <a:t>認証された SCC の中だけを動く無限ウォークの出力は、周期 d の周期的な列です。</a:t>
            </a:r>
          </a:p>
          <a:p xmlns:a="http://schemas.openxmlformats.org/drawingml/2006/main">
            <a:pPr algn="l">
              <a:lnSpc>
                <a:spcPct val="112000"/>
              </a:lnSpc>
              <a:spcBef>
                <a:spcPts val="1000"/>
              </a:spcBef>
            </a:pPr>
            <a:r>
              <a:rPr lang="en-US" sz="2000" b="1">
                <a:solidFill>
                  <a:srgbClr val="1B2A41"/>
                </a:solidFill>
                <a:latin typeface="Noto Sans JP"/>
                <a:ea typeface="Noto Sans JP"/>
              </a:rPr>
              <a:t>理由</a:t>
            </a:r>
          </a:p>
          <a:p xmlns:a="http://schemas.openxmlformats.org/drawingml/2006/main">
            <a:pPr algn="l">
              <a:lnSpc>
                <a:spcPct val="112000"/>
              </a:lnSpc>
              <a:spcBef>
                <a:spcPts val="400"/>
              </a:spcBef>
            </a:pPr>
            <a:r>
              <a:rPr lang="en-US" sz="2000" b="0">
                <a:solidFill>
                  <a:srgbClr val="1F2933"/>
                </a:solidFill>
                <a:latin typeface="Noto Sans JP"/>
                <a:ea typeface="Noto Sans JP"/>
              </a:rPr>
              <a:t>ウォークを v</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 v</a:t>
            </a:r>
            <a:r>
              <a:rPr lang="en-US" sz="2000" b="0" baseline="-25000">
                <a:solidFill>
                  <a:srgbClr val="1F2933"/>
                </a:solidFill>
                <a:latin typeface="Noto Sans JP"/>
                <a:ea typeface="Noto Sans JP"/>
              </a:rPr>
              <a:t>1</a:t>
            </a:r>
            <a:r>
              <a:rPr lang="en-US" sz="2000" b="0">
                <a:solidFill>
                  <a:srgbClr val="1F2933"/>
                </a:solidFill>
                <a:latin typeface="Noto Sans JP"/>
                <a:ea typeface="Noto Sans JP"/>
              </a:rPr>
              <a:t xml:space="preserve"> → … とすると、i 本目（i は 0 から数える）の辺の出発点の位相は h(v</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 i を d で割ったあまり。各位相のラベルは1つなので、ラベルは d ごとに繰り返します。</a:t>
            </a:r>
          </a:p>
        </p:txBody>
      </p:sp>
      <p:pic>
        <p:nvPicPr>
          <p:cNvPr id="100406" name="Pic8" descr="図: 認証された d=3 の説明用の SCC と、そのウォークの出力が位相だけで決まり −2, 4, 2 の繰り返しになることを示す図。"/>
          <p:cNvPicPr>
            <a:picLocks xmlns:a="http://schemas.openxmlformats.org/drawingml/2006/main" noChangeAspect="1"/>
          </p:cNvPicPr>
          <p:nvPr/>
        </p:nvPicPr>
        <p:blipFill>
          <a:blip xmlns:r="http://schemas.openxmlformats.org/officeDocument/2006/relationships" xmlns:a="http://schemas.openxmlformats.org/drawingml/2006/main" r:embed="Re2d05ba1ec724c88"/>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407"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408"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補題8: 数列は未認証の SCC に残る</a:t>
            </a:r>
          </a:p>
        </p:txBody>
      </p:sp>
      <p:sp>
        <p:nvSpPr>
          <p:cNvPr id="100409"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42 / 99</a:t>
            </a:r>
          </a:p>
        </p:txBody>
      </p:sp>
      <p:sp>
        <p:nvSpPr>
          <p:cNvPr id="100410"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11"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12"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認証された部分は、補題4により真の数列が永遠にいられない場所なので、消してよいのです。</a:t>
            </a:r>
          </a:p>
        </p:txBody>
      </p:sp>
      <p:sp>
        <p:nvSpPr>
          <p:cNvPr id="100413" name="Term7"/>
          <p:cNvSpPr txBox="1"/>
          <p:nvPr/>
        </p:nvSpPr>
        <p:spPr>
          <a:xfrm xmlns:a="http://schemas.openxmlformats.org/drawingml/2006/main">
            <a:off x="457200" y="1080000"/>
            <a:ext cx="5247720" cy="160992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W と G</a:t>
            </a:r>
            <a:r>
              <a:rPr lang="en-US" sz="1800" b="1" baseline="-25000">
                <a:solidFill>
                  <a:srgbClr val="1B2A41"/>
                </a:solidFill>
                <a:latin typeface="Noto Sans JP"/>
                <a:ea typeface="Noto Sans JP"/>
              </a:rPr>
              <a:t>K</a:t>
            </a:r>
            <a:r>
              <a:rPr lang="en-US" sz="1800" b="1">
                <a:solidFill>
                  <a:srgbClr val="1B2A41"/>
                </a:solidFill>
                <a:latin typeface="Noto Sans JP"/>
                <a:ea typeface="Noto Sans JP"/>
              </a:rPr>
              <a:t>(W)</a:t>
            </a:r>
          </a:p>
          <a:p xmlns:a="http://schemas.openxmlformats.org/drawingml/2006/main">
            <a:pPr algn="l">
              <a:lnSpc>
                <a:spcPct val="112000"/>
              </a:lnSpc>
              <a:spcBef>
                <a:spcPts val="200"/>
              </a:spcBef>
            </a:pPr>
            <a:r>
              <a:rPr lang="en-US" sz="1800" b="0">
                <a:solidFill>
                  <a:srgbClr val="1F2933"/>
                </a:solidFill>
                <a:latin typeface="Noto Sans JP"/>
                <a:ea typeface="Noto Sans JP"/>
              </a:rPr>
              <a:t>W: 調べている状態の集まり（最初は互いに素な状態すべて）。W だけを頂点にしたグラフが G</a:t>
            </a:r>
            <a:r>
              <a:rPr lang="en-US" sz="1800" b="0" baseline="-25000">
                <a:solidFill>
                  <a:srgbClr val="1F2933"/>
                </a:solidFill>
                <a:latin typeface="Noto Sans JP"/>
                <a:ea typeface="Noto Sans JP"/>
              </a:rPr>
              <a:t>K</a:t>
            </a:r>
            <a:r>
              <a:rPr lang="en-US" sz="1800" b="0">
                <a:solidFill>
                  <a:srgbClr val="1F2933"/>
                </a:solidFill>
                <a:latin typeface="Noto Sans JP"/>
                <a:ea typeface="Noto Sans JP"/>
              </a:rPr>
              <a:t>(W)。</a:t>
            </a:r>
          </a:p>
        </p:txBody>
      </p:sp>
      <p:sp>
        <p:nvSpPr>
          <p:cNvPr id="100414" name="Text8"/>
          <p:cNvSpPr txBox="1"/>
          <p:nvPr/>
        </p:nvSpPr>
        <p:spPr>
          <a:xfrm xmlns:a="http://schemas.openxmlformats.org/drawingml/2006/main">
            <a:off x="457200" y="2805120"/>
            <a:ext cx="5247720" cy="30506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R</a:t>
            </a:r>
            <a:r>
              <a:rPr lang="en-US" sz="2000" b="0" baseline="-25000">
                <a:solidFill>
                  <a:srgbClr val="1F2933"/>
                </a:solidFill>
                <a:latin typeface="Noto Sans JP"/>
                <a:ea typeface="Noto Sans JP"/>
              </a:rPr>
              <a:t>K</a:t>
            </a:r>
            <a:r>
              <a:rPr lang="en-US" sz="2000" b="0">
                <a:solidFill>
                  <a:srgbClr val="1F2933"/>
                </a:solidFill>
                <a:latin typeface="Noto Sans JP"/>
                <a:ea typeface="Noto Sans JP"/>
              </a:rPr>
              <a:t>(W): グラフ G</a:t>
            </a:r>
            <a:r>
              <a:rPr lang="en-US" sz="2000" b="0" baseline="-25000">
                <a:solidFill>
                  <a:srgbClr val="1F2933"/>
                </a:solidFill>
                <a:latin typeface="Noto Sans JP"/>
                <a:ea typeface="Noto Sans JP"/>
              </a:rPr>
              <a:t>K</a:t>
            </a:r>
            <a:r>
              <a:rPr lang="en-US" sz="2000" b="0">
                <a:solidFill>
                  <a:srgbClr val="1F2933"/>
                </a:solidFill>
                <a:latin typeface="Noto Sans JP"/>
                <a:ea typeface="Noto Sans JP"/>
              </a:rPr>
              <a:t>(W) の巡回的 SCC のうち、認証されなかったものの頂点全部（保持集合）。</a:t>
            </a:r>
          </a:p>
          <a:p xmlns:a="http://schemas.openxmlformats.org/drawingml/2006/main">
            <a:pPr algn="l">
              <a:lnSpc>
                <a:spcPct val="112000"/>
              </a:lnSpc>
              <a:spcBef>
                <a:spcPts val="1000"/>
              </a:spcBef>
            </a:pPr>
            <a:r>
              <a:rPr lang="en-US" sz="2000" b="1">
                <a:solidFill>
                  <a:srgbClr val="1B2A41"/>
                </a:solidFill>
                <a:latin typeface="Noto Sans JP"/>
                <a:ea typeface="Noto Sans JP"/>
              </a:rPr>
              <a:t>補題8</a:t>
            </a:r>
          </a:p>
          <a:p xmlns:a="http://schemas.openxmlformats.org/drawingml/2006/main">
            <a:pPr algn="l">
              <a:lnSpc>
                <a:spcPct val="112000"/>
              </a:lnSpc>
              <a:spcBef>
                <a:spcPts val="400"/>
              </a:spcBef>
            </a:pPr>
            <a:r>
              <a:rPr lang="en-US" sz="2000" b="0">
                <a:solidFill>
                  <a:srgbClr val="1F2933"/>
                </a:solidFill>
                <a:latin typeface="Noto Sans JP"/>
                <a:ea typeface="Noto Sans JP"/>
              </a:rPr>
              <a:t>ある所から先の状態がずっと W の中なら、さらに先では、ずっと R</a:t>
            </a:r>
            <a:r>
              <a:rPr lang="en-US" sz="2000" b="0" baseline="-25000">
                <a:solidFill>
                  <a:srgbClr val="1F2933"/>
                </a:solidFill>
                <a:latin typeface="Noto Sans JP"/>
                <a:ea typeface="Noto Sans JP"/>
              </a:rPr>
              <a:t>K</a:t>
            </a:r>
            <a:r>
              <a:rPr lang="en-US" sz="2000" b="0">
                <a:solidFill>
                  <a:srgbClr val="1F2933"/>
                </a:solidFill>
                <a:latin typeface="Noto Sans JP"/>
                <a:ea typeface="Noto Sans JP"/>
              </a:rPr>
              <a:t>(W) の中にあります。</a:t>
            </a:r>
          </a:p>
          <a:p xmlns:a="http://schemas.openxmlformats.org/drawingml/2006/main">
            <a:pPr algn="l">
              <a:lnSpc>
                <a:spcPct val="112000"/>
              </a:lnSpc>
              <a:spcBef>
                <a:spcPts val="600"/>
              </a:spcBef>
            </a:pPr>
            <a:r>
              <a:rPr lang="en-US" sz="1800" b="0">
                <a:solidFill>
                  <a:srgbClr val="4F5D6E"/>
                </a:solidFill>
                <a:latin typeface="Noto Sans JP"/>
                <a:ea typeface="Noto Sans JP"/>
              </a:rPr>
              <a:t>認証された SCC と巡回的でない SCC は除く。</a:t>
            </a:r>
          </a:p>
        </p:txBody>
      </p:sp>
      <p:pic>
        <p:nvPicPr>
          <p:cNvPr id="100415" name="Pic9" descr="図: 補題8の論理の流れ図: 無限ウォーク → ある所から先は1つの巡回的 SCC の中 → 認証済みなら補題4に矛盾、未認証ならそこに残る。"/>
          <p:cNvPicPr>
            <a:picLocks xmlns:a="http://schemas.openxmlformats.org/drawingml/2006/main" noChangeAspect="1"/>
          </p:cNvPicPr>
          <p:nvPr/>
        </p:nvPicPr>
        <p:blipFill>
          <a:blip xmlns:r="http://schemas.openxmlformats.org/officeDocument/2006/relationships" xmlns:a="http://schemas.openxmlformats.org/drawingml/2006/main" r:embed="R44033b1fd80e4c4d"/>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416"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417"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細分: セルを f 等分する</a:t>
            </a:r>
          </a:p>
        </p:txBody>
      </p:sp>
      <p:sp>
        <p:nvSpPr>
          <p:cNvPr id="100418"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43 / 99</a:t>
            </a:r>
          </a:p>
        </p:txBody>
      </p:sp>
      <p:sp>
        <p:nvSpPr>
          <p:cNvPr id="100419"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20"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21"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セルを細かくしても、真の数列の状態は必ず元のセルの「子」のどれかに入ります。</a:t>
            </a:r>
          </a:p>
        </p:txBody>
      </p:sp>
      <p:sp>
        <p:nvSpPr>
          <p:cNvPr id="100422"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保持集合に残った状態を、セルを細かくして調べ直します。</a:t>
            </a:r>
          </a:p>
        </p:txBody>
      </p:sp>
      <p:pic>
        <p:nvPicPr>
          <p:cNvPr id="100423" name="Pic8" descr="数式: \mathrm{Refine}_f(U)=\{(q,\,fj+i):\ (q,j)\in U,\ 0\le i&lt;f\}"/>
          <p:cNvPicPr>
            <a:picLocks xmlns:a="http://schemas.openxmlformats.org/drawingml/2006/main" noChangeAspect="1"/>
          </p:cNvPicPr>
          <p:nvPr/>
        </p:nvPicPr>
        <p:blipFill>
          <a:blip xmlns:r="http://schemas.openxmlformats.org/officeDocument/2006/relationships" xmlns:a="http://schemas.openxmlformats.org/drawingml/2006/main" r:embed="Rca241aa2f9534c81"/>
          <a:stretch xmlns:a="http://schemas.openxmlformats.org/drawingml/2006/main">
            <a:fillRect/>
          </a:stretch>
        </p:blipFill>
        <p:spPr>
          <a:xfrm xmlns:a="http://schemas.openxmlformats.org/drawingml/2006/main">
            <a:off x="529200" y="1961640"/>
            <a:ext cx="5247720" cy="295200"/>
          </a:xfrm>
          <a:prstGeom xmlns:a="http://schemas.openxmlformats.org/drawingml/2006/main" prst="rect">
            <a:avLst/>
          </a:prstGeom>
        </p:spPr>
      </p:pic>
      <p:sp>
        <p:nvSpPr>
          <p:cNvPr id="100424" name="Text9"/>
          <p:cNvSpPr txBox="1"/>
          <p:nvPr/>
        </p:nvSpPr>
        <p:spPr>
          <a:xfrm xmlns:a="http://schemas.openxmlformats.org/drawingml/2006/main">
            <a:off x="457200" y="2389680"/>
            <a:ext cx="5247720" cy="22622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補題9</a:t>
            </a:r>
          </a:p>
          <a:p xmlns:a="http://schemas.openxmlformats.org/drawingml/2006/main">
            <a:pPr algn="l">
              <a:lnSpc>
                <a:spcPct val="112000"/>
              </a:lnSpc>
              <a:spcBef>
                <a:spcPts val="400"/>
              </a:spcBef>
            </a:pPr>
            <a:r>
              <a:rPr lang="en-US" sz="2000" b="0">
                <a:solidFill>
                  <a:srgbClr val="1F2933"/>
                </a:solidFill>
                <a:latin typeface="Noto Sans JP"/>
                <a:ea typeface="Noto Sans JP"/>
              </a:rPr>
              <a:t>σ</a:t>
            </a:r>
            <a:r>
              <a:rPr lang="en-US" sz="2000" b="0" baseline="-25000">
                <a:solidFill>
                  <a:srgbClr val="1F2933"/>
                </a:solidFill>
                <a:latin typeface="Noto Sans JP"/>
                <a:ea typeface="Noto Sans JP"/>
              </a:rPr>
              <a:t>K</a:t>
            </a:r>
            <a:r>
              <a:rPr lang="en-US" sz="2000" b="0">
                <a:solidFill>
                  <a:srgbClr val="1F2933"/>
                </a:solidFill>
                <a:latin typeface="Noto Sans JP"/>
                <a:ea typeface="Noto Sans JP"/>
              </a:rPr>
              <a:t>(n) が U にあれば、σ</a:t>
            </a:r>
            <a:r>
              <a:rPr lang="en-US" sz="2000" b="0" baseline="-25000">
                <a:solidFill>
                  <a:srgbClr val="1F2933"/>
                </a:solidFill>
                <a:latin typeface="Noto Sans JP"/>
                <a:ea typeface="Noto Sans JP"/>
              </a:rPr>
              <a:t>fK</a:t>
            </a:r>
            <a:r>
              <a:rPr lang="en-US" sz="2000" b="0">
                <a:solidFill>
                  <a:srgbClr val="1F2933"/>
                </a:solidFill>
                <a:latin typeface="Noto Sans JP"/>
                <a:ea typeface="Noto Sans JP"/>
              </a:rPr>
              <a:t>(n) は Refine</a:t>
            </a:r>
            <a:r>
              <a:rPr lang="en-US" sz="2000" b="0" baseline="-25000">
                <a:solidFill>
                  <a:srgbClr val="1F2933"/>
                </a:solidFill>
                <a:latin typeface="Noto Sans JP"/>
                <a:ea typeface="Noto Sans JP"/>
              </a:rPr>
              <a:t>f</a:t>
            </a:r>
            <a:r>
              <a:rPr lang="en-US" sz="2000" b="0">
                <a:solidFill>
                  <a:srgbClr val="1F2933"/>
                </a:solidFill>
                <a:latin typeface="Noto Sans JP"/>
                <a:ea typeface="Noto Sans JP"/>
              </a:rPr>
              <a:t>(U) にあります。あまりは変わらず、セル j は fj, …, fj+f−1 のどれかに分かれます。</a:t>
            </a:r>
          </a:p>
        </p:txBody>
      </p:sp>
      <p:pic>
        <p:nvPicPr>
          <p:cNvPr id="100425" name="Pic10" descr="図: K=4 のセル 1 を 3 等分して K=12 のセル 3, 4, 5 にする細分の図。θ = 0.4 は細かいセル 4 に入る。"/>
          <p:cNvPicPr>
            <a:picLocks xmlns:a="http://schemas.openxmlformats.org/drawingml/2006/main" noChangeAspect="1"/>
          </p:cNvPicPr>
          <p:nvPr/>
        </p:nvPicPr>
        <p:blipFill>
          <a:blip xmlns:r="http://schemas.openxmlformats.org/officeDocument/2006/relationships" xmlns:a="http://schemas.openxmlformats.org/drawingml/2006/main" r:embed="Rdf178fd9841b49c9"/>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426"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427"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定理10: 有限認証</a:t>
            </a:r>
          </a:p>
        </p:txBody>
      </p:sp>
      <p:sp>
        <p:nvSpPr>
          <p:cNvPr id="100428"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44 / 99</a:t>
            </a:r>
          </a:p>
        </p:txBody>
      </p:sp>
      <p:sp>
        <p:nvSpPr>
          <p:cNvPr id="100429"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30"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31"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「残す→細かくする」を有限回繰り返して空になれば、背理法で定理が証明されます。</a:t>
            </a:r>
          </a:p>
        </p:txBody>
      </p:sp>
      <p:sp>
        <p:nvSpPr>
          <p:cNvPr id="100432"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W</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 互いに素な状態すべて、から始めて次を繰り返します。</a:t>
            </a:r>
          </a:p>
        </p:txBody>
      </p:sp>
      <p:pic>
        <p:nvPicPr>
          <p:cNvPr id="100433" name="Pic8" descr="数式: K_t=K_0 f^t,\quad U_t=R_{K_t}(W_t),\quad W_{t+1}=\mathrm{Refine}_f(U_t)"/>
          <p:cNvPicPr>
            <a:picLocks xmlns:a="http://schemas.openxmlformats.org/drawingml/2006/main" noChangeAspect="1"/>
          </p:cNvPicPr>
          <p:nvPr/>
        </p:nvPicPr>
        <p:blipFill>
          <a:blip xmlns:r="http://schemas.openxmlformats.org/officeDocument/2006/relationships" xmlns:a="http://schemas.openxmlformats.org/drawingml/2006/main" r:embed="R4a6429ab863e482d"/>
          <a:stretch xmlns:a="http://schemas.openxmlformats.org/drawingml/2006/main">
            <a:fillRect/>
          </a:stretch>
        </p:blipFill>
        <p:spPr>
          <a:xfrm xmlns:a="http://schemas.openxmlformats.org/drawingml/2006/main">
            <a:off x="529200" y="1961640"/>
            <a:ext cx="5247720" cy="306360"/>
          </a:xfrm>
          <a:prstGeom xmlns:a="http://schemas.openxmlformats.org/drawingml/2006/main" prst="rect">
            <a:avLst/>
          </a:prstGeom>
        </p:spPr>
      </p:pic>
      <p:sp>
        <p:nvSpPr>
          <p:cNvPr id="100434" name="Text9"/>
          <p:cNvSpPr txBox="1"/>
          <p:nvPr/>
        </p:nvSpPr>
        <p:spPr>
          <a:xfrm xmlns:a="http://schemas.openxmlformats.org/drawingml/2006/main">
            <a:off x="457200" y="2401200"/>
            <a:ext cx="5247720" cy="18525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定理10</a:t>
            </a:r>
          </a:p>
          <a:p xmlns:a="http://schemas.openxmlformats.org/drawingml/2006/main">
            <a:pPr algn="l">
              <a:lnSpc>
                <a:spcPct val="112000"/>
              </a:lnSpc>
              <a:spcBef>
                <a:spcPts val="400"/>
              </a:spcBef>
            </a:pPr>
            <a:r>
              <a:rPr lang="en-US" sz="2000" b="0">
                <a:solidFill>
                  <a:srgbClr val="1F2933"/>
                </a:solidFill>
                <a:latin typeface="Noto Sans JP"/>
                <a:ea typeface="Noto Sans JP"/>
              </a:rPr>
              <a:t>ある段 s で U</a:t>
            </a:r>
            <a:r>
              <a:rPr lang="en-US" sz="2000" b="0" baseline="-25000">
                <a:solidFill>
                  <a:srgbClr val="1F2933"/>
                </a:solidFill>
                <a:latin typeface="Noto Sans JP"/>
                <a:ea typeface="Noto Sans JP"/>
              </a:rPr>
              <a:t>s</a:t>
            </a:r>
            <a:r>
              <a:rPr lang="en-US" sz="2000" b="0">
                <a:solidFill>
                  <a:srgbClr val="1F2933"/>
                </a:solidFill>
                <a:latin typeface="Noto Sans JP"/>
                <a:ea typeface="Noto Sans JP"/>
              </a:rPr>
              <a:t xml:space="preserve"> が空になれば、どんな ξ &gt; 0 と N にも、n ≥ max(N,1) で gcd(Q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M) &gt; 1 となる n があります。</a:t>
            </a:r>
          </a:p>
        </p:txBody>
      </p:sp>
      <p:pic>
        <p:nvPicPr>
          <p:cNvPr id="100435" name="Pic10" descr="図: 有限認証の流れ図: 互いに素な状態すべてから始め、未認証部分を残して細分することを繰り返し、空になれば矛盾。"/>
          <p:cNvPicPr>
            <a:picLocks xmlns:a="http://schemas.openxmlformats.org/drawingml/2006/main" noChangeAspect="1"/>
          </p:cNvPicPr>
          <p:nvPr/>
        </p:nvPicPr>
        <p:blipFill>
          <a:blip xmlns:r="http://schemas.openxmlformats.org/officeDocument/2006/relationships" xmlns:a="http://schemas.openxmlformats.org/drawingml/2006/main" r:embed="R07cbc522b3d6472b"/>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436"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437"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比 7/5 の計算（表1）</a:t>
            </a:r>
          </a:p>
        </p:txBody>
      </p:sp>
      <p:sp>
        <p:nvSpPr>
          <p:cNvPr id="100438"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45 / 99</a:t>
            </a:r>
          </a:p>
        </p:txBody>
      </p:sp>
      <p:sp>
        <p:nvSpPr>
          <p:cNvPr id="100439"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40"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41"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4段目（K = 2048）で、認証されない部分が完全になくなりました。</a:t>
            </a:r>
          </a:p>
        </p:txBody>
      </p:sp>
      <p:graphicFrame>
        <p:nvGraphicFramePr>
          <p:cNvPr id="100442" name="Table7"/>
          <p:cNvGraphicFramePr/>
          <p:nvPr/>
        </p:nvGraphicFramePr>
        <p:xfrm>
          <a:off xmlns:a="http://schemas.openxmlformats.org/drawingml/2006/main" x="457200" y="1098000"/>
          <a:ext xmlns:a="http://schemas.openxmlformats.org/drawingml/2006/main" cx="7416000" cy="1800000"/>
        </p:xfrm>
        <a:graphic xmlns:a="http://schemas.openxmlformats.org/drawingml/2006/main">
          <a:graphicData uri="http://schemas.openxmlformats.org/drawingml/2006/table">
            <a:tbl>
              <a:tblPr firstRow="1" bandRow="1"/>
              <a:tblGrid>
                <a:gridCol w="1080000"/>
                <a:gridCol w="1296000"/>
                <a:gridCol w="1296000"/>
                <a:gridCol w="1296000"/>
                <a:gridCol w="1080000"/>
                <a:gridCol w="1368000"/>
              </a:tblGrid>
              <a:tr h="360000">
                <a:tc>
                  <a:txBody>
                    <a:bodyPr/>
                    <a:lstStyle/>
                    <a:p>
                      <a:pPr algn="ctr"/>
                      <a:r>
                        <a:rPr lang="en-US" sz="1600" b="1">
                          <a:solidFill>
                            <a:srgbClr val="FFFFFF"/>
                          </a:solidFill>
                          <a:latin typeface="Noto Sans JP"/>
                          <a:ea typeface="Noto Sans JP"/>
                        </a:rPr>
                        <a:t>K</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頂点</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辺</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巡回的 SCC</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認証</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残った頂点</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r>
              <a:tr h="360000">
                <a:tc>
                  <a:txBody>
                    <a:bodyPr/>
                    <a:lstStyle/>
                    <a:p>
                      <a:pPr algn="r"/>
                      <a:r>
                        <a:rPr lang="en-US" sz="1600" b="0">
                          <a:solidFill>
                            <a:srgbClr val="1F2933"/>
                          </a:solidFill>
                          <a:latin typeface="Noto Sans JP"/>
                          <a:ea typeface="Noto Sans JP"/>
                        </a:rPr>
                        <a:t>32</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30720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55440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17</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16</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1363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r"/>
                      <a:r>
                        <a:rPr lang="en-US" sz="1600" b="0">
                          <a:solidFill>
                            <a:srgbClr val="1F2933"/>
                          </a:solidFill>
                          <a:latin typeface="Noto Sans JP"/>
                          <a:ea typeface="Noto Sans JP"/>
                        </a:rPr>
                        <a:t>128</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5452</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9512</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2</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952</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r"/>
                      <a:r>
                        <a:rPr lang="en-US" sz="1600" b="0">
                          <a:solidFill>
                            <a:srgbClr val="1F2933"/>
                          </a:solidFill>
                          <a:latin typeface="Noto Sans JP"/>
                          <a:ea typeface="Noto Sans JP"/>
                        </a:rPr>
                        <a:t>512</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3808</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6281</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1</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944</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r"/>
                      <a:r>
                        <a:rPr lang="en-US" sz="1600" b="1">
                          <a:solidFill>
                            <a:srgbClr val="1F2933"/>
                          </a:solidFill>
                          <a:latin typeface="Noto Sans JP"/>
                          <a:ea typeface="Noto Sans JP"/>
                        </a:rPr>
                        <a:t>2048</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r"/>
                      <a:r>
                        <a:rPr lang="en-US" sz="1600" b="1">
                          <a:solidFill>
                            <a:srgbClr val="1F2933"/>
                          </a:solidFill>
                          <a:latin typeface="Noto Sans JP"/>
                          <a:ea typeface="Noto Sans JP"/>
                        </a:rPr>
                        <a:t>3776</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r"/>
                      <a:r>
                        <a:rPr lang="en-US" sz="1600" b="1">
                          <a:solidFill>
                            <a:srgbClr val="1F2933"/>
                          </a:solidFill>
                          <a:latin typeface="Noto Sans JP"/>
                          <a:ea typeface="Noto Sans JP"/>
                        </a:rPr>
                        <a:t>5951</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r"/>
                      <a:r>
                        <a:rPr lang="en-US" sz="1600" b="1">
                          <a:solidFill>
                            <a:srgbClr val="1F2933"/>
                          </a:solidFill>
                          <a:latin typeface="Noto Sans JP"/>
                          <a:ea typeface="Noto Sans JP"/>
                        </a:rPr>
                        <a:t>15</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r"/>
                      <a:r>
                        <a:rPr lang="en-US" sz="1600" b="1">
                          <a:solidFill>
                            <a:srgbClr val="1F2933"/>
                          </a:solidFill>
                          <a:latin typeface="Noto Sans JP"/>
                          <a:ea typeface="Noto Sans JP"/>
                        </a:rPr>
                        <a:t>15</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r"/>
                      <a:r>
                        <a:rPr lang="en-US" sz="1600" b="1">
                          <a:solidFill>
                            <a:srgbClr val="1F2933"/>
                          </a:solidFill>
                          <a:latin typeface="Noto Sans JP"/>
                          <a:ea typeface="Noto Sans JP"/>
                        </a:rPr>
                        <a:t>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r>
            </a:tbl>
          </a:graphicData>
        </a:graphic>
      </p:graphicFrame>
      <p:pic>
        <p:nvPicPr>
          <p:cNvPr id="100443" name="Pic8" descr="数式: (a,b,M,K_0,f)=(7,5,4290,32,4)"/>
          <p:cNvPicPr>
            <a:picLocks xmlns:a="http://schemas.openxmlformats.org/drawingml/2006/main" noChangeAspect="1"/>
          </p:cNvPicPr>
          <p:nvPr/>
        </p:nvPicPr>
        <p:blipFill>
          <a:blip xmlns:r="http://schemas.openxmlformats.org/officeDocument/2006/relationships" xmlns:a="http://schemas.openxmlformats.org/drawingml/2006/main" r:embed="Rc186ab55b0644d4c"/>
          <a:stretch xmlns:a="http://schemas.openxmlformats.org/drawingml/2006/main">
            <a:fillRect/>
          </a:stretch>
        </p:blipFill>
        <p:spPr>
          <a:xfrm xmlns:a="http://schemas.openxmlformats.org/drawingml/2006/main">
            <a:off x="8305200" y="1116000"/>
            <a:ext cx="3326040" cy="266760"/>
          </a:xfrm>
          <a:prstGeom xmlns:a="http://schemas.openxmlformats.org/drawingml/2006/main" prst="rect">
            <a:avLst/>
          </a:prstGeom>
        </p:spPr>
      </p:pic>
      <p:sp>
        <p:nvSpPr>
          <p:cNvPr id="100444" name="Text9"/>
          <p:cNvSpPr txBox="1"/>
          <p:nvPr/>
        </p:nvSpPr>
        <p:spPr>
          <a:xfrm xmlns:a="http://schemas.openxmlformats.org/drawingml/2006/main">
            <a:off x="8233200" y="1515960"/>
            <a:ext cx="3501720" cy="35510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最初の頂点数は 960 × 32 = 30720。</a:t>
            </a:r>
          </a:p>
          <a:p xmlns:a="http://schemas.openxmlformats.org/drawingml/2006/main">
            <a:pPr algn="l">
              <a:lnSpc>
                <a:spcPct val="112000"/>
              </a:lnSpc>
              <a:spcBef>
                <a:spcPts val="400"/>
              </a:spcBef>
            </a:pPr>
            <a:r>
              <a:rPr lang="en-US" sz="2000" b="0">
                <a:solidFill>
                  <a:srgbClr val="1F2933"/>
                </a:solidFill>
                <a:latin typeface="Noto Sans JP"/>
                <a:ea typeface="Noto Sans JP"/>
              </a:rPr>
              <a:t>各段で残った頂点は、次の段で 4 倍に細分されます（1363 × 4 = 5452 など）。</a:t>
            </a:r>
          </a:p>
          <a:p xmlns:a="http://schemas.openxmlformats.org/drawingml/2006/main">
            <a:pPr algn="l">
              <a:lnSpc>
                <a:spcPct val="112000"/>
              </a:lnSpc>
              <a:spcBef>
                <a:spcPts val="400"/>
              </a:spcBef>
            </a:pPr>
            <a:r>
              <a:rPr lang="en-US" sz="2000" b="0">
                <a:solidFill>
                  <a:srgbClr val="1F2933"/>
                </a:solidFill>
                <a:latin typeface="Noto Sans JP"/>
                <a:ea typeface="Noto Sans JP"/>
              </a:rPr>
              <a:t>K = 2048 で残りが 0 になり、定理10から定理1 (i) が出ます。</a:t>
            </a:r>
          </a:p>
        </p:txBody>
      </p:sp>
      <p:pic>
        <p:nvPicPr>
          <p:cNvPr id="100445" name="Pic10" descr="図: 表1の各段（K=32, 128, 512, 2048）の頂点数と残った頂点数を対数目盛りの横棒で示す図。最後の段で残りは 0。"/>
          <p:cNvPicPr>
            <a:picLocks xmlns:a="http://schemas.openxmlformats.org/drawingml/2006/main" noChangeAspect="1"/>
          </p:cNvPicPr>
          <p:nvPr/>
        </p:nvPicPr>
        <p:blipFill>
          <a:blip xmlns:r="http://schemas.openxmlformats.org/officeDocument/2006/relationships" xmlns:a="http://schemas.openxmlformats.org/drawingml/2006/main" r:embed="R2423a2113d724181"/>
          <a:stretch xmlns:a="http://schemas.openxmlformats.org/drawingml/2006/main">
            <a:fillRect/>
          </a:stretch>
        </p:blipFill>
        <p:spPr>
          <a:xfrm xmlns:a="http://schemas.openxmlformats.org/drawingml/2006/main">
            <a:off x="1137600" y="3049920"/>
            <a:ext cx="6055200" cy="2620080"/>
          </a:xfrm>
          <a:prstGeom xmlns:a="http://schemas.openxmlformats.org/drawingml/2006/main" prst="rect">
            <a:avLst/>
          </a:prstGeom>
        </p:spPr>
      </p:pic>
    </p:spTree>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446"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447"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認証された SCC の出力（表2）</a:t>
            </a:r>
          </a:p>
        </p:txBody>
      </p:sp>
      <p:sp>
        <p:nvSpPr>
          <p:cNvPr id="100448"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46 / 99</a:t>
            </a:r>
          </a:p>
        </p:txBody>
      </p:sp>
      <p:sp>
        <p:nvSpPr>
          <p:cNvPr id="100449"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50"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51"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認証された SCC のウォークは、5種類の語のどれかを繰り返す出力しか出せません。</a:t>
            </a:r>
          </a:p>
        </p:txBody>
      </p:sp>
      <p:sp>
        <p:nvSpPr>
          <p:cNvPr id="100452"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認証された SCC の中だけを通るウォークの出力は、次の5種類の語の繰り返しでした。</a:t>
            </a:r>
          </a:p>
        </p:txBody>
      </p:sp>
      <p:pic>
        <p:nvPicPr>
          <p:cNvPr id="100453" name="Pic8" descr="数式: \begin{aligned}&amp;(2),\quad(-2,4),\quad(-2,-2,4,4),\\&amp;(-4,2,2,2,2,2,2,2),\\&amp;(-4,2,2,2,2,2,-4,2,2,2,2,2,2)\end{aligned}"/>
          <p:cNvPicPr>
            <a:picLocks xmlns:a="http://schemas.openxmlformats.org/drawingml/2006/main" noChangeAspect="1"/>
          </p:cNvPicPr>
          <p:nvPr/>
        </p:nvPicPr>
        <p:blipFill>
          <a:blip xmlns:r="http://schemas.openxmlformats.org/officeDocument/2006/relationships" xmlns:a="http://schemas.openxmlformats.org/drawingml/2006/main" r:embed="Rdf9b3ecba739468a"/>
          <a:stretch xmlns:a="http://schemas.openxmlformats.org/drawingml/2006/main">
            <a:fillRect/>
          </a:stretch>
        </p:blipFill>
        <p:spPr>
          <a:xfrm xmlns:a="http://schemas.openxmlformats.org/drawingml/2006/main">
            <a:off x="529200" y="1961640"/>
            <a:ext cx="3635640" cy="1113120"/>
          </a:xfrm>
          <a:prstGeom xmlns:a="http://schemas.openxmlformats.org/drawingml/2006/main" prst="rect">
            <a:avLst/>
          </a:prstGeom>
        </p:spPr>
      </p:pic>
      <p:sp>
        <p:nvSpPr>
          <p:cNvPr id="100454" name="Text9"/>
          <p:cNvSpPr txBox="1"/>
          <p:nvPr/>
        </p:nvSpPr>
        <p:spPr>
          <a:xfrm xmlns:a="http://schemas.openxmlformats.org/drawingml/2006/main">
            <a:off x="457200" y="3207600"/>
            <a:ext cx="5247720" cy="17924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たとえば (−2, 4) の SCC では、繰り上がりが −2, 4, −2, 4, … と繰り返すしかありません。補題4により、真の数列はそこに永遠にはいられません。</a:t>
            </a:r>
          </a:p>
        </p:txBody>
      </p:sp>
      <p:pic>
        <p:nvPicPr>
          <p:cNvPr id="100455" name="Pic10" descr="図: 認証された成分の出力に現れた5種類の語を、長さ p と現れた段 K とともにタイルで並べた図。"/>
          <p:cNvPicPr>
            <a:picLocks xmlns:a="http://schemas.openxmlformats.org/drawingml/2006/main" noChangeAspect="1"/>
          </p:cNvPicPr>
          <p:nvPr/>
        </p:nvPicPr>
        <p:blipFill>
          <a:blip xmlns:r="http://schemas.openxmlformats.org/officeDocument/2006/relationships" xmlns:a="http://schemas.openxmlformats.org/drawingml/2006/main" r:embed="R20a18dce052b4358"/>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456"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3</a:t>
            </a:r>
          </a:p>
        </p:txBody>
      </p:sp>
      <p:sp>
        <p:nvSpPr>
          <p:cNvPr id="100457"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既知の結果の再現（表3）</a:t>
            </a:r>
          </a:p>
        </p:txBody>
      </p:sp>
      <p:sp>
        <p:nvSpPr>
          <p:cNvPr id="100458"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47 / 99</a:t>
            </a:r>
          </a:p>
        </p:txBody>
      </p:sp>
      <p:sp>
        <p:nvSpPr>
          <p:cNvPr id="100459"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60"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61"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既に証明されている 3/2, 4/3, 5/4 でも、同じ方法が1段で成功しました。</a:t>
            </a:r>
          </a:p>
        </p:txBody>
      </p:sp>
      <p:graphicFrame>
        <p:nvGraphicFramePr>
          <p:cNvPr id="100462" name="Table7"/>
          <p:cNvGraphicFramePr/>
          <p:nvPr/>
        </p:nvGraphicFramePr>
        <p:xfrm>
          <a:off xmlns:a="http://schemas.openxmlformats.org/drawingml/2006/main" x="457200" y="1098000"/>
          <a:ext xmlns:a="http://schemas.openxmlformats.org/drawingml/2006/main" cx="9000000" cy="1440000"/>
        </p:xfrm>
        <a:graphic xmlns:a="http://schemas.openxmlformats.org/drawingml/2006/main">
          <a:graphicData uri="http://schemas.openxmlformats.org/drawingml/2006/table">
            <a:tbl>
              <a:tblPr firstRow="1" bandRow="1"/>
              <a:tblGrid>
                <a:gridCol w="1008000"/>
                <a:gridCol w="1872000"/>
                <a:gridCol w="1080000"/>
                <a:gridCol w="1296000"/>
                <a:gridCol w="1296000"/>
                <a:gridCol w="1368000"/>
                <a:gridCol w="1080000"/>
              </a:tblGrid>
              <a:tr h="360000">
                <a:tc>
                  <a:txBody>
                    <a:bodyPr/>
                    <a:lstStyle/>
                    <a:p>
                      <a:pPr algn="ctr"/>
                      <a:r>
                        <a:rPr lang="en-US" sz="1600" b="1">
                          <a:solidFill>
                            <a:srgbClr val="FFFFFF"/>
                          </a:solidFill>
                          <a:latin typeface="Noto Sans JP"/>
                          <a:ea typeface="Noto Sans JP"/>
                        </a:rPr>
                        <a:t>比</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素数の集合</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M</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頂点</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辺</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巡回的 SCC</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認証</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r>
              <a:tr h="360000">
                <a:tc>
                  <a:txBody>
                    <a:bodyPr/>
                    <a:lstStyle/>
                    <a:p>
                      <a:pPr algn="l"/>
                      <a:r>
                        <a:rPr lang="en-US" sz="1600" b="0">
                          <a:solidFill>
                            <a:srgbClr val="1F2933"/>
                          </a:solidFill>
                          <a:latin typeface="Noto Sans JP"/>
                          <a:ea typeface="Noto Sans JP"/>
                        </a:rPr>
                        <a:t>3/2</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{2, 5, 7, 11}</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770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7680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8640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6</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6</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l"/>
                      <a:r>
                        <a:rPr lang="en-US" sz="1600" b="0">
                          <a:solidFill>
                            <a:srgbClr val="1F2933"/>
                          </a:solidFill>
                          <a:latin typeface="Noto Sans JP"/>
                          <a:ea typeface="Noto Sans JP"/>
                        </a:rPr>
                        <a:t>4/3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{2, 3, 5}</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30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256</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480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l"/>
                      <a:r>
                        <a:rPr lang="en-US" sz="1600" b="0">
                          <a:solidFill>
                            <a:srgbClr val="1F2933"/>
                          </a:solidFill>
                          <a:latin typeface="Noto Sans JP"/>
                          <a:ea typeface="Noto Sans JP"/>
                        </a:rPr>
                        <a:t>5/4</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l"/>
                      <a:r>
                        <a:rPr lang="en-US" sz="1600" b="0">
                          <a:solidFill>
                            <a:srgbClr val="1F2933"/>
                          </a:solidFill>
                          <a:latin typeface="Noto Sans JP"/>
                          <a:ea typeface="Noto Sans JP"/>
                        </a:rPr>
                        <a:t>{2, 3, 7, 11, 13}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6006</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46080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82170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18</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18</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bl>
          </a:graphicData>
        </a:graphic>
      </p:graphicFrame>
      <p:sp>
        <p:nvSpPr>
          <p:cNvPr id="100463" name="Text8"/>
          <p:cNvSpPr txBox="1"/>
          <p:nvPr/>
        </p:nvSpPr>
        <p:spPr>
          <a:xfrm xmlns:a="http://schemas.openxmlformats.org/drawingml/2006/main">
            <a:off x="457200" y="2977920"/>
            <a:ext cx="11277720" cy="18003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同じ方法（K</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 32）を、先行研究で証明済みの3つの比に使いました。どれも1段目ですべての巡回的 SCC が認証され、計算が終わります。</a:t>
            </a:r>
          </a:p>
          <a:p xmlns:a="http://schemas.openxmlformats.org/drawingml/2006/main">
            <a:pPr algn="l">
              <a:lnSpc>
                <a:spcPct val="112000"/>
              </a:lnSpc>
              <a:spcBef>
                <a:spcPts val="600"/>
              </a:spcBef>
            </a:pPr>
            <a:r>
              <a:rPr lang="en-US" sz="1800" b="0">
                <a:solidFill>
                  <a:srgbClr val="4F5D6E"/>
                </a:solidFill>
                <a:latin typeface="Noto Sans JP"/>
                <a:ea typeface="Noto Sans JP"/>
              </a:rPr>
              <a:t>これは既に知られた結論の再現で、新しい主張ではありません。方法と計算プログラムの点検として行いました。</a:t>
            </a:r>
          </a:p>
        </p:txBody>
      </p:sp>
    </p:spTree>
  </p:cSld>
</p:sld>
</file>

<file path=ppt/slides/slide48.xml><?xml version="1.0" encoding="utf-8"?>
<p:sld xmlns:p="http://schemas.openxmlformats.org/presentationml/2006/main">
  <p:cSld>
    <p:bg>
      <p:bgPr>
        <a:solidFill xmlns:a="http://schemas.openxmlformats.org/drawingml/2006/main">
          <a:srgbClr val="1B2A41"/>
        </a:solidFill>
      </p:bgPr>
    </p:bg>
    <p:spTree>
      <p:nvGrpSpPr>
        <p:cNvPr id="1" name=""/>
        <p:cNvGrpSpPr/>
        <p:nvPr/>
      </p:nvGrpSpPr>
      <p:grpSpPr/>
      <p:sp>
        <p:nvSpPr>
          <p:cNvPr id="100464" name="SecNum1"/>
          <p:cNvSpPr txBox="1"/>
          <p:nvPr/>
        </p:nvSpPr>
        <p:spPr>
          <a:xfrm xmlns:a="http://schemas.openxmlformats.org/drawingml/2006/main">
            <a:off x="792000" y="1080000"/>
            <a:ext cx="2160000" cy="1944000"/>
          </a:xfrm>
          <a:prstGeom xmlns:a="http://schemas.openxmlformats.org/drawingml/2006/main" prst="rect">
            <a:avLst/>
          </a:prstGeom>
          <a:noFill xmlns:a="http://schemas.openxmlformats.org/drawingml/2006/main"/>
        </p:spPr>
        <p:txBody>
          <a:bodyPr xmlns:a="http://schemas.openxmlformats.org/drawingml/2006/main" lIns="0" tIns="0" rIns="0" bIns="0" anchor="b">
            <a:noAutofit/>
          </a:bodyPr>
          <a:lstStyle xmlns:a="http://schemas.openxmlformats.org/drawingml/2006/main"/>
          <a:p xmlns:a="http://schemas.openxmlformats.org/drawingml/2006/main">
            <a:pPr algn="l">
              <a:lnSpc>
                <a:spcPct val="112000"/>
              </a:lnSpc>
            </a:pPr>
            <a:r>
              <a:rPr lang="en-US" sz="11000" b="1">
                <a:solidFill>
                  <a:srgbClr val="D97B1F"/>
                </a:solidFill>
                <a:latin typeface="Noto Sans JP"/>
                <a:ea typeface="Noto Sans JP"/>
              </a:rPr>
              <a:t>4</a:t>
            </a:r>
          </a:p>
        </p:txBody>
      </p:sp>
      <p:sp>
        <p:nvSpPr>
          <p:cNvPr id="100465" name="SecTitle2"/>
          <p:cNvSpPr txBox="1"/>
          <p:nvPr/>
        </p:nvSpPr>
        <p:spPr>
          <a:xfrm xmlns:a="http://schemas.openxmlformats.org/drawingml/2006/main">
            <a:off x="792000" y="3096000"/>
            <a:ext cx="10608120" cy="79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4000" b="1">
                <a:solidFill>
                  <a:srgbClr val="FFFFFF"/>
                </a:solidFill>
                <a:latin typeface="Noto Sans JP"/>
                <a:ea typeface="Noto Sans JP"/>
              </a:rPr>
              <a:t>語ラベル法</a:t>
            </a:r>
          </a:p>
        </p:txBody>
      </p:sp>
      <p:sp>
        <p:nvSpPr>
          <p:cNvPr id="100466" name="Text3"/>
          <p:cNvSpPr txBox="1"/>
          <p:nvPr/>
        </p:nvSpPr>
        <p:spPr>
          <a:xfrm xmlns:a="http://schemas.openxmlformats.org/drawingml/2006/main">
            <a:off x="792000" y="3996000"/>
            <a:ext cx="100321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FFFFFF"/>
                </a:solidFill>
                <a:latin typeface="Noto Sans JP"/>
                <a:ea typeface="Noto Sans JP"/>
              </a:rPr>
              <a:t>辺に繰り上がりの「語」を付け、素数を1つずつ加えてグラフを調べる</a:t>
            </a:r>
          </a:p>
        </p:txBody>
      </p:sp>
      <p:sp>
        <p:nvSpPr>
          <p:cNvPr id="100467" name="PageNo4"/>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9FB0C3"/>
                </a:solidFill>
                <a:latin typeface="Noto Sans JP"/>
                <a:ea typeface="Noto Sans JP"/>
              </a:rPr>
              <a:t>48 / 99</a:t>
            </a:r>
          </a:p>
        </p:txBody>
      </p:sp>
    </p:spTree>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46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4</a:t>
            </a:r>
          </a:p>
        </p:txBody>
      </p:sp>
      <p:sp>
        <p:nvSpPr>
          <p:cNvPr id="10046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なぜ別の方法が必要か</a:t>
            </a:r>
          </a:p>
        </p:txBody>
      </p:sp>
      <p:sp>
        <p:nvSpPr>
          <p:cNvPr id="10047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49 / 99</a:t>
            </a:r>
          </a:p>
        </p:txBody>
      </p:sp>
      <p:sp>
        <p:nvSpPr>
          <p:cNvPr id="10047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7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7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素数を一度に全部使うと大きすぎるので、1つずつ加えては小さくする、を繰り返します。</a:t>
            </a:r>
          </a:p>
        </p:txBody>
      </p:sp>
      <p:sp>
        <p:nvSpPr>
          <p:cNvPr id="100474" name="Text7"/>
          <p:cNvSpPr txBox="1"/>
          <p:nvPr/>
        </p:nvSpPr>
        <p:spPr>
          <a:xfrm xmlns:a="http://schemas.openxmlformats.org/drawingml/2006/main">
            <a:off x="457200" y="1080000"/>
            <a:ext cx="524772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比 5/2 の定理では 10 個の素数を使います。1ステップ法でそのまま作ると、頂点の数は</a:t>
            </a:r>
          </a:p>
        </p:txBody>
      </p:sp>
      <p:pic>
        <p:nvPicPr>
          <p:cNvPr id="100475" name="Pic8" descr="数式: 4\,\varphi(40112098026)=30\,656\,102\,400"/>
          <p:cNvPicPr>
            <a:picLocks xmlns:a="http://schemas.openxmlformats.org/drawingml/2006/main" noChangeAspect="1"/>
          </p:cNvPicPr>
          <p:nvPr/>
        </p:nvPicPr>
        <p:blipFill>
          <a:blip xmlns:r="http://schemas.openxmlformats.org/officeDocument/2006/relationships" xmlns:a="http://schemas.openxmlformats.org/drawingml/2006/main" r:embed="Rd30c5538b58449ee"/>
          <a:stretch xmlns:a="http://schemas.openxmlformats.org/drawingml/2006/main">
            <a:fillRect/>
          </a:stretch>
        </p:blipFill>
        <p:spPr>
          <a:xfrm xmlns:a="http://schemas.openxmlformats.org/drawingml/2006/main">
            <a:off x="529200" y="2308680"/>
            <a:ext cx="3829320" cy="304560"/>
          </a:xfrm>
          <a:prstGeom xmlns:a="http://schemas.openxmlformats.org/drawingml/2006/main" prst="rect">
            <a:avLst/>
          </a:prstGeom>
        </p:spPr>
      </p:pic>
      <p:sp>
        <p:nvSpPr>
          <p:cNvPr id="100476" name="Text9"/>
          <p:cNvSpPr txBox="1"/>
          <p:nvPr/>
        </p:nvSpPr>
        <p:spPr>
          <a:xfrm xmlns:a="http://schemas.openxmlformats.org/drawingml/2006/main">
            <a:off x="457200" y="2746800"/>
            <a:ext cx="5247720" cy="22622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となり（K = 4 でも）、計算できる大きさではありません。</a:t>
            </a:r>
          </a:p>
          <a:p xmlns:a="http://schemas.openxmlformats.org/drawingml/2006/main">
            <a:pPr algn="l">
              <a:lnSpc>
                <a:spcPct val="112000"/>
              </a:lnSpc>
              <a:spcBef>
                <a:spcPts val="400"/>
              </a:spcBef>
            </a:pPr>
            <a:r>
              <a:rPr lang="en-US" sz="2000" b="0">
                <a:solidFill>
                  <a:srgbClr val="1F2933"/>
                </a:solidFill>
                <a:latin typeface="Noto Sans JP"/>
                <a:ea typeface="Noto Sans JP"/>
              </a:rPr>
              <a:t>語ラベル法は、素数を1つずつ加え、そのたびに不要な部分を消して小さく保ちます。この巨大なグラフは一度も作りません。</a:t>
            </a:r>
          </a:p>
        </p:txBody>
      </p:sp>
      <p:pic>
        <p:nvPicPr>
          <p:cNvPr id="100477" name="Pic10" descr="図: 全部の素数を一度に使うと約 3.07 × 10^10 頂点、1つずつ加えると最大約 2.9 × 10^6 頂点、という比較の対数棒グラフ。"/>
          <p:cNvPicPr>
            <a:picLocks xmlns:a="http://schemas.openxmlformats.org/drawingml/2006/main" noChangeAspect="1"/>
          </p:cNvPicPr>
          <p:nvPr/>
        </p:nvPicPr>
        <p:blipFill>
          <a:blip xmlns:r="http://schemas.openxmlformats.org/officeDocument/2006/relationships" xmlns:a="http://schemas.openxmlformats.org/drawingml/2006/main" r:embed="R3691a12aea7149ef"/>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47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4</a:t>
            </a:r>
          </a:p>
        </p:txBody>
      </p:sp>
      <p:sp>
        <p:nvSpPr>
          <p:cNvPr id="10047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素数 2 と 5 を繰り上がりの種類で表す</a:t>
            </a:r>
          </a:p>
        </p:txBody>
      </p:sp>
      <p:sp>
        <p:nvSpPr>
          <p:cNvPr id="10048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50 / 99</a:t>
            </a:r>
          </a:p>
        </p:txBody>
      </p:sp>
      <p:sp>
        <p:nvSpPr>
          <p:cNvPr id="10048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8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8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Q</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Q</a:t>
            </a:r>
            <a:r>
              <a:rPr lang="en-US" sz="1800" b="0" baseline="-25000">
                <a:solidFill>
                  <a:srgbClr val="1F2933"/>
                </a:solidFill>
                <a:latin typeface="Noto Sans JP"/>
                <a:ea typeface="Noto Sans JP"/>
              </a:rPr>
              <a:t>n+1</a:t>
            </a:r>
            <a:r>
              <a:rPr lang="en-US" sz="1800" b="0">
                <a:solidFill>
                  <a:srgbClr val="1F2933"/>
                </a:solidFill>
                <a:latin typeface="Noto Sans JP"/>
                <a:ea typeface="Noto Sans JP"/>
              </a:rPr>
              <a:t xml:space="preserve"> が 2 と 5 で割り切れないなら、繰り上がりは 5 つの値に限られます（必要条件）。</a:t>
            </a:r>
          </a:p>
        </p:txBody>
      </p:sp>
      <p:sp>
        <p:nvSpPr>
          <p:cNvPr id="100484" name="Text7"/>
          <p:cNvSpPr txBox="1"/>
          <p:nvPr/>
        </p:nvSpPr>
        <p:spPr>
          <a:xfrm xmlns:a="http://schemas.openxmlformats.org/drawingml/2006/main">
            <a:off x="457200" y="1080000"/>
            <a:ext cx="5247720" cy="14428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補題23（比 7/5）</a:t>
            </a:r>
          </a:p>
          <a:p xmlns:a="http://schemas.openxmlformats.org/drawingml/2006/main">
            <a:pPr algn="l">
              <a:lnSpc>
                <a:spcPct val="112000"/>
              </a:lnSpc>
              <a:spcBef>
                <a:spcPts val="400"/>
              </a:spcBef>
            </a:pPr>
            <a:r>
              <a:rPr lang="en-US" sz="2000" b="0">
                <a:solidFill>
                  <a:srgbClr val="1F2933"/>
                </a:solidFill>
                <a:latin typeface="Noto Sans JP"/>
                <a:ea typeface="Noto Sans JP"/>
              </a:rPr>
              <a:t>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と Q</a:t>
            </a:r>
            <a:r>
              <a:rPr lang="en-US" sz="2000" b="0" baseline="-25000">
                <a:solidFill>
                  <a:srgbClr val="1F2933"/>
                </a:solidFill>
                <a:latin typeface="Noto Sans JP"/>
                <a:ea typeface="Noto Sans JP"/>
              </a:rPr>
              <a:t>n+1</a:t>
            </a:r>
            <a:r>
              <a:rPr lang="en-US" sz="2000" b="0">
                <a:solidFill>
                  <a:srgbClr val="1F2933"/>
                </a:solidFill>
                <a:latin typeface="Noto Sans JP"/>
                <a:ea typeface="Noto Sans JP"/>
              </a:rPr>
              <a:t xml:space="preserve"> が奇数で、Q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が 5 で割り切れなければ</a:t>
            </a:r>
          </a:p>
        </p:txBody>
      </p:sp>
      <p:pic>
        <p:nvPicPr>
          <p:cNvPr id="100485" name="Pic8" descr="数式: c_n\in\{-4,\,-2,\,2,\,4,\,6\}"/>
          <p:cNvPicPr>
            <a:picLocks xmlns:a="http://schemas.openxmlformats.org/drawingml/2006/main" noChangeAspect="1"/>
          </p:cNvPicPr>
          <p:nvPr/>
        </p:nvPicPr>
        <p:blipFill>
          <a:blip xmlns:r="http://schemas.openxmlformats.org/officeDocument/2006/relationships" xmlns:a="http://schemas.openxmlformats.org/drawingml/2006/main" r:embed="Rfa771dc630ac49e8"/>
          <a:stretch xmlns:a="http://schemas.openxmlformats.org/drawingml/2006/main">
            <a:fillRect/>
          </a:stretch>
        </p:blipFill>
        <p:spPr>
          <a:xfrm xmlns:a="http://schemas.openxmlformats.org/drawingml/2006/main">
            <a:off x="529200" y="2359440"/>
            <a:ext cx="2504880" cy="304920"/>
          </a:xfrm>
          <a:prstGeom xmlns:a="http://schemas.openxmlformats.org/drawingml/2006/main" prst="rect">
            <a:avLst/>
          </a:prstGeom>
        </p:spPr>
      </p:pic>
      <p:sp>
        <p:nvSpPr>
          <p:cNvPr id="100486" name="Text9"/>
          <p:cNvSpPr txBox="1"/>
          <p:nvPr/>
        </p:nvSpPr>
        <p:spPr>
          <a:xfrm xmlns:a="http://schemas.openxmlformats.org/drawingml/2006/main">
            <a:off x="457200" y="2797560"/>
            <a:ext cx="5247720" cy="23068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理由</a:t>
            </a:r>
          </a:p>
          <a:p xmlns:a="http://schemas.openxmlformats.org/drawingml/2006/main">
            <a:pPr marL="223200" indent="-223200" algn="l">
              <a:lnSpc>
                <a:spcPct val="112000"/>
              </a:lnSpc>
              <a:spcBef>
                <a:spcPts val="400"/>
              </a:spcBef>
              <a:buChar char="•"/>
            </a:pPr>
            <a:r>
              <a:rPr lang="en-US" sz="2000" b="0">
                <a:solidFill>
                  <a:srgbClr val="1F2933"/>
                </a:solidFill>
                <a:latin typeface="Noto Sans JP"/>
                <a:ea typeface="Noto Sans JP"/>
              </a:rPr>
              <a:t>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 5Q</a:t>
            </a:r>
            <a:r>
              <a:rPr lang="en-US" sz="2000" b="0" baseline="-25000">
                <a:solidFill>
                  <a:srgbClr val="1F2933"/>
                </a:solidFill>
                <a:latin typeface="Noto Sans JP"/>
                <a:ea typeface="Noto Sans JP"/>
              </a:rPr>
              <a:t>n+1</a:t>
            </a:r>
            <a:r>
              <a:rPr lang="en-US" sz="2000" b="0">
                <a:solidFill>
                  <a:srgbClr val="1F2933"/>
                </a:solidFill>
                <a:latin typeface="Noto Sans JP"/>
                <a:ea typeface="Noto Sans JP"/>
              </a:rPr>
              <a:t xml:space="preserve"> − 7Q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は奇数 − 奇数 なので偶数。</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 0 なら 5Q</a:t>
            </a:r>
            <a:r>
              <a:rPr lang="en-US" sz="2000" b="0" baseline="-25000">
                <a:solidFill>
                  <a:srgbClr val="1F2933"/>
                </a:solidFill>
                <a:latin typeface="Noto Sans JP"/>
                <a:ea typeface="Noto Sans JP"/>
              </a:rPr>
              <a:t>n+1</a:t>
            </a:r>
            <a:r>
              <a:rPr lang="en-US" sz="2000" b="0">
                <a:solidFill>
                  <a:srgbClr val="1F2933"/>
                </a:solidFill>
                <a:latin typeface="Noto Sans JP"/>
                <a:ea typeface="Noto Sans JP"/>
              </a:rPr>
              <a:t xml:space="preserve"> = 7Q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で、Q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が 5 の倍数になる。</a:t>
            </a:r>
          </a:p>
        </p:txBody>
      </p:sp>
      <p:pic>
        <p:nvPicPr>
          <p:cNvPr id="100487" name="Pic10" descr="図: −4〜6 の整数から、奇数と 0 を除いて 7/5 のアルファベット {−4, −2, 2, 4, 6} が残ることを示すふるいの図。"/>
          <p:cNvPicPr>
            <a:picLocks xmlns:a="http://schemas.openxmlformats.org/drawingml/2006/main" noChangeAspect="1"/>
          </p:cNvPicPr>
          <p:nvPr/>
        </p:nvPicPr>
        <p:blipFill>
          <a:blip xmlns:r="http://schemas.openxmlformats.org/officeDocument/2006/relationships" xmlns:a="http://schemas.openxmlformats.org/drawingml/2006/main" r:embed="R3cea7b5058ed4436"/>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48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4</a:t>
            </a:r>
          </a:p>
        </p:txBody>
      </p:sp>
      <p:sp>
        <p:nvSpPr>
          <p:cNvPr id="10048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比 5/2 のアルファベット</a:t>
            </a:r>
          </a:p>
        </p:txBody>
      </p:sp>
      <p:sp>
        <p:nvSpPr>
          <p:cNvPr id="10049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51 / 99</a:t>
            </a:r>
          </a:p>
        </p:txBody>
      </p:sp>
      <p:sp>
        <p:nvSpPr>
          <p:cNvPr id="10049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9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49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比 5/2 では、Q</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が奇数という条件だけで、繰り上がりは −1, 1, 3 の3種類に限られます。</a:t>
            </a:r>
          </a:p>
        </p:txBody>
      </p:sp>
      <p:sp>
        <p:nvSpPr>
          <p:cNvPr id="100494" name="Text7"/>
          <p:cNvSpPr txBox="1"/>
          <p:nvPr/>
        </p:nvSpPr>
        <p:spPr>
          <a:xfrm xmlns:a="http://schemas.openxmlformats.org/drawingml/2006/main">
            <a:off x="457200" y="1080000"/>
            <a:ext cx="5247720" cy="14428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補題24（比 5/2）</a:t>
            </a:r>
          </a:p>
          <a:p xmlns:a="http://schemas.openxmlformats.org/drawingml/2006/main">
            <a:pPr algn="l">
              <a:lnSpc>
                <a:spcPct val="112000"/>
              </a:lnSpc>
              <a:spcBef>
                <a:spcPts val="400"/>
              </a:spcBef>
            </a:pPr>
            <a:r>
              <a:rPr lang="en-US" sz="2000" b="0">
                <a:solidFill>
                  <a:srgbClr val="1F2933"/>
                </a:solidFill>
                <a:latin typeface="Noto Sans JP"/>
                <a:ea typeface="Noto Sans JP"/>
              </a:rPr>
              <a:t>2 で割り切れない項が続く場合を考えるので、Q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が奇数なら</a:t>
            </a:r>
          </a:p>
        </p:txBody>
      </p:sp>
      <p:pic>
        <p:nvPicPr>
          <p:cNvPr id="100495" name="Pic8" descr="数式: c_n\in\{-1,\,1,\,3\}"/>
          <p:cNvPicPr>
            <a:picLocks xmlns:a="http://schemas.openxmlformats.org/drawingml/2006/main" noChangeAspect="1"/>
          </p:cNvPicPr>
          <p:nvPr/>
        </p:nvPicPr>
        <p:blipFill>
          <a:blip xmlns:r="http://schemas.openxmlformats.org/officeDocument/2006/relationships" xmlns:a="http://schemas.openxmlformats.org/drawingml/2006/main" r:embed="R2bab808cbb0c4e8e"/>
          <a:stretch xmlns:a="http://schemas.openxmlformats.org/drawingml/2006/main">
            <a:fillRect/>
          </a:stretch>
        </p:blipFill>
        <p:spPr>
          <a:xfrm xmlns:a="http://schemas.openxmlformats.org/drawingml/2006/main">
            <a:off x="529200" y="2359440"/>
            <a:ext cx="1746000" cy="304560"/>
          </a:xfrm>
          <a:prstGeom xmlns:a="http://schemas.openxmlformats.org/drawingml/2006/main" prst="rect">
            <a:avLst/>
          </a:prstGeom>
        </p:spPr>
      </p:pic>
      <p:sp>
        <p:nvSpPr>
          <p:cNvPr id="100496" name="Text9"/>
          <p:cNvSpPr txBox="1"/>
          <p:nvPr/>
        </p:nvSpPr>
        <p:spPr>
          <a:xfrm xmlns:a="http://schemas.openxmlformats.org/drawingml/2006/main">
            <a:off x="457200" y="2797200"/>
            <a:ext cx="5247720" cy="29271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理由</a:t>
            </a:r>
          </a:p>
          <a:p xmlns:a="http://schemas.openxmlformats.org/drawingml/2006/main">
            <a:pPr marL="223200" indent="-223200" algn="l">
              <a:lnSpc>
                <a:spcPct val="112000"/>
              </a:lnSpc>
              <a:spcBef>
                <a:spcPts val="400"/>
              </a:spcBef>
              <a:buChar char="•"/>
            </a:pPr>
            <a:r>
              <a:rPr lang="en-US" sz="2000" b="0">
                <a:solidFill>
                  <a:srgbClr val="1F2933"/>
                </a:solidFill>
                <a:latin typeface="Noto Sans JP"/>
                <a:ea typeface="Noto Sans JP"/>
              </a:rPr>
              <a:t>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 2Q</a:t>
            </a:r>
            <a:r>
              <a:rPr lang="en-US" sz="2000" b="0" baseline="-25000">
                <a:solidFill>
                  <a:srgbClr val="1F2933"/>
                </a:solidFill>
                <a:latin typeface="Noto Sans JP"/>
                <a:ea typeface="Noto Sans JP"/>
              </a:rPr>
              <a:t>n+1</a:t>
            </a:r>
            <a:r>
              <a:rPr lang="en-US" sz="2000" b="0">
                <a:solidFill>
                  <a:srgbClr val="1F2933"/>
                </a:solidFill>
                <a:latin typeface="Noto Sans JP"/>
                <a:ea typeface="Noto Sans JP"/>
              </a:rPr>
              <a:t xml:space="preserve"> − 5Q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を 2 で割ったあまりは 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と同じ。Q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が奇数なら 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も奇数。</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範囲 −1 ≤ 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 4 の奇数は −1, 1, 3。</a:t>
            </a:r>
          </a:p>
          <a:p xmlns:a="http://schemas.openxmlformats.org/drawingml/2006/main">
            <a:pPr algn="l">
              <a:lnSpc>
                <a:spcPct val="112000"/>
              </a:lnSpc>
              <a:spcBef>
                <a:spcPts val="600"/>
              </a:spcBef>
            </a:pPr>
            <a:r>
              <a:rPr lang="en-US" sz="1800" b="0">
                <a:solidFill>
                  <a:srgbClr val="4F5D6E"/>
                </a:solidFill>
                <a:latin typeface="Noto Sans JP"/>
                <a:ea typeface="Noto Sans JP"/>
              </a:rPr>
              <a:t>5 は定理の素数に入れません。入れても何も消えないことが論文で示されています。</a:t>
            </a:r>
          </a:p>
        </p:txBody>
      </p:sp>
      <p:pic>
        <p:nvPicPr>
          <p:cNvPr id="100497" name="Pic10" descr="図: −1〜4 の整数から偶数を除いて 5/2 のアルファベット {−1, 1, 3} が残ることと、ξ=1 の数列での確認。"/>
          <p:cNvPicPr>
            <a:picLocks xmlns:a="http://schemas.openxmlformats.org/drawingml/2006/main" noChangeAspect="1"/>
          </p:cNvPicPr>
          <p:nvPr/>
        </p:nvPicPr>
        <p:blipFill>
          <a:blip xmlns:r="http://schemas.openxmlformats.org/officeDocument/2006/relationships" xmlns:a="http://schemas.openxmlformats.org/drawingml/2006/main" r:embed="R8f9b93913bde4db8"/>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49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4</a:t>
            </a:r>
          </a:p>
        </p:txBody>
      </p:sp>
      <p:sp>
        <p:nvSpPr>
          <p:cNvPr id="10049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語ラベル付きグラフ</a:t>
            </a:r>
          </a:p>
        </p:txBody>
      </p:sp>
      <p:sp>
        <p:nvSpPr>
          <p:cNvPr id="10050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52 / 99</a:t>
            </a:r>
          </a:p>
        </p:txBody>
      </p:sp>
      <p:sp>
        <p:nvSpPr>
          <p:cNvPr id="10050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0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0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語ラベル付きグラフでは、1本の辺で繰り上がりを何個分もまとめて進みます。</a:t>
            </a:r>
          </a:p>
        </p:txBody>
      </p:sp>
      <p:sp>
        <p:nvSpPr>
          <p:cNvPr id="100504" name="Term7"/>
          <p:cNvSpPr txBox="1"/>
          <p:nvPr/>
        </p:nvSpPr>
        <p:spPr>
          <a:xfrm xmlns:a="http://schemas.openxmlformats.org/drawingml/2006/main">
            <a:off x="457200" y="108000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語</a:t>
            </a:r>
          </a:p>
          <a:p xmlns:a="http://schemas.openxmlformats.org/drawingml/2006/main">
            <a:pPr algn="l">
              <a:lnSpc>
                <a:spcPct val="112000"/>
              </a:lnSpc>
              <a:spcBef>
                <a:spcPts val="200"/>
              </a:spcBef>
            </a:pPr>
            <a:r>
              <a:rPr lang="en-US" sz="1800" b="0">
                <a:solidFill>
                  <a:srgbClr val="1F2933"/>
                </a:solidFill>
                <a:latin typeface="Noto Sans JP"/>
                <a:ea typeface="Noto Sans JP"/>
              </a:rPr>
              <a:t>繰り上がりの有限の並び。例: (−1, 1, 3)。長さは並びの個数。</a:t>
            </a:r>
          </a:p>
        </p:txBody>
      </p:sp>
      <p:sp>
        <p:nvSpPr>
          <p:cNvPr id="100505" name="Term8"/>
          <p:cNvSpPr txBox="1"/>
          <p:nvPr/>
        </p:nvSpPr>
        <p:spPr>
          <a:xfrm xmlns:a="http://schemas.openxmlformats.org/drawingml/2006/main">
            <a:off x="457200" y="249264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語ラベル付きグラフ</a:t>
            </a:r>
          </a:p>
          <a:p xmlns:a="http://schemas.openxmlformats.org/drawingml/2006/main">
            <a:pPr algn="l">
              <a:lnSpc>
                <a:spcPct val="112000"/>
              </a:lnSpc>
              <a:spcBef>
                <a:spcPts val="200"/>
              </a:spcBef>
            </a:pPr>
            <a:r>
              <a:rPr lang="en-US" sz="1800" b="0">
                <a:solidFill>
                  <a:srgbClr val="1F2933"/>
                </a:solidFill>
                <a:latin typeface="Noto Sans JP"/>
                <a:ea typeface="Noto Sans JP"/>
              </a:rPr>
              <a:t>各辺に語を付けたグラフ。ウォークの出力は、辺の語を順につなげた列。</a:t>
            </a:r>
          </a:p>
        </p:txBody>
      </p:sp>
      <p:sp>
        <p:nvSpPr>
          <p:cNvPr id="100506" name="Term9"/>
          <p:cNvSpPr txBox="1"/>
          <p:nvPr/>
        </p:nvSpPr>
        <p:spPr>
          <a:xfrm xmlns:a="http://schemas.openxmlformats.org/drawingml/2006/main">
            <a:off x="457200" y="390528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被覆</a:t>
            </a:r>
          </a:p>
          <a:p xmlns:a="http://schemas.openxmlformats.org/drawingml/2006/main">
            <a:pPr algn="l">
              <a:lnSpc>
                <a:spcPct val="112000"/>
              </a:lnSpc>
              <a:spcBef>
                <a:spcPts val="200"/>
              </a:spcBef>
            </a:pPr>
            <a:r>
              <a:rPr lang="en-US" sz="1800" b="0">
                <a:solidFill>
                  <a:srgbClr val="1F2933"/>
                </a:solidFill>
                <a:latin typeface="Noto Sans JP"/>
                <a:ea typeface="Noto Sans JP"/>
              </a:rPr>
              <a:t>あるウォークの出力が、ある番号から先の繰り上がりの列 c</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c</a:t>
            </a:r>
            <a:r>
              <a:rPr lang="en-US" sz="1800" b="0" baseline="-25000">
                <a:solidFill>
                  <a:srgbClr val="1F2933"/>
                </a:solidFill>
                <a:latin typeface="Noto Sans JP"/>
                <a:ea typeface="Noto Sans JP"/>
              </a:rPr>
              <a:t>n+1</a:t>
            </a:r>
            <a:r>
              <a:rPr lang="en-US" sz="1800" b="0">
                <a:solidFill>
                  <a:srgbClr val="1F2933"/>
                </a:solidFill>
                <a:latin typeface="Noto Sans JP"/>
                <a:ea typeface="Noto Sans JP"/>
              </a:rPr>
              <a:t>, … と一致すること。</a:t>
            </a:r>
          </a:p>
        </p:txBody>
      </p:sp>
      <p:pic>
        <p:nvPicPr>
          <p:cNvPr id="100507" name="Pic10" descr="図: 説明用の3頂点の語ラベル付きグラフと、ウォークの出力が辺の語をつなげた列になることを示す図。"/>
          <p:cNvPicPr>
            <a:picLocks xmlns:a="http://schemas.openxmlformats.org/drawingml/2006/main" noChangeAspect="1"/>
          </p:cNvPicPr>
          <p:nvPr/>
        </p:nvPicPr>
        <p:blipFill>
          <a:blip xmlns:r="http://schemas.openxmlformats.org/officeDocument/2006/relationships" xmlns:a="http://schemas.openxmlformats.org/drawingml/2006/main" r:embed="R62095a6edd8743ad"/>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50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4</a:t>
            </a:r>
          </a:p>
        </p:txBody>
      </p:sp>
      <p:sp>
        <p:nvSpPr>
          <p:cNvPr id="10050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重み付きの位相判定</a:t>
            </a:r>
          </a:p>
        </p:txBody>
      </p:sp>
      <p:sp>
        <p:nvSpPr>
          <p:cNvPr id="10051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53 / 99</a:t>
            </a:r>
          </a:p>
        </p:txBody>
      </p:sp>
      <p:sp>
        <p:nvSpPr>
          <p:cNvPr id="10051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1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1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語の場合も、文字ごとに位相を割り当てて「位相ごとに文字が1つ」を確かめます。</a:t>
            </a:r>
          </a:p>
        </p:txBody>
      </p:sp>
      <p:sp>
        <p:nvSpPr>
          <p:cNvPr id="100514"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語の長さの分だけ位相を進めます。辺 e = (u, w, v) について</a:t>
            </a:r>
          </a:p>
        </p:txBody>
      </p:sp>
      <p:pic>
        <p:nvPicPr>
          <p:cNvPr id="100515" name="Pic8" descr="数式: \delta(e)=h(u)+|w|-h(v),\qquad d=\gcd\{|\delta(e)|\}"/>
          <p:cNvPicPr>
            <a:picLocks xmlns:a="http://schemas.openxmlformats.org/drawingml/2006/main" noChangeAspect="1"/>
          </p:cNvPicPr>
          <p:nvPr/>
        </p:nvPicPr>
        <p:blipFill>
          <a:blip xmlns:r="http://schemas.openxmlformats.org/officeDocument/2006/relationships" xmlns:a="http://schemas.openxmlformats.org/drawingml/2006/main" r:embed="R877d8182088345e9"/>
          <a:stretch xmlns:a="http://schemas.openxmlformats.org/drawingml/2006/main">
            <a:fillRect/>
          </a:stretch>
        </p:blipFill>
        <p:spPr>
          <a:xfrm xmlns:a="http://schemas.openxmlformats.org/drawingml/2006/main">
            <a:off x="529200" y="1961640"/>
            <a:ext cx="5031360" cy="304560"/>
          </a:xfrm>
          <a:prstGeom xmlns:a="http://schemas.openxmlformats.org/drawingml/2006/main" prst="rect">
            <a:avLst/>
          </a:prstGeom>
        </p:spPr>
      </p:pic>
      <p:sp>
        <p:nvSpPr>
          <p:cNvPr id="100516" name="Text9"/>
          <p:cNvSpPr txBox="1"/>
          <p:nvPr/>
        </p:nvSpPr>
        <p:spPr>
          <a:xfrm xmlns:a="http://schemas.openxmlformats.org/drawingml/2006/main">
            <a:off x="457200" y="2399400"/>
            <a:ext cx="5247720" cy="32706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語 w の文字を先頭から 0 番目、1 番目、… と数えると、i 番目の文字は位相 h(u) + i (mod d) の位置にあります。</a:t>
            </a:r>
          </a:p>
          <a:p xmlns:a="http://schemas.openxmlformats.org/drawingml/2006/main">
            <a:pPr algn="l">
              <a:lnSpc>
                <a:spcPct val="112000"/>
              </a:lnSpc>
              <a:spcBef>
                <a:spcPts val="400"/>
              </a:spcBef>
            </a:pPr>
            <a:r>
              <a:rPr lang="en-US" sz="2000" b="0">
                <a:solidFill>
                  <a:srgbClr val="1F2933"/>
                </a:solidFill>
                <a:latin typeface="Noto Sans JP"/>
                <a:ea typeface="Noto Sans JP"/>
              </a:rPr>
              <a:t>すべての内部辺のすべての文字について、位相ごとに文字が1つに決まれば認証です（補題12）。</a:t>
            </a:r>
          </a:p>
          <a:p xmlns:a="http://schemas.openxmlformats.org/drawingml/2006/main">
            <a:pPr algn="l">
              <a:lnSpc>
                <a:spcPct val="112000"/>
              </a:lnSpc>
              <a:spcBef>
                <a:spcPts val="600"/>
              </a:spcBef>
            </a:pPr>
            <a:r>
              <a:rPr lang="en-US" sz="1800" b="0">
                <a:solidFill>
                  <a:srgbClr val="4F5D6E"/>
                </a:solidFill>
                <a:latin typeface="Noto Sans JP"/>
                <a:ea typeface="Noto Sans JP"/>
              </a:rPr>
              <a:t>h(v) は根から v までの道の語の長さの合計。語がすべて長さ1なら第3章の判定と同じです。</a:t>
            </a:r>
          </a:p>
        </p:txBody>
      </p:sp>
      <p:pic>
        <p:nvPicPr>
          <p:cNvPr id="100517" name="Pic10" descr="図: 説明用の2頂点の例で、語の各文字を位相の位置に置き、各位相の文字が1つなので認証されることを示す図。"/>
          <p:cNvPicPr>
            <a:picLocks xmlns:a="http://schemas.openxmlformats.org/drawingml/2006/main" noChangeAspect="1"/>
          </p:cNvPicPr>
          <p:nvPr/>
        </p:nvPicPr>
        <p:blipFill>
          <a:blip xmlns:r="http://schemas.openxmlformats.org/officeDocument/2006/relationships" xmlns:a="http://schemas.openxmlformats.org/drawingml/2006/main" r:embed="R204b7d31e9034d32"/>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51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4</a:t>
            </a:r>
          </a:p>
        </p:txBody>
      </p:sp>
      <p:sp>
        <p:nvSpPr>
          <p:cNvPr id="10051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一本道の縮約</a:t>
            </a:r>
          </a:p>
        </p:txBody>
      </p:sp>
      <p:sp>
        <p:nvSpPr>
          <p:cNvPr id="10052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54 / 99</a:t>
            </a:r>
          </a:p>
        </p:txBody>
      </p:sp>
      <p:sp>
        <p:nvSpPr>
          <p:cNvPr id="10052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2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2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縮約はウォークの出力を1文字も変えずに、頂点の数を減らします。</a:t>
            </a:r>
          </a:p>
        </p:txBody>
      </p:sp>
      <p:sp>
        <p:nvSpPr>
          <p:cNvPr id="100524"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出る辺が1本しかない頂点では、進み方が1通りに決まっています。</a:t>
            </a:r>
          </a:p>
        </p:txBody>
      </p:sp>
      <p:sp>
        <p:nvSpPr>
          <p:cNvPr id="100525" name="Term8"/>
          <p:cNvSpPr txBox="1"/>
          <p:nvPr/>
        </p:nvSpPr>
        <p:spPr>
          <a:xfrm xmlns:a="http://schemas.openxmlformats.org/drawingml/2006/main">
            <a:off x="457200" y="194364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縮約</a:t>
            </a:r>
          </a:p>
          <a:p xmlns:a="http://schemas.openxmlformats.org/drawingml/2006/main">
            <a:pPr algn="l">
              <a:lnSpc>
                <a:spcPct val="112000"/>
              </a:lnSpc>
              <a:spcBef>
                <a:spcPts val="200"/>
              </a:spcBef>
            </a:pPr>
            <a:r>
              <a:rPr lang="en-US" sz="1800" b="0">
                <a:solidFill>
                  <a:srgbClr val="1F2933"/>
                </a:solidFill>
                <a:latin typeface="Noto Sans JP"/>
                <a:ea typeface="Noto Sans JP"/>
              </a:rPr>
              <a:t>出る辺が1本だけの頂点を飛ばして、前後の語をつなげた1本の辺にまとめる操作。</a:t>
            </a:r>
          </a:p>
        </p:txBody>
      </p:sp>
      <p:sp>
        <p:nvSpPr>
          <p:cNvPr id="100526" name="Text9"/>
          <p:cNvSpPr txBox="1"/>
          <p:nvPr/>
        </p:nvSpPr>
        <p:spPr>
          <a:xfrm xmlns:a="http://schemas.openxmlformats.org/drawingml/2006/main">
            <a:off x="457200" y="3356280"/>
            <a:ext cx="5247720" cy="22100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図では x を飛ばし、(−1) と (1, 3) をつなげて (−1, 1, 3) にします。文字も順番も変わりません。</a:t>
            </a:r>
          </a:p>
          <a:p xmlns:a="http://schemas.openxmlformats.org/drawingml/2006/main">
            <a:pPr algn="l">
              <a:lnSpc>
                <a:spcPct val="112000"/>
              </a:lnSpc>
              <a:spcBef>
                <a:spcPts val="600"/>
              </a:spcBef>
            </a:pPr>
            <a:r>
              <a:rPr lang="en-US" sz="1800" b="0">
                <a:solidFill>
                  <a:srgbClr val="4F5D6E"/>
                </a:solidFill>
                <a:latin typeface="Noto Sans JP"/>
                <a:ea typeface="Noto Sans JP"/>
              </a:rPr>
              <a:t>出る辺が2本以上の頂点（マクロ頂点）だけを残します。</a:t>
            </a:r>
          </a:p>
        </p:txBody>
      </p:sp>
      <p:pic>
        <p:nvPicPr>
          <p:cNvPr id="100527" name="Pic10" descr="図: 出る辺が1本の頂点 x を飛ばし、語 (−1) と (1, 3) をつなげて (−1, 1, 3) にする縮約の前後の図。"/>
          <p:cNvPicPr>
            <a:picLocks xmlns:a="http://schemas.openxmlformats.org/drawingml/2006/main" noChangeAspect="1"/>
          </p:cNvPicPr>
          <p:nvPr/>
        </p:nvPicPr>
        <p:blipFill>
          <a:blip xmlns:r="http://schemas.openxmlformats.org/officeDocument/2006/relationships" xmlns:a="http://schemas.openxmlformats.org/drawingml/2006/main" r:embed="R8ea7bd173d4a42f6"/>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52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4</a:t>
            </a:r>
          </a:p>
        </p:txBody>
      </p:sp>
      <p:sp>
        <p:nvSpPr>
          <p:cNvPr id="10052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新しい素数での持ち上げ</a:t>
            </a:r>
          </a:p>
        </p:txBody>
      </p:sp>
      <p:sp>
        <p:nvSpPr>
          <p:cNvPr id="10053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55 / 99</a:t>
            </a:r>
          </a:p>
        </p:txBody>
      </p:sp>
      <p:sp>
        <p:nvSpPr>
          <p:cNvPr id="10053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3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3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持ち上げでは、語の途中のすべての時刻で、新しい素数で割り切れないことを確かめます。</a:t>
            </a:r>
          </a:p>
        </p:txBody>
      </p:sp>
      <p:sp>
        <p:nvSpPr>
          <p:cNvPr id="100534" name="Text7"/>
          <p:cNvSpPr txBox="1"/>
          <p:nvPr/>
        </p:nvSpPr>
        <p:spPr>
          <a:xfrm xmlns:a="http://schemas.openxmlformats.org/drawingml/2006/main">
            <a:off x="457200" y="1080000"/>
            <a:ext cx="5247720" cy="14428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素数 p を加え、頂点を (u, q) にします（q は p で割ったあまり、1〜p−1）。</a:t>
            </a:r>
          </a:p>
          <a:p xmlns:a="http://schemas.openxmlformats.org/drawingml/2006/main">
            <a:pPr algn="l">
              <a:lnSpc>
                <a:spcPct val="112000"/>
              </a:lnSpc>
              <a:spcBef>
                <a:spcPts val="400"/>
              </a:spcBef>
            </a:pPr>
            <a:r>
              <a:rPr lang="en-US" sz="2000" b="0">
                <a:solidFill>
                  <a:srgbClr val="1F2933"/>
                </a:solidFill>
                <a:latin typeface="Noto Sans JP"/>
                <a:ea typeface="Noto Sans JP"/>
              </a:rPr>
              <a:t>b·Q</a:t>
            </a:r>
            <a:r>
              <a:rPr lang="en-US" sz="2000" b="0" baseline="-25000">
                <a:solidFill>
                  <a:srgbClr val="1F2933"/>
                </a:solidFill>
                <a:latin typeface="Noto Sans JP"/>
                <a:ea typeface="Noto Sans JP"/>
              </a:rPr>
              <a:t>n+1</a:t>
            </a:r>
            <a:r>
              <a:rPr lang="en-US" sz="2000" b="0">
                <a:solidFill>
                  <a:srgbClr val="1F2933"/>
                </a:solidFill>
                <a:latin typeface="Noto Sans JP"/>
                <a:ea typeface="Noto Sans JP"/>
              </a:rPr>
              <a:t xml:space="preserve"> = a·Q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 c</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を mod p で見ると</a:t>
            </a:r>
          </a:p>
        </p:txBody>
      </p:sp>
      <p:pic>
        <p:nvPicPr>
          <p:cNvPr id="100535" name="Pic8" descr="数式: q_{i+1}\equiv b^{-1}(a\,q_i+c_i)\pmod p"/>
          <p:cNvPicPr>
            <a:picLocks xmlns:a="http://schemas.openxmlformats.org/drawingml/2006/main" noChangeAspect="1"/>
          </p:cNvPicPr>
          <p:nvPr/>
        </p:nvPicPr>
        <p:blipFill>
          <a:blip xmlns:r="http://schemas.openxmlformats.org/officeDocument/2006/relationships" xmlns:a="http://schemas.openxmlformats.org/drawingml/2006/main" r:embed="R198a743810da40d2"/>
          <a:stretch xmlns:a="http://schemas.openxmlformats.org/drawingml/2006/main">
            <a:fillRect/>
          </a:stretch>
        </p:blipFill>
        <p:spPr>
          <a:xfrm xmlns:a="http://schemas.openxmlformats.org/drawingml/2006/main">
            <a:off x="529200" y="2359440"/>
            <a:ext cx="3300840" cy="333000"/>
          </a:xfrm>
          <a:prstGeom xmlns:a="http://schemas.openxmlformats.org/drawingml/2006/main" prst="rect">
            <a:avLst/>
          </a:prstGeom>
        </p:spPr>
      </p:pic>
      <p:sp>
        <p:nvSpPr>
          <p:cNvPr id="100536" name="Text9"/>
          <p:cNvSpPr txBox="1"/>
          <p:nvPr/>
        </p:nvSpPr>
        <p:spPr>
          <a:xfrm xmlns:a="http://schemas.openxmlformats.org/drawingml/2006/main">
            <a:off x="457200" y="2826000"/>
            <a:ext cx="524772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辺の語に沿ってあまりを順に計算し、途中も最後もすべて 0 でないときだけ辺を残します。</a:t>
            </a:r>
          </a:p>
        </p:txBody>
      </p:sp>
      <p:sp>
        <p:nvSpPr>
          <p:cNvPr id="100537" name="Term10"/>
          <p:cNvSpPr txBox="1"/>
          <p:nvPr/>
        </p:nvSpPr>
        <p:spPr>
          <a:xfrm xmlns:a="http://schemas.openxmlformats.org/drawingml/2006/main">
            <a:off x="457200" y="403668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b</a:t>
            </a:r>
            <a:r>
              <a:rPr lang="en-US" sz="1800" b="1" baseline="30000">
                <a:solidFill>
                  <a:srgbClr val="1B2A41"/>
                </a:solidFill>
                <a:latin typeface="Noto Sans JP"/>
                <a:ea typeface="Noto Sans JP"/>
              </a:rPr>
              <a:t>−1</a:t>
            </a:r>
            <a:r>
              <a:rPr lang="en-US" sz="1800" b="1">
                <a:solidFill>
                  <a:srgbClr val="1B2A41"/>
                </a:solidFill>
                <a:latin typeface="Noto Sans JP"/>
                <a:ea typeface="Noto Sans JP"/>
              </a:rPr>
              <a:t xml:space="preserve"> (mod p)</a:t>
            </a:r>
          </a:p>
          <a:p xmlns:a="http://schemas.openxmlformats.org/drawingml/2006/main">
            <a:pPr algn="l">
              <a:lnSpc>
                <a:spcPct val="112000"/>
              </a:lnSpc>
              <a:spcBef>
                <a:spcPts val="200"/>
              </a:spcBef>
            </a:pPr>
            <a:r>
              <a:rPr lang="en-US" sz="1800" b="0">
                <a:solidFill>
                  <a:srgbClr val="1F2933"/>
                </a:solidFill>
                <a:latin typeface="Noto Sans JP"/>
                <a:ea typeface="Noto Sans JP"/>
              </a:rPr>
              <a:t>b をかけて p で割ると 1 あまる数。p = 7, b = 2 なら 4（2 × 4 = 8 = 7 + 1）。</a:t>
            </a:r>
          </a:p>
        </p:txBody>
      </p:sp>
      <p:pic>
        <p:nvPicPr>
          <p:cNvPr id="100538" name="Pic11" descr="図: a=5, b=2, p=7、語 (−1, 1) の持ち上げ。出発のあまり 1 では 1, 2, 2 で辺を残し、3 では途中が 0 になり辺を消す。"/>
          <p:cNvPicPr>
            <a:picLocks xmlns:a="http://schemas.openxmlformats.org/drawingml/2006/main" noChangeAspect="1"/>
          </p:cNvPicPr>
          <p:nvPr/>
        </p:nvPicPr>
        <p:blipFill>
          <a:blip xmlns:r="http://schemas.openxmlformats.org/officeDocument/2006/relationships" xmlns:a="http://schemas.openxmlformats.org/drawingml/2006/main" r:embed="Rf054e14d94b643ae"/>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539"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4</a:t>
            </a:r>
          </a:p>
        </p:txBody>
      </p:sp>
      <p:sp>
        <p:nvSpPr>
          <p:cNvPr id="100540"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定理19: 語ラベル法の有限成功</a:t>
            </a:r>
          </a:p>
        </p:txBody>
      </p:sp>
      <p:sp>
        <p:nvSpPr>
          <p:cNvPr id="100541"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56 / 99</a:t>
            </a:r>
          </a:p>
        </p:txBody>
      </p:sp>
      <p:sp>
        <p:nvSpPr>
          <p:cNvPr id="100542"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43"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44"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「除去→縮約→持ち上げ」を素数ごとに繰り返し、最後に空になれば定理が証明されます。</a:t>
            </a:r>
          </a:p>
        </p:txBody>
      </p:sp>
      <p:pic>
        <p:nvPicPr>
          <p:cNvPr id="100545" name="Pic7" descr="図: 語ラベル法の流れ図: セルだけのグラフ → 除去 → 縮約 → 素数での持ち上げ、を素数ごとに繰り返し、最後が空。"/>
          <p:cNvPicPr>
            <a:picLocks xmlns:a="http://schemas.openxmlformats.org/drawingml/2006/main" noChangeAspect="1"/>
          </p:cNvPicPr>
          <p:nvPr/>
        </p:nvPicPr>
        <p:blipFill>
          <a:blip xmlns:r="http://schemas.openxmlformats.org/officeDocument/2006/relationships" xmlns:a="http://schemas.openxmlformats.org/drawingml/2006/main" r:embed="Rfbc3b394154742ce"/>
          <a:stretch xmlns:a="http://schemas.openxmlformats.org/drawingml/2006/main">
            <a:fillRect/>
          </a:stretch>
        </p:blipFill>
        <p:spPr>
          <a:xfrm xmlns:a="http://schemas.openxmlformats.org/drawingml/2006/main">
            <a:off x="462960" y="1062000"/>
            <a:ext cx="11265840" cy="2736000"/>
          </a:xfrm>
          <a:prstGeom xmlns:a="http://schemas.openxmlformats.org/drawingml/2006/main" prst="rect">
            <a:avLst/>
          </a:prstGeom>
        </p:spPr>
      </p:pic>
      <p:sp>
        <p:nvSpPr>
          <p:cNvPr id="100546" name="Text8"/>
          <p:cNvSpPr txBox="1"/>
          <p:nvPr/>
        </p:nvSpPr>
        <p:spPr>
          <a:xfrm xmlns:a="http://schemas.openxmlformats.org/drawingml/2006/main">
            <a:off x="457200" y="3960000"/>
            <a:ext cx="5458680" cy="171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素数 2, 5（5/2 では 2）はアルファベットで表します（補題23・24）。残りの素数を1つずつ持ち上げ、最後が空なら、全部の素数の積 M について定理1の形の結論が出ます。</a:t>
            </a:r>
          </a:p>
        </p:txBody>
      </p:sp>
      <p:sp>
        <p:nvSpPr>
          <p:cNvPr id="100547" name="Text9"/>
          <p:cNvSpPr txBox="1"/>
          <p:nvPr/>
        </p:nvSpPr>
        <p:spPr>
          <a:xfrm xmlns:a="http://schemas.openxmlformats.org/drawingml/2006/main">
            <a:off x="6275880" y="3960000"/>
            <a:ext cx="545868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証明は背理法です。割り切れない尾部は、どの操作の後もグラフに被覆されて残るので、空のグラフと矛盾します。</a:t>
            </a:r>
          </a:p>
        </p:txBody>
      </p:sp>
    </p:spTree>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54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4</a:t>
            </a:r>
          </a:p>
        </p:txBody>
      </p:sp>
      <p:sp>
        <p:nvSpPr>
          <p:cNvPr id="10054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比 5/2 の最初のグラフ</a:t>
            </a:r>
          </a:p>
        </p:txBody>
      </p:sp>
      <p:sp>
        <p:nvSpPr>
          <p:cNvPr id="10055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57 / 99</a:t>
            </a:r>
          </a:p>
        </p:txBody>
      </p:sp>
      <p:sp>
        <p:nvSpPr>
          <p:cNvPr id="10055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5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5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比 5/2 の出発点は、4 頂点・12 本の辺だけの小さなグラフです。</a:t>
            </a:r>
          </a:p>
        </p:txBody>
      </p:sp>
      <p:sp>
        <p:nvSpPr>
          <p:cNvPr id="100554"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K = 4（セル 0〜3）、アルファベット {−1, 1, 3}。条件</a:t>
            </a:r>
          </a:p>
        </p:txBody>
      </p:sp>
      <p:pic>
        <p:nvPicPr>
          <p:cNvPr id="100555" name="Pic8" descr="数式: 5j-2(k+1)\ &lt;\ 4c\ &lt;\ 5(j+1)-2k"/>
          <p:cNvPicPr>
            <a:picLocks xmlns:a="http://schemas.openxmlformats.org/drawingml/2006/main" noChangeAspect="1"/>
          </p:cNvPicPr>
          <p:nvPr/>
        </p:nvPicPr>
        <p:blipFill>
          <a:blip xmlns:r="http://schemas.openxmlformats.org/officeDocument/2006/relationships" xmlns:a="http://schemas.openxmlformats.org/drawingml/2006/main" r:embed="R70ea4fc0647e4831"/>
          <a:stretch xmlns:a="http://schemas.openxmlformats.org/drawingml/2006/main">
            <a:fillRect/>
          </a:stretch>
        </p:blipFill>
        <p:spPr>
          <a:xfrm xmlns:a="http://schemas.openxmlformats.org/drawingml/2006/main">
            <a:off x="529200" y="1961640"/>
            <a:ext cx="4205520" cy="304920"/>
          </a:xfrm>
          <a:prstGeom xmlns:a="http://schemas.openxmlformats.org/drawingml/2006/main" prst="rect">
            <a:avLst/>
          </a:prstGeom>
        </p:spPr>
      </p:pic>
      <p:sp>
        <p:nvSpPr>
          <p:cNvPr id="100556" name="Text9"/>
          <p:cNvSpPr txBox="1"/>
          <p:nvPr/>
        </p:nvSpPr>
        <p:spPr>
          <a:xfrm xmlns:a="http://schemas.openxmlformats.org/drawingml/2006/main">
            <a:off x="457200" y="2399400"/>
            <a:ext cx="5247720" cy="22622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（(E3) を K = 4, a/b = 5/2 で書いたもの）を満たす (j, c, k) を全部数えると、辺はちょうど 12 本です。</a:t>
            </a:r>
          </a:p>
          <a:p xmlns:a="http://schemas.openxmlformats.org/drawingml/2006/main">
            <a:pPr algn="l">
              <a:lnSpc>
                <a:spcPct val="112000"/>
              </a:lnSpc>
              <a:spcBef>
                <a:spcPts val="400"/>
              </a:spcBef>
            </a:pPr>
            <a:r>
              <a:rPr lang="en-US" sz="2000" b="0">
                <a:solidFill>
                  <a:srgbClr val="1F2933"/>
                </a:solidFill>
                <a:latin typeface="Noto Sans JP"/>
                <a:ea typeface="Noto Sans JP"/>
              </a:rPr>
              <a:t>どの ξ についても、割り切れない尾部はこのグラフのウォークになります。</a:t>
            </a:r>
          </a:p>
        </p:txBody>
      </p:sp>
      <p:pic>
        <p:nvPicPr>
          <p:cNvPr id="100557" name="Pic10" descr="図: 比 5/2、K=4 の最初のグラフの12本の辺を、繰り上がり −1, 1, 3 ごとの3つの図に分けて示す。"/>
          <p:cNvPicPr>
            <a:picLocks xmlns:a="http://schemas.openxmlformats.org/drawingml/2006/main" noChangeAspect="1"/>
          </p:cNvPicPr>
          <p:nvPr/>
        </p:nvPicPr>
        <p:blipFill>
          <a:blip xmlns:r="http://schemas.openxmlformats.org/officeDocument/2006/relationships" xmlns:a="http://schemas.openxmlformats.org/drawingml/2006/main" r:embed="R12aace5d615c4c03"/>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55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4</a:t>
            </a:r>
          </a:p>
        </p:txBody>
      </p:sp>
      <p:sp>
        <p:nvSpPr>
          <p:cNvPr id="10055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比 5/2 の 10 段階の計算（表6）</a:t>
            </a:r>
          </a:p>
        </p:txBody>
      </p:sp>
      <p:sp>
        <p:nvSpPr>
          <p:cNvPr id="10056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58 / 99</a:t>
            </a:r>
          </a:p>
        </p:txBody>
      </p:sp>
      <p:sp>
        <p:nvSpPr>
          <p:cNvPr id="10056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6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6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素数を1つ加えるたびに増えては減り、最後の素数 31 で空になりました。</a:t>
            </a:r>
          </a:p>
        </p:txBody>
      </p:sp>
      <p:sp>
        <p:nvSpPr>
          <p:cNvPr id="100564" name="Text7"/>
          <p:cNvSpPr txBox="1"/>
          <p:nvPr/>
        </p:nvSpPr>
        <p:spPr>
          <a:xfrm xmlns:a="http://schemas.openxmlformats.org/drawingml/2006/main">
            <a:off x="457200" y="1080000"/>
            <a:ext cx="5247720" cy="39686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素数 3, 7, 11, 13, 17, 19, 23, 29, 31 を順に加えました。</a:t>
            </a:r>
          </a:p>
          <a:p xmlns:a="http://schemas.openxmlformats.org/drawingml/2006/main">
            <a:pPr algn="l">
              <a:lnSpc>
                <a:spcPct val="112000"/>
              </a:lnSpc>
              <a:spcBef>
                <a:spcPts val="400"/>
              </a:spcBef>
            </a:pPr>
            <a:r>
              <a:rPr lang="en-US" sz="2000" b="0">
                <a:solidFill>
                  <a:srgbClr val="1F2933"/>
                </a:solidFill>
                <a:latin typeface="Noto Sans JP"/>
                <a:ea typeface="Noto Sans JP"/>
              </a:rPr>
              <a:t>持ち上げで頂点は増え、除去と縮約で減ります。</a:t>
            </a:r>
          </a:p>
          <a:p xmlns:a="http://schemas.openxmlformats.org/drawingml/2006/main">
            <a:pPr algn="l">
              <a:lnSpc>
                <a:spcPct val="112000"/>
              </a:lnSpc>
              <a:spcBef>
                <a:spcPts val="400"/>
              </a:spcBef>
            </a:pPr>
            <a:r>
              <a:rPr lang="en-US" sz="2000" b="0">
                <a:solidFill>
                  <a:srgbClr val="1F2933"/>
                </a:solidFill>
                <a:latin typeface="Noto Sans JP"/>
                <a:ea typeface="Noto Sans JP"/>
              </a:rPr>
              <a:t>段 9（最後の段、素数 31）の入力グラフでは巡回的 SCC 1084 個が全部認証され、出力が空になりました。</a:t>
            </a:r>
          </a:p>
          <a:p xmlns:a="http://schemas.openxmlformats.org/drawingml/2006/main">
            <a:pPr algn="l">
              <a:lnSpc>
                <a:spcPct val="112000"/>
              </a:lnSpc>
              <a:spcBef>
                <a:spcPts val="600"/>
              </a:spcBef>
            </a:pPr>
            <a:r>
              <a:rPr lang="en-US" sz="1800" b="0">
                <a:solidFill>
                  <a:srgbClr val="4F5D6E"/>
                </a:solidFill>
                <a:latin typeface="Noto Sans JP"/>
                <a:ea typeface="Noto Sans JP"/>
              </a:rPr>
              <a:t>入力頂点の最大は 2,856,938（素数 31 の段）。</a:t>
            </a:r>
          </a:p>
        </p:txBody>
      </p:sp>
      <p:pic>
        <p:nvPicPr>
          <p:cNvPr id="100565" name="Pic8" descr="図: 5/2 の10段の計算で、入力・除去後・縮約後の頂点数を対数目盛りで示す折れ線。最後の段で 0 になる。"/>
          <p:cNvPicPr>
            <a:picLocks xmlns:a="http://schemas.openxmlformats.org/drawingml/2006/main" noChangeAspect="1"/>
          </p:cNvPicPr>
          <p:nvPr/>
        </p:nvPicPr>
        <p:blipFill>
          <a:blip xmlns:r="http://schemas.openxmlformats.org/officeDocument/2006/relationships" xmlns:a="http://schemas.openxmlformats.org/drawingml/2006/main" r:embed="R30ef62fbf85442f6"/>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566"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4</a:t>
            </a:r>
          </a:p>
        </p:txBody>
      </p:sp>
      <p:sp>
        <p:nvSpPr>
          <p:cNvPr id="100567"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比 7/5 を語ラベル法でもう一度</a:t>
            </a:r>
          </a:p>
        </p:txBody>
      </p:sp>
      <p:sp>
        <p:nvSpPr>
          <p:cNvPr id="100568"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59 / 99</a:t>
            </a:r>
          </a:p>
        </p:txBody>
      </p:sp>
      <p:sp>
        <p:nvSpPr>
          <p:cNvPr id="100569"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70"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71"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2つの異なる方法が、比 7/5 について同じ素数の集合 {2, 3, 5, 11, 13} で成功しました。</a:t>
            </a:r>
          </a:p>
        </p:txBody>
      </p:sp>
      <p:graphicFrame>
        <p:nvGraphicFramePr>
          <p:cNvPr id="100572" name="Table7"/>
          <p:cNvGraphicFramePr/>
          <p:nvPr/>
        </p:nvGraphicFramePr>
        <p:xfrm>
          <a:off xmlns:a="http://schemas.openxmlformats.org/drawingml/2006/main" x="457200" y="1098000"/>
          <a:ext xmlns:a="http://schemas.openxmlformats.org/drawingml/2006/main" cx="8568000" cy="1800000"/>
        </p:xfrm>
        <a:graphic xmlns:a="http://schemas.openxmlformats.org/drawingml/2006/main">
          <a:graphicData uri="http://schemas.openxmlformats.org/drawingml/2006/table">
            <a:tbl>
              <a:tblPr firstRow="1" bandRow="1"/>
              <a:tblGrid>
                <a:gridCol w="792000"/>
                <a:gridCol w="936000"/>
                <a:gridCol w="1440000"/>
                <a:gridCol w="1440000"/>
                <a:gridCol w="1440000"/>
                <a:gridCol w="1080000"/>
                <a:gridCol w="1440000"/>
              </a:tblGrid>
              <a:tr h="360000">
                <a:tc>
                  <a:txBody>
                    <a:bodyPr/>
                    <a:lstStyle/>
                    <a:p>
                      <a:pPr algn="ctr"/>
                      <a:r>
                        <a:rPr lang="en-US" sz="1600" b="1">
                          <a:solidFill>
                            <a:srgbClr val="FFFFFF"/>
                          </a:solidFill>
                          <a:latin typeface="Noto Sans JP"/>
                          <a:ea typeface="Noto Sans JP"/>
                        </a:rPr>
                        <a:t>段</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素数</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入力頂点</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入力辺</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巡回的 SCC</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認証</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出力頂点</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r>
              <a:tr h="360000">
                <a:tc>
                  <a:txBody>
                    <a:bodyPr/>
                    <a:lstStyle/>
                    <a:p>
                      <a:pPr algn="r"/>
                      <a:r>
                        <a:rPr lang="en-US" sz="1600" b="0">
                          <a:solidFill>
                            <a:srgbClr val="1F2933"/>
                          </a:solidFill>
                          <a:latin typeface="Noto Sans JP"/>
                          <a:ea typeface="Noto Sans JP"/>
                        </a:rPr>
                        <a:t>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2048</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8366</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1</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2048</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r"/>
                      <a:r>
                        <a:rPr lang="en-US" sz="1600" b="0">
                          <a:solidFill>
                            <a:srgbClr val="1F2933"/>
                          </a:solidFill>
                          <a:latin typeface="Noto Sans JP"/>
                          <a:ea typeface="Noto Sans JP"/>
                        </a:rPr>
                        <a:t>1</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4096</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9010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10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9</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593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r"/>
                      <a:r>
                        <a:rPr lang="en-US" sz="1600" b="0">
                          <a:solidFill>
                            <a:srgbClr val="1F2933"/>
                          </a:solidFill>
                          <a:latin typeface="Noto Sans JP"/>
                          <a:ea typeface="Noto Sans JP"/>
                        </a:rPr>
                        <a:t>2</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11</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5928</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11276</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4</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62</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r"/>
                      <a:r>
                        <a:rPr lang="en-US" sz="1600" b="1">
                          <a:solidFill>
                            <a:srgbClr val="1F2933"/>
                          </a:solidFill>
                          <a:latin typeface="Noto Sans JP"/>
                          <a:ea typeface="Noto Sans JP"/>
                        </a:rPr>
                        <a:t>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r"/>
                      <a:r>
                        <a:rPr lang="en-US" sz="1600" b="1">
                          <a:solidFill>
                            <a:srgbClr val="1F2933"/>
                          </a:solidFill>
                          <a:latin typeface="Noto Sans JP"/>
                          <a:ea typeface="Noto Sans JP"/>
                        </a:rPr>
                        <a:t>13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r"/>
                      <a:r>
                        <a:rPr lang="en-US" sz="1600" b="1">
                          <a:solidFill>
                            <a:srgbClr val="1F2933"/>
                          </a:solidFill>
                          <a:latin typeface="Noto Sans JP"/>
                          <a:ea typeface="Noto Sans JP"/>
                        </a:rPr>
                        <a:t>744</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r"/>
                      <a:r>
                        <a:rPr lang="en-US" sz="1600" b="1">
                          <a:solidFill>
                            <a:srgbClr val="1F2933"/>
                          </a:solidFill>
                          <a:latin typeface="Noto Sans JP"/>
                          <a:ea typeface="Noto Sans JP"/>
                        </a:rPr>
                        <a:t>1342</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r"/>
                      <a:r>
                        <a:rPr lang="en-US" sz="1600" b="1">
                          <a:solidFill>
                            <a:srgbClr val="1F2933"/>
                          </a:solidFill>
                          <a:latin typeface="Noto Sans JP"/>
                          <a:ea typeface="Noto Sans JP"/>
                        </a:rPr>
                        <a:t>2</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r"/>
                      <a:r>
                        <a:rPr lang="en-US" sz="1600" b="1">
                          <a:solidFill>
                            <a:srgbClr val="1F2933"/>
                          </a:solidFill>
                          <a:latin typeface="Noto Sans JP"/>
                          <a:ea typeface="Noto Sans JP"/>
                        </a:rPr>
                        <a:t>2</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c>
                  <a:txBody>
                    <a:bodyPr/>
                    <a:lstStyle/>
                    <a:p>
                      <a:pPr algn="r"/>
                      <a:r>
                        <a:rPr lang="en-US" sz="1600" b="1">
                          <a:solidFill>
                            <a:srgbClr val="1F2933"/>
                          </a:solidFill>
                          <a:latin typeface="Noto Sans JP"/>
                          <a:ea typeface="Noto Sans JP"/>
                        </a:rPr>
                        <a:t>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6E3CF"/>
                    </a:solidFill>
                  </a:tcPr>
                </a:tc>
              </a:tr>
            </a:tbl>
          </a:graphicData>
        </a:graphic>
      </p:graphicFrame>
      <p:sp>
        <p:nvSpPr>
          <p:cNvPr id="100573" name="Text8"/>
          <p:cNvSpPr txBox="1"/>
          <p:nvPr/>
        </p:nvSpPr>
        <p:spPr>
          <a:xfrm xmlns:a="http://schemas.openxmlformats.org/drawingml/2006/main">
            <a:off x="457200" y="3085920"/>
            <a:ext cx="11277720" cy="143172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K = 2048、アルファベット {−4, −2, 2, 4, 6}、素数 3, 11, 13。最後の出力が空になり、M = 2·5·3·11·13 = 4290 で定理1 (i) がもう一度証明されます。</a:t>
            </a:r>
          </a:p>
          <a:p xmlns:a="http://schemas.openxmlformats.org/drawingml/2006/main">
            <a:pPr algn="l">
              <a:lnSpc>
                <a:spcPct val="112000"/>
              </a:lnSpc>
              <a:spcBef>
                <a:spcPts val="600"/>
              </a:spcBef>
            </a:pPr>
            <a:r>
              <a:rPr lang="en-US" sz="1800" b="0">
                <a:solidFill>
                  <a:srgbClr val="4F5D6E"/>
                </a:solidFill>
                <a:latin typeface="Noto Sans JP"/>
                <a:ea typeface="Noto Sans JP"/>
              </a:rPr>
              <a:t>新しい比についての定理ではなく、2つの方法が同じ結論を出すことの確認です。</a:t>
            </a:r>
          </a:p>
        </p:txBody>
      </p:sp>
    </p:spTree>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574"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4</a:t>
            </a:r>
          </a:p>
        </p:txBody>
      </p:sp>
      <p:sp>
        <p:nvSpPr>
          <p:cNvPr id="100575"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位相判定の完全性（定理21）</a:t>
            </a:r>
          </a:p>
        </p:txBody>
      </p:sp>
      <p:sp>
        <p:nvSpPr>
          <p:cNvPr id="100576"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60 / 99</a:t>
            </a:r>
          </a:p>
        </p:txBody>
      </p:sp>
      <p:sp>
        <p:nvSpPr>
          <p:cNvPr id="100577"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78"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79"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位相判定に落ちる成分には、グラフの中に周期的でない出力のウォークが実際にあります。</a:t>
            </a:r>
          </a:p>
        </p:txBody>
      </p:sp>
      <p:sp>
        <p:nvSpPr>
          <p:cNvPr id="100580" name="Text7"/>
          <p:cNvSpPr txBox="1"/>
          <p:nvPr/>
        </p:nvSpPr>
        <p:spPr>
          <a:xfrm xmlns:a="http://schemas.openxmlformats.org/drawingml/2006/main">
            <a:off x="457200" y="1080000"/>
            <a:ext cx="5247720" cy="31712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巡回的な SCC C について、次の3つは同じことです。</a:t>
            </a:r>
          </a:p>
          <a:p xmlns:a="http://schemas.openxmlformats.org/drawingml/2006/main">
            <a:pPr marL="288000" indent="-288000" algn="l">
              <a:lnSpc>
                <a:spcPct val="112000"/>
              </a:lnSpc>
              <a:spcBef>
                <a:spcPts val="400"/>
              </a:spcBef>
              <a:buNone/>
            </a:pPr>
            <a:r>
              <a:rPr lang="en-US" sz="2000" b="0">
                <a:solidFill>
                  <a:srgbClr val="1F2933"/>
                </a:solidFill>
                <a:latin typeface="Noto Sans JP"/>
                <a:ea typeface="Noto Sans JP"/>
              </a:rPr>
              <a:t>1. 位相判定に合格する（認証される）。</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2. C の中の無限ウォークの出力はすべて最終的に周期的。</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3. 根に戻る2つの閉じた語 u, v は、いつも uv = vu を満たす。</a:t>
            </a:r>
          </a:p>
        </p:txBody>
      </p:sp>
      <p:sp>
        <p:nvSpPr>
          <p:cNvPr id="100581" name="Term8"/>
          <p:cNvSpPr txBox="1"/>
          <p:nvPr/>
        </p:nvSpPr>
        <p:spPr>
          <a:xfrm xmlns:a="http://schemas.openxmlformats.org/drawingml/2006/main">
            <a:off x="457200" y="380664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閉じた語</a:t>
            </a:r>
          </a:p>
          <a:p xmlns:a="http://schemas.openxmlformats.org/drawingml/2006/main">
            <a:pPr algn="l">
              <a:lnSpc>
                <a:spcPct val="112000"/>
              </a:lnSpc>
              <a:spcBef>
                <a:spcPts val="200"/>
              </a:spcBef>
            </a:pPr>
            <a:r>
              <a:rPr lang="en-US" sz="1800" b="0">
                <a:solidFill>
                  <a:srgbClr val="1F2933"/>
                </a:solidFill>
                <a:latin typeface="Noto Sans JP"/>
                <a:ea typeface="Noto Sans JP"/>
              </a:rPr>
              <a:t>根から出て根に戻るウォークの出力。ここでの u, v は頂点ではなく語。</a:t>
            </a:r>
          </a:p>
        </p:txBody>
      </p:sp>
      <p:pic>
        <p:nvPicPr>
          <p:cNvPr id="100582" name="Pic9" descr="図: 説明用の1頂点・2ループの例。uv と vu が違うとき、0 と 1 の周期的でない列を uv, vu に置き換えると周期的でない出力ができる。"/>
          <p:cNvPicPr>
            <a:picLocks xmlns:a="http://schemas.openxmlformats.org/drawingml/2006/main" noChangeAspect="1"/>
          </p:cNvPicPr>
          <p:nvPr/>
        </p:nvPicPr>
        <p:blipFill>
          <a:blip xmlns:r="http://schemas.openxmlformats.org/officeDocument/2006/relationships" xmlns:a="http://schemas.openxmlformats.org/drawingml/2006/main" r:embed="Rf5d76735c5384f84"/>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583"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4</a:t>
            </a:r>
          </a:p>
        </p:txBody>
      </p:sp>
      <p:sp>
        <p:nvSpPr>
          <p:cNvPr id="100584"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h の選び方と d（系22）</a:t>
            </a:r>
          </a:p>
        </p:txBody>
      </p:sp>
      <p:sp>
        <p:nvSpPr>
          <p:cNvPr id="100585"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61 / 99</a:t>
            </a:r>
          </a:p>
        </p:txBody>
      </p:sp>
      <p:sp>
        <p:nvSpPr>
          <p:cNvPr id="100586"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87"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88"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h は「共通の根からの道の長さ」にとる必要があり、そうすれば判定の結果は一通りに決まります。</a:t>
            </a:r>
          </a:p>
        </p:txBody>
      </p:sp>
      <p:sp>
        <p:nvSpPr>
          <p:cNvPr id="100589" name="Text7"/>
          <p:cNvSpPr txBox="1"/>
          <p:nvPr/>
        </p:nvSpPr>
        <p:spPr>
          <a:xfrm xmlns:a="http://schemas.openxmlformats.org/drawingml/2006/main">
            <a:off x="457200" y="1080000"/>
            <a:ext cx="524772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h(v) を「共通の根から v までの道の語の長さ」にとれば、判定の結果と d は根や道の選び方によりません。</a:t>
            </a:r>
          </a:p>
        </p:txBody>
      </p:sp>
      <p:pic>
        <p:nvPicPr>
          <p:cNvPr id="100590" name="Pic8" descr="数式: d=g_C=\gcd\bigl\{\,|\mathrm{out}(\gamma)|\,\bigr\}"/>
          <p:cNvPicPr>
            <a:picLocks xmlns:a="http://schemas.openxmlformats.org/drawingml/2006/main" noChangeAspect="1"/>
          </p:cNvPicPr>
          <p:nvPr/>
        </p:nvPicPr>
        <p:blipFill>
          <a:blip xmlns:r="http://schemas.openxmlformats.org/officeDocument/2006/relationships" xmlns:a="http://schemas.openxmlformats.org/drawingml/2006/main" r:embed="R8c110e93b970413b"/>
          <a:stretch xmlns:a="http://schemas.openxmlformats.org/drawingml/2006/main">
            <a:fillRect/>
          </a:stretch>
        </p:blipFill>
        <p:spPr>
          <a:xfrm xmlns:a="http://schemas.openxmlformats.org/drawingml/2006/main">
            <a:off x="529200" y="2308680"/>
            <a:ext cx="2755080" cy="355680"/>
          </a:xfrm>
          <a:prstGeom xmlns:a="http://schemas.openxmlformats.org/drawingml/2006/main" prst="rect">
            <a:avLst/>
          </a:prstGeom>
        </p:spPr>
      </p:pic>
      <p:sp>
        <p:nvSpPr>
          <p:cNvPr id="100591" name="Text9"/>
          <p:cNvSpPr txBox="1"/>
          <p:nvPr/>
        </p:nvSpPr>
        <p:spPr>
          <a:xfrm xmlns:a="http://schemas.openxmlformats.org/drawingml/2006/main">
            <a:off x="457200" y="2797560"/>
            <a:ext cx="5247720" cy="2939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spcBef>
                <a:spcPts val="600"/>
              </a:spcBef>
            </a:pPr>
            <a:r>
              <a:rPr lang="en-US" sz="1800" b="0">
                <a:solidFill>
                  <a:srgbClr val="4F5D6E"/>
                </a:solidFill>
                <a:latin typeface="Noto Sans JP"/>
                <a:ea typeface="Noto Sans JP"/>
              </a:rPr>
              <a:t>γ は C の中の空でない閉じたウォーク、|out(γ)| はその語の長さの合計。</a:t>
            </a:r>
          </a:p>
          <a:p xmlns:a="http://schemas.openxmlformats.org/drawingml/2006/main">
            <a:pPr algn="l">
              <a:lnSpc>
                <a:spcPct val="112000"/>
              </a:lnSpc>
              <a:spcBef>
                <a:spcPts val="400"/>
              </a:spcBef>
            </a:pPr>
            <a:r>
              <a:rPr lang="en-US" sz="2000" b="0">
                <a:solidFill>
                  <a:srgbClr val="1F2933"/>
                </a:solidFill>
                <a:latin typeface="Noto Sans JP"/>
                <a:ea typeface="Noto Sans JP"/>
              </a:rPr>
              <a:t>しかし h を勝手に選ぶと判定が変わります。</a:t>
            </a:r>
          </a:p>
          <a:p xmlns:a="http://schemas.openxmlformats.org/drawingml/2006/main">
            <a:pPr algn="l">
              <a:lnSpc>
                <a:spcPct val="112000"/>
              </a:lnSpc>
              <a:spcBef>
                <a:spcPts val="400"/>
              </a:spcBef>
            </a:pPr>
            <a:r>
              <a:rPr lang="en-US" sz="2000" b="0">
                <a:solidFill>
                  <a:srgbClr val="1F2933"/>
                </a:solidFill>
                <a:latin typeface="Noto Sans JP"/>
                <a:ea typeface="Noto Sans JP"/>
              </a:rPr>
              <a:t>例: u →(2)→ v →(4)→ u。h(u) = 0, h(v) = 1 なら d = 2 で合格。h(u) = h(v) = 0 と選ぶと d = 1 になり、2 と 4 が同じ位相に入って不合格です。</a:t>
            </a:r>
          </a:p>
        </p:txBody>
      </p:sp>
      <p:pic>
        <p:nvPicPr>
          <p:cNvPr id="100592" name="Pic10" descr="図: 同じ2頂点サイクルで、根からの長さの h では判定に合格し、勝手に選んだ h では不合格になることの比較図。"/>
          <p:cNvPicPr>
            <a:picLocks xmlns:a="http://schemas.openxmlformats.org/drawingml/2006/main" noChangeAspect="1"/>
          </p:cNvPicPr>
          <p:nvPr/>
        </p:nvPicPr>
        <p:blipFill>
          <a:blip xmlns:r="http://schemas.openxmlformats.org/officeDocument/2006/relationships" xmlns:a="http://schemas.openxmlformats.org/drawingml/2006/main" r:embed="R903cac2d496345e3"/>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593"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4</a:t>
            </a:r>
          </a:p>
        </p:txBody>
      </p:sp>
      <p:sp>
        <p:nvSpPr>
          <p:cNvPr id="100594"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定理1と系2の証明のまとめ</a:t>
            </a:r>
          </a:p>
        </p:txBody>
      </p:sp>
      <p:sp>
        <p:nvSpPr>
          <p:cNvPr id="100595"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62 / 99</a:t>
            </a:r>
          </a:p>
        </p:txBody>
      </p:sp>
      <p:sp>
        <p:nvSpPr>
          <p:cNvPr id="100596"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97"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598"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計算結果（表1・4・6）と一般の定理（定理10・19）を組み合わせて、主定理が証明されます。</a:t>
            </a:r>
          </a:p>
        </p:txBody>
      </p:sp>
      <p:pic>
        <p:nvPicPr>
          <p:cNvPr id="100599" name="Pic7" descr="図: 定理1の3通りの証明（7/5 の1ステップ法、7/5 の語ラベル法、5/2 の語ラベル法）と、系2への流れを示す図。"/>
          <p:cNvPicPr>
            <a:picLocks xmlns:a="http://schemas.openxmlformats.org/drawingml/2006/main" noChangeAspect="1"/>
          </p:cNvPicPr>
          <p:nvPr/>
        </p:nvPicPr>
        <p:blipFill>
          <a:blip xmlns:r="http://schemas.openxmlformats.org/officeDocument/2006/relationships" xmlns:a="http://schemas.openxmlformats.org/drawingml/2006/main" r:embed="Ra3402f44987d453e"/>
          <a:stretch xmlns:a="http://schemas.openxmlformats.org/drawingml/2006/main">
            <a:fillRect/>
          </a:stretch>
        </p:blipFill>
        <p:spPr>
          <a:xfrm xmlns:a="http://schemas.openxmlformats.org/drawingml/2006/main">
            <a:off x="462960" y="1062000"/>
            <a:ext cx="11265840" cy="2736000"/>
          </a:xfrm>
          <a:prstGeom xmlns:a="http://schemas.openxmlformats.org/drawingml/2006/main" prst="rect">
            <a:avLst/>
          </a:prstGeom>
        </p:spPr>
      </p:pic>
      <p:sp>
        <p:nvSpPr>
          <p:cNvPr id="100600" name="Text8"/>
          <p:cNvSpPr txBox="1"/>
          <p:nvPr/>
        </p:nvSpPr>
        <p:spPr>
          <a:xfrm xmlns:a="http://schemas.openxmlformats.org/drawingml/2006/main">
            <a:off x="457200" y="3960000"/>
            <a:ext cx="545868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定理1 (i) は2通りの方法で、定理1 (ii) は語ラベル法で証明されます。</a:t>
            </a:r>
          </a:p>
        </p:txBody>
      </p:sp>
      <p:sp>
        <p:nvSpPr>
          <p:cNvPr id="100601" name="Text9"/>
          <p:cNvSpPr txBox="1"/>
          <p:nvPr/>
        </p:nvSpPr>
        <p:spPr>
          <a:xfrm xmlns:a="http://schemas.openxmlformats.org/drawingml/2006/main">
            <a:off x="6275880" y="3960000"/>
            <a:ext cx="545868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どれも「有限の計算が成功した」ことと「成功すれば結論が出る」という定理の組合せです。</a:t>
            </a:r>
          </a:p>
        </p:txBody>
      </p:sp>
    </p:spTree>
  </p:cSld>
</p:sld>
</file>

<file path=ppt/slides/slide63.xml><?xml version="1.0" encoding="utf-8"?>
<p:sld xmlns:p="http://schemas.openxmlformats.org/presentationml/2006/main">
  <p:cSld>
    <p:bg>
      <p:bgPr>
        <a:solidFill xmlns:a="http://schemas.openxmlformats.org/drawingml/2006/main">
          <a:srgbClr val="1B2A41"/>
        </a:solidFill>
      </p:bgPr>
    </p:bg>
    <p:spTree>
      <p:nvGrpSpPr>
        <p:cNvPr id="1" name=""/>
        <p:cNvGrpSpPr/>
        <p:nvPr/>
      </p:nvGrpSpPr>
      <p:grpSpPr/>
      <p:sp>
        <p:nvSpPr>
          <p:cNvPr id="100602" name="SecNum1"/>
          <p:cNvSpPr txBox="1"/>
          <p:nvPr/>
        </p:nvSpPr>
        <p:spPr>
          <a:xfrm xmlns:a="http://schemas.openxmlformats.org/drawingml/2006/main">
            <a:off x="792000" y="1080000"/>
            <a:ext cx="2160000" cy="1944000"/>
          </a:xfrm>
          <a:prstGeom xmlns:a="http://schemas.openxmlformats.org/drawingml/2006/main" prst="rect">
            <a:avLst/>
          </a:prstGeom>
          <a:noFill xmlns:a="http://schemas.openxmlformats.org/drawingml/2006/main"/>
        </p:spPr>
        <p:txBody>
          <a:bodyPr xmlns:a="http://schemas.openxmlformats.org/drawingml/2006/main" lIns="0" tIns="0" rIns="0" bIns="0" anchor="b">
            <a:noAutofit/>
          </a:bodyPr>
          <a:lstStyle xmlns:a="http://schemas.openxmlformats.org/drawingml/2006/main"/>
          <a:p xmlns:a="http://schemas.openxmlformats.org/drawingml/2006/main">
            <a:pPr algn="l">
              <a:lnSpc>
                <a:spcPct val="112000"/>
              </a:lnSpc>
            </a:pPr>
            <a:r>
              <a:rPr lang="en-US" sz="11000" b="1">
                <a:solidFill>
                  <a:srgbClr val="D97B1F"/>
                </a:solidFill>
                <a:latin typeface="Noto Sans JP"/>
                <a:ea typeface="Noto Sans JP"/>
              </a:rPr>
              <a:t>5</a:t>
            </a:r>
          </a:p>
        </p:txBody>
      </p:sp>
      <p:sp>
        <p:nvSpPr>
          <p:cNvPr id="100603" name="SecTitle2"/>
          <p:cNvSpPr txBox="1"/>
          <p:nvPr/>
        </p:nvSpPr>
        <p:spPr>
          <a:xfrm xmlns:a="http://schemas.openxmlformats.org/drawingml/2006/main">
            <a:off x="792000" y="3096000"/>
            <a:ext cx="10608120" cy="79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4000" b="1">
                <a:solidFill>
                  <a:srgbClr val="FFFFFF"/>
                </a:solidFill>
                <a:latin typeface="Noto Sans JP"/>
                <a:ea typeface="Noto Sans JP"/>
              </a:rPr>
              <a:t>待ち時間の評価</a:t>
            </a:r>
          </a:p>
        </p:txBody>
      </p:sp>
      <p:sp>
        <p:nvSpPr>
          <p:cNvPr id="100604" name="Text3"/>
          <p:cNvSpPr txBox="1"/>
          <p:nvPr/>
        </p:nvSpPr>
        <p:spPr>
          <a:xfrm xmlns:a="http://schemas.openxmlformats.org/drawingml/2006/main">
            <a:off x="792000" y="3996000"/>
            <a:ext cx="100321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FFFFFF"/>
                </a:solidFill>
                <a:latin typeface="Noto Sans JP"/>
                <a:ea typeface="Noto Sans JP"/>
              </a:rPr>
              <a:t>「無限にある」から「何番目までにある」へ: 比 7/5 の定理3の証明</a:t>
            </a:r>
          </a:p>
        </p:txBody>
      </p:sp>
      <p:sp>
        <p:nvSpPr>
          <p:cNvPr id="100605" name="PageNo4"/>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9FB0C3"/>
                </a:solidFill>
                <a:latin typeface="Noto Sans JP"/>
                <a:ea typeface="Noto Sans JP"/>
              </a:rPr>
              <a:t>63 / 99</a:t>
            </a:r>
          </a:p>
        </p:txBody>
      </p:sp>
    </p:spTree>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606"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5</a:t>
            </a:r>
          </a:p>
        </p:txBody>
      </p:sp>
      <p:sp>
        <p:nvSpPr>
          <p:cNvPr id="100607"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非周期性の有限版（補題25）</a:t>
            </a:r>
          </a:p>
        </p:txBody>
      </p:sp>
      <p:sp>
        <p:nvSpPr>
          <p:cNvPr id="100608"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64 / 99</a:t>
            </a:r>
          </a:p>
        </p:txBody>
      </p:sp>
      <p:sp>
        <p:nvSpPr>
          <p:cNvPr id="100609"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10"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11"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周期的な繰り上がりは、項の大きさの桁数くらいの長さしか続けられません。</a:t>
            </a:r>
          </a:p>
        </p:txBody>
      </p:sp>
      <p:sp>
        <p:nvSpPr>
          <p:cNvPr id="100612" name="Text7"/>
          <p:cNvSpPr txBox="1"/>
          <p:nvPr/>
        </p:nvSpPr>
        <p:spPr>
          <a:xfrm xmlns:a="http://schemas.openxmlformats.org/drawingml/2006/main">
            <a:off x="457200" y="1080000"/>
            <a:ext cx="524772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c</a:t>
            </a:r>
            <a:r>
              <a:rPr lang="en-US" sz="2000" b="0" baseline="-25000">
                <a:solidFill>
                  <a:srgbClr val="1F2933"/>
                </a:solidFill>
                <a:latin typeface="Noto Sans JP"/>
                <a:ea typeface="Noto Sans JP"/>
              </a:rPr>
              <a:t>u</a:t>
            </a:r>
            <a:r>
              <a:rPr lang="en-US" sz="2000" b="0">
                <a:solidFill>
                  <a:srgbClr val="1F2933"/>
                </a:solidFill>
                <a:latin typeface="Noto Sans JP"/>
                <a:ea typeface="Noto Sans JP"/>
              </a:rPr>
              <a:t xml:space="preserve"> から c</a:t>
            </a:r>
            <a:r>
              <a:rPr lang="en-US" sz="2000" b="0" baseline="-25000">
                <a:solidFill>
                  <a:srgbClr val="1F2933"/>
                </a:solidFill>
                <a:latin typeface="Noto Sans JP"/>
                <a:ea typeface="Noto Sans JP"/>
              </a:rPr>
              <a:t>u+ℓ−1</a:t>
            </a:r>
            <a:r>
              <a:rPr lang="en-US" sz="2000" b="0">
                <a:solidFill>
                  <a:srgbClr val="1F2933"/>
                </a:solidFill>
                <a:latin typeface="Noto Sans JP"/>
                <a:ea typeface="Noto Sans JP"/>
              </a:rPr>
              <a:t xml:space="preserve"> までの ℓ 個が d 個ごとに同じ値を繰り返すとし、D</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 Q</a:t>
            </a:r>
            <a:r>
              <a:rPr lang="en-US" sz="2000" b="0" baseline="-25000">
                <a:solidFill>
                  <a:srgbClr val="1F2933"/>
                </a:solidFill>
                <a:latin typeface="Noto Sans JP"/>
                <a:ea typeface="Noto Sans JP"/>
              </a:rPr>
              <a:t>u+d</a:t>
            </a:r>
            <a:r>
              <a:rPr lang="en-US" sz="2000" b="0">
                <a:solidFill>
                  <a:srgbClr val="1F2933"/>
                </a:solidFill>
                <a:latin typeface="Noto Sans JP"/>
                <a:ea typeface="Noto Sans JP"/>
              </a:rPr>
              <a:t xml:space="preserve"> − Q</a:t>
            </a:r>
            <a:r>
              <a:rPr lang="en-US" sz="2000" b="0" baseline="-25000">
                <a:solidFill>
                  <a:srgbClr val="1F2933"/>
                </a:solidFill>
                <a:latin typeface="Noto Sans JP"/>
                <a:ea typeface="Noto Sans JP"/>
              </a:rPr>
              <a:t>u</a:t>
            </a:r>
            <a:r>
              <a:rPr lang="en-US" sz="2000" b="0">
                <a:solidFill>
                  <a:srgbClr val="1F2933"/>
                </a:solidFill>
                <a:latin typeface="Noto Sans JP"/>
                <a:ea typeface="Noto Sans JP"/>
              </a:rPr>
              <a:t xml:space="preserve"> とおくと</a:t>
            </a:r>
          </a:p>
        </p:txBody>
      </p:sp>
      <p:pic>
        <p:nvPicPr>
          <p:cNvPr id="100613" name="Pic8" descr="数式: b^{\,\ell-d}\ \mid\ D_0,\qquad 0&lt;D_0&lt;r^d(Q_u+1)-Q_u"/>
          <p:cNvPicPr>
            <a:picLocks xmlns:a="http://schemas.openxmlformats.org/drawingml/2006/main" noChangeAspect="1"/>
          </p:cNvPicPr>
          <p:nvPr/>
        </p:nvPicPr>
        <p:blipFill>
          <a:blip xmlns:r="http://schemas.openxmlformats.org/officeDocument/2006/relationships" xmlns:a="http://schemas.openxmlformats.org/drawingml/2006/main" r:embed="Ra62aa0334fb1429e"/>
          <a:stretch xmlns:a="http://schemas.openxmlformats.org/drawingml/2006/main">
            <a:fillRect/>
          </a:stretch>
        </p:blipFill>
        <p:spPr>
          <a:xfrm xmlns:a="http://schemas.openxmlformats.org/drawingml/2006/main">
            <a:off x="529200" y="2308680"/>
            <a:ext cx="4845960" cy="341280"/>
          </a:xfrm>
          <a:prstGeom xmlns:a="http://schemas.openxmlformats.org/drawingml/2006/main" prst="rect">
            <a:avLst/>
          </a:prstGeom>
        </p:spPr>
      </p:pic>
      <p:sp>
        <p:nvSpPr>
          <p:cNvPr id="100614" name="Text9"/>
          <p:cNvSpPr txBox="1"/>
          <p:nvPr/>
        </p:nvSpPr>
        <p:spPr>
          <a:xfrm xmlns:a="http://schemas.openxmlformats.org/drawingml/2006/main">
            <a:off x="457200" y="2783160"/>
            <a:ext cx="52477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b</a:t>
            </a:r>
            <a:r>
              <a:rPr lang="en-US" sz="2000" b="0" baseline="30000">
                <a:solidFill>
                  <a:srgbClr val="1F2933"/>
                </a:solidFill>
                <a:latin typeface="Noto Sans JP"/>
                <a:ea typeface="Noto Sans JP"/>
              </a:rPr>
              <a:t>ℓ−d</a:t>
            </a:r>
            <a:r>
              <a:rPr lang="en-US" sz="2000" b="0">
                <a:solidFill>
                  <a:srgbClr val="1F2933"/>
                </a:solidFill>
                <a:latin typeface="Noto Sans JP"/>
                <a:ea typeface="Noto Sans JP"/>
              </a:rPr>
              <a:t xml:space="preserve"> ≤ D</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なので、長さ ℓ は</a:t>
            </a:r>
          </a:p>
        </p:txBody>
      </p:sp>
      <p:pic>
        <p:nvPicPr>
          <p:cNvPr id="100615" name="Pic10" descr="数式: \ell\ \le\ d+\log_b D_0"/>
          <p:cNvPicPr>
            <a:picLocks xmlns:a="http://schemas.openxmlformats.org/drawingml/2006/main" noChangeAspect="1"/>
          </p:cNvPicPr>
          <p:nvPr/>
        </p:nvPicPr>
        <p:blipFill>
          <a:blip xmlns:r="http://schemas.openxmlformats.org/officeDocument/2006/relationships" xmlns:a="http://schemas.openxmlformats.org/drawingml/2006/main" r:embed="R22dd95c519d5438b"/>
          <a:stretch xmlns:a="http://schemas.openxmlformats.org/drawingml/2006/main">
            <a:fillRect/>
          </a:stretch>
        </p:blipFill>
        <p:spPr>
          <a:xfrm xmlns:a="http://schemas.openxmlformats.org/drawingml/2006/main">
            <a:off x="529200" y="3317760"/>
            <a:ext cx="1896480" cy="288360"/>
          </a:xfrm>
          <a:prstGeom xmlns:a="http://schemas.openxmlformats.org/drawingml/2006/main" prst="rect">
            <a:avLst/>
          </a:prstGeom>
        </p:spPr>
      </p:pic>
      <p:sp>
        <p:nvSpPr>
          <p:cNvPr id="100616" name="Text11"/>
          <p:cNvSpPr txBox="1"/>
          <p:nvPr/>
        </p:nvSpPr>
        <p:spPr>
          <a:xfrm xmlns:a="http://schemas.openxmlformats.org/drawingml/2006/main">
            <a:off x="457200" y="3739320"/>
            <a:ext cx="5247720" cy="18003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で抑えられます。長さは Q</a:t>
            </a:r>
            <a:r>
              <a:rPr lang="en-US" sz="2000" b="0" baseline="-25000">
                <a:solidFill>
                  <a:srgbClr val="1F2933"/>
                </a:solidFill>
                <a:latin typeface="Noto Sans JP"/>
                <a:ea typeface="Noto Sans JP"/>
              </a:rPr>
              <a:t>u</a:t>
            </a:r>
            <a:r>
              <a:rPr lang="en-US" sz="2000" b="0">
                <a:solidFill>
                  <a:srgbClr val="1F2933"/>
                </a:solidFill>
                <a:latin typeface="Noto Sans JP"/>
                <a:ea typeface="Noto Sans JP"/>
              </a:rPr>
              <a:t xml:space="preserve"> の桁数くらいまでしか伸びません。</a:t>
            </a:r>
          </a:p>
          <a:p xmlns:a="http://schemas.openxmlformats.org/drawingml/2006/main">
            <a:pPr algn="l">
              <a:lnSpc>
                <a:spcPct val="112000"/>
              </a:lnSpc>
              <a:spcBef>
                <a:spcPts val="600"/>
              </a:spcBef>
            </a:pPr>
            <a:r>
              <a:rPr lang="en-US" sz="1800" b="0">
                <a:solidFill>
                  <a:srgbClr val="4F5D6E"/>
                </a:solidFill>
                <a:latin typeface="Noto Sans JP"/>
                <a:ea typeface="Noto Sans JP"/>
              </a:rPr>
              <a:t>7/5 では Q</a:t>
            </a:r>
            <a:r>
              <a:rPr lang="en-US" sz="1800" b="0" baseline="-25000">
                <a:solidFill>
                  <a:srgbClr val="4F5D6E"/>
                </a:solidFill>
                <a:latin typeface="Noto Sans JP"/>
                <a:ea typeface="Noto Sans JP"/>
              </a:rPr>
              <a:t>u</a:t>
            </a:r>
            <a:r>
              <a:rPr lang="en-US" sz="1800" b="0">
                <a:solidFill>
                  <a:srgbClr val="4F5D6E"/>
                </a:solidFill>
                <a:latin typeface="Noto Sans JP"/>
                <a:ea typeface="Noto Sans JP"/>
              </a:rPr>
              <a:t xml:space="preserve"> ≥ 3 なら D</a:t>
            </a:r>
            <a:r>
              <a:rPr lang="en-US" sz="1800" b="0" baseline="-25000">
                <a:solidFill>
                  <a:srgbClr val="4F5D6E"/>
                </a:solidFill>
                <a:latin typeface="Noto Sans JP"/>
                <a:ea typeface="Noto Sans JP"/>
              </a:rPr>
              <a:t>0</a:t>
            </a:r>
            <a:r>
              <a:rPr lang="en-US" sz="1800" b="0">
                <a:solidFill>
                  <a:srgbClr val="4F5D6E"/>
                </a:solidFill>
                <a:latin typeface="Noto Sans JP"/>
                <a:ea typeface="Noto Sans JP"/>
              </a:rPr>
              <a:t xml:space="preserve"> &gt; 0 が保証されます（補題26）。</a:t>
            </a:r>
          </a:p>
        </p:txBody>
      </p:sp>
      <p:pic>
        <p:nvPicPr>
          <p:cNvPr id="100617" name="Pic12" descr="図: 説明用の例: 周期 2 の語が Q_u = 1000 から続くとすると、5^{ℓ−2} ≤ 961.96 から長さ ℓ ≤ 6 と分かることを示す図。"/>
          <p:cNvPicPr>
            <a:picLocks xmlns:a="http://schemas.openxmlformats.org/drawingml/2006/main" noChangeAspect="1"/>
          </p:cNvPicPr>
          <p:nvPr/>
        </p:nvPicPr>
        <p:blipFill>
          <a:blip xmlns:r="http://schemas.openxmlformats.org/officeDocument/2006/relationships" xmlns:a="http://schemas.openxmlformats.org/drawingml/2006/main" r:embed="Rc625836b39354f53"/>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618"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5</a:t>
            </a:r>
          </a:p>
        </p:txBody>
      </p:sp>
      <p:sp>
        <p:nvSpPr>
          <p:cNvPr id="100619"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ランク証明書</a:t>
            </a:r>
          </a:p>
        </p:txBody>
      </p:sp>
      <p:sp>
        <p:nvSpPr>
          <p:cNvPr id="100620"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65 / 99</a:t>
            </a:r>
          </a:p>
        </p:txBody>
      </p:sp>
      <p:sp>
        <p:nvSpPr>
          <p:cNvPr id="100621"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22"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23"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ブロック間の辺ではランクが必ず増えるので、ウォークは出たブロックに戻れません。</a:t>
            </a:r>
          </a:p>
        </p:txBody>
      </p:sp>
      <p:sp>
        <p:nvSpPr>
          <p:cNvPr id="100624" name="Text7"/>
          <p:cNvSpPr txBox="1"/>
          <p:nvPr/>
        </p:nvSpPr>
        <p:spPr>
          <a:xfrm xmlns:a="http://schemas.openxmlformats.org/drawingml/2006/main">
            <a:off x="457200" y="1080000"/>
            <a:ext cx="5247720" cy="459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グラフ H の頂点をブロックに分け、各ブロックに番号 ρ（ランク）を付けます。</a:t>
            </a:r>
          </a:p>
          <a:p xmlns:a="http://schemas.openxmlformats.org/drawingml/2006/main">
            <a:pPr marL="223200" indent="-223200" algn="l">
              <a:lnSpc>
                <a:spcPct val="112000"/>
              </a:lnSpc>
              <a:spcBef>
                <a:spcPts val="400"/>
              </a:spcBef>
              <a:buChar char="•"/>
            </a:pPr>
            <a:r>
              <a:rPr lang="en-US" sz="2000" b="0">
                <a:solidFill>
                  <a:srgbClr val="1F2933"/>
                </a:solidFill>
                <a:latin typeface="Noto Sans JP"/>
                <a:ea typeface="Noto Sans JP"/>
              </a:rPr>
              <a:t>ブロック間の辺では、ランクが必ず 1 以上増える。</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辺をもつブロックは、どれも位相判定で周期的と分かっている。</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η: そこまでに通れる周期的ブロックの数の上限。</a:t>
            </a:r>
          </a:p>
          <a:p xmlns:a="http://schemas.openxmlformats.org/drawingml/2006/main">
            <a:pPr algn="l">
              <a:lnSpc>
                <a:spcPct val="112000"/>
              </a:lnSpc>
              <a:spcBef>
                <a:spcPts val="400"/>
              </a:spcBef>
            </a:pPr>
            <a:r>
              <a:rPr lang="en-US" sz="2000" b="0">
                <a:solidFill>
                  <a:srgbClr val="1F2933"/>
                </a:solidFill>
                <a:latin typeface="Noto Sans JP"/>
                <a:ea typeface="Noto Sans JP"/>
              </a:rPr>
              <a:t>m を η の最大値とすると、どのウォークもブロック間の移動は高々 R = ρ</a:t>
            </a:r>
            <a:r>
              <a:rPr lang="en-US" sz="2000" b="0" baseline="-25000">
                <a:solidFill>
                  <a:srgbClr val="1F2933"/>
                </a:solidFill>
                <a:latin typeface="Noto Sans JP"/>
                <a:ea typeface="Noto Sans JP"/>
              </a:rPr>
              <a:t>max</a:t>
            </a:r>
            <a:r>
              <a:rPr lang="en-US" sz="2000" b="0">
                <a:solidFill>
                  <a:srgbClr val="1F2933"/>
                </a:solidFill>
                <a:latin typeface="Noto Sans JP"/>
                <a:ea typeface="Noto Sans JP"/>
              </a:rPr>
              <a:t xml:space="preserve"> − 1 回（R はこの章だけの記号）、周期的ブロックは高々 m 個です。</a:t>
            </a:r>
          </a:p>
        </p:txBody>
      </p:sp>
      <p:pic>
        <p:nvPicPr>
          <p:cNvPr id="100625" name="Pic8" descr="図: 説明用の5ブロックのランク証明書（ρ と η の値）と、比 7/5 の実際の値 ρ_max=65, η_max=6, d_max=13 を別枠で示す図。"/>
          <p:cNvPicPr>
            <a:picLocks xmlns:a="http://schemas.openxmlformats.org/drawingml/2006/main" noChangeAspect="1"/>
          </p:cNvPicPr>
          <p:nvPr/>
        </p:nvPicPr>
        <p:blipFill>
          <a:blip xmlns:r="http://schemas.openxmlformats.org/officeDocument/2006/relationships" xmlns:a="http://schemas.openxmlformats.org/drawingml/2006/main" r:embed="R67dccd33fa084342"/>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626"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5</a:t>
            </a:r>
          </a:p>
        </p:txBody>
      </p:sp>
      <p:sp>
        <p:nvSpPr>
          <p:cNvPr id="100627"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定理27: 待ち時間の上界の仕組み</a:t>
            </a:r>
          </a:p>
        </p:txBody>
      </p:sp>
      <p:sp>
        <p:nvSpPr>
          <p:cNvPr id="100628"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66 / 99</a:t>
            </a:r>
          </a:p>
        </p:txBody>
      </p:sp>
      <p:sp>
        <p:nvSpPr>
          <p:cNvPr id="100629"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30"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31"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周期的ブロックにいられる時間とその個数が限られるので、T に上限が出ます。</a:t>
            </a:r>
          </a:p>
        </p:txBody>
      </p:sp>
      <p:sp>
        <p:nvSpPr>
          <p:cNvPr id="100632"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数列の区間（長さ T）が H の中にずっとあるとすると</a:t>
            </a:r>
          </a:p>
        </p:txBody>
      </p:sp>
      <p:pic>
        <p:nvPicPr>
          <p:cNvPr id="100633" name="Pic8" descr="数式: T\ \le\ R\,\gamma^m+(A+\gamma D)\sum_{j=0}^{m-1}\gamma^j"/>
          <p:cNvPicPr>
            <a:picLocks xmlns:a="http://schemas.openxmlformats.org/drawingml/2006/main" noChangeAspect="1"/>
          </p:cNvPicPr>
          <p:nvPr/>
        </p:nvPicPr>
        <p:blipFill>
          <a:blip xmlns:r="http://schemas.openxmlformats.org/officeDocument/2006/relationships" xmlns:a="http://schemas.openxmlformats.org/drawingml/2006/main" r:embed="R67e596a287294560"/>
          <a:stretch xmlns:a="http://schemas.openxmlformats.org/drawingml/2006/main">
            <a:fillRect/>
          </a:stretch>
        </p:blipFill>
        <p:spPr>
          <a:xfrm xmlns:a="http://schemas.openxmlformats.org/drawingml/2006/main">
            <a:off x="529200" y="1961640"/>
            <a:ext cx="3454560" cy="865080"/>
          </a:xfrm>
          <a:prstGeom xmlns:a="http://schemas.openxmlformats.org/drawingml/2006/main" prst="rect">
            <a:avLst/>
          </a:prstGeom>
        </p:spPr>
      </p:pic>
      <p:sp>
        <p:nvSpPr>
          <p:cNvPr id="100634" name="Text9"/>
          <p:cNvSpPr txBox="1"/>
          <p:nvPr/>
        </p:nvSpPr>
        <p:spPr>
          <a:xfrm xmlns:a="http://schemas.openxmlformats.org/drawingml/2006/main">
            <a:off x="457200" y="2959920"/>
            <a:ext cx="5247720" cy="2710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marL="223200" indent="-223200" algn="l">
              <a:lnSpc>
                <a:spcPct val="112000"/>
              </a:lnSpc>
              <a:buChar char="•"/>
            </a:pPr>
            <a:r>
              <a:rPr lang="en-US" sz="2000" b="0">
                <a:solidFill>
                  <a:srgbClr val="1F2933"/>
                </a:solidFill>
                <a:latin typeface="Noto Sans JP"/>
                <a:ea typeface="Noto Sans JP"/>
              </a:rPr>
              <a:t>周期的ブロックに時刻 u で入ると、γu + A + γD より前に出る（補題25）。</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辺なしのブロックは 1 ステップで通過。</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周期的ブロックは高々 m 個。</a:t>
            </a:r>
          </a:p>
          <a:p xmlns:a="http://schemas.openxmlformats.org/drawingml/2006/main">
            <a:pPr algn="l">
              <a:lnSpc>
                <a:spcPct val="112000"/>
              </a:lnSpc>
              <a:spcBef>
                <a:spcPts val="600"/>
              </a:spcBef>
            </a:pPr>
            <a:r>
              <a:rPr lang="en-US" sz="1800" b="0">
                <a:solidFill>
                  <a:srgbClr val="4F5D6E"/>
                </a:solidFill>
                <a:latin typeface="Noto Sans JP"/>
                <a:ea typeface="Noto Sans JP"/>
              </a:rPr>
              <a:t>γ ≥ 1 + log</a:t>
            </a:r>
            <a:r>
              <a:rPr lang="en-US" sz="1800" b="0" baseline="-25000">
                <a:solidFill>
                  <a:srgbClr val="4F5D6E"/>
                </a:solidFill>
                <a:latin typeface="Noto Sans JP"/>
                <a:ea typeface="Noto Sans JP"/>
              </a:rPr>
              <a:t>b</a:t>
            </a:r>
            <a:r>
              <a:rPr lang="en-US" sz="1800" b="0">
                <a:solidFill>
                  <a:srgbClr val="4F5D6E"/>
                </a:solidFill>
                <a:latin typeface="Noto Sans JP"/>
                <a:ea typeface="Noto Sans JP"/>
              </a:rPr>
              <a:t xml:space="preserve"> r、A ≥ log</a:t>
            </a:r>
            <a:r>
              <a:rPr lang="en-US" sz="1800" b="0" baseline="-25000">
                <a:solidFill>
                  <a:srgbClr val="4F5D6E"/>
                </a:solidFill>
                <a:latin typeface="Noto Sans JP"/>
                <a:ea typeface="Noto Sans JP"/>
              </a:rPr>
              <a:t>b</a:t>
            </a:r>
            <a:r>
              <a:rPr lang="en-US" sz="1800" b="0">
                <a:solidFill>
                  <a:srgbClr val="4F5D6E"/>
                </a:solidFill>
                <a:latin typeface="Noto Sans JP"/>
                <a:ea typeface="Noto Sans JP"/>
              </a:rPr>
              <a:t>(P+2)、D は d の上限、P = Q</a:t>
            </a:r>
            <a:r>
              <a:rPr lang="en-US" sz="1800" b="0" baseline="-25000">
                <a:solidFill>
                  <a:srgbClr val="4F5D6E"/>
                </a:solidFill>
                <a:latin typeface="Noto Sans JP"/>
                <a:ea typeface="Noto Sans JP"/>
              </a:rPr>
              <a:t>0</a:t>
            </a:r>
            <a:r>
              <a:rPr lang="en-US" sz="1800" b="0">
                <a:solidFill>
                  <a:srgbClr val="4F5D6E"/>
                </a:solidFill>
                <a:latin typeface="Noto Sans JP"/>
                <a:ea typeface="Noto Sans JP"/>
              </a:rPr>
              <a:t xml:space="preserve"> ≥ b/(a−b)（7/5 では P ≥ 3）。</a:t>
            </a:r>
          </a:p>
        </p:txBody>
      </p:sp>
      <p:pic>
        <p:nvPicPr>
          <p:cNvPr id="100635" name="Pic10" descr="図: 説明用の時間の帯で、周期的ブロックに入った時刻 u から出る時刻が γu + A + γD より前になることを示す図。"/>
          <p:cNvPicPr>
            <a:picLocks xmlns:a="http://schemas.openxmlformats.org/drawingml/2006/main" noChangeAspect="1"/>
          </p:cNvPicPr>
          <p:nvPr/>
        </p:nvPicPr>
        <p:blipFill>
          <a:blip xmlns:r="http://schemas.openxmlformats.org/officeDocument/2006/relationships" xmlns:a="http://schemas.openxmlformats.org/drawingml/2006/main" r:embed="R91aa846c50f0419e"/>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636"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5</a:t>
            </a:r>
          </a:p>
        </p:txBody>
      </p:sp>
      <p:sp>
        <p:nvSpPr>
          <p:cNvPr id="100637"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比 7/5 の証明書（表7）</a:t>
            </a:r>
          </a:p>
        </p:txBody>
      </p:sp>
      <p:sp>
        <p:nvSpPr>
          <p:cNvPr id="100638"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67 / 99</a:t>
            </a:r>
          </a:p>
        </p:txBody>
      </p:sp>
      <p:sp>
        <p:nvSpPr>
          <p:cNvPr id="100639"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40"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41"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比 7/5 のランク証明書（49 万頂点）から、上限 428 + 12·L(P) が分数の計算で出ます。</a:t>
            </a:r>
          </a:p>
        </p:txBody>
      </p:sp>
      <p:graphicFrame>
        <p:nvGraphicFramePr>
          <p:cNvPr id="100642" name="Table7"/>
          <p:cNvGraphicFramePr/>
          <p:nvPr/>
        </p:nvGraphicFramePr>
        <p:xfrm>
          <a:off xmlns:a="http://schemas.openxmlformats.org/drawingml/2006/main" x="457200" y="1098000"/>
          <a:ext xmlns:a="http://schemas.openxmlformats.org/drawingml/2006/main" cx="5040000" cy="3240000"/>
        </p:xfrm>
        <a:graphic xmlns:a="http://schemas.openxmlformats.org/drawingml/2006/main">
          <a:graphicData uri="http://schemas.openxmlformats.org/drawingml/2006/table">
            <a:tbl>
              <a:tblPr firstRow="1" bandRow="1"/>
              <a:tblGrid>
                <a:gridCol w="3240000"/>
                <a:gridCol w="1800000"/>
              </a:tblGrid>
              <a:tr h="360000">
                <a:tc>
                  <a:txBody>
                    <a:bodyPr/>
                    <a:lstStyle/>
                    <a:p>
                      <a:pPr algn="ctr"/>
                      <a:r>
                        <a:rPr lang="en-US" sz="1600" b="1">
                          <a:solidFill>
                            <a:srgbClr val="FFFFFF"/>
                          </a:solidFill>
                          <a:latin typeface="Noto Sans JP"/>
                          <a:ea typeface="Noto Sans JP"/>
                        </a:rPr>
                        <a:t>量</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c>
                  <a:txBody>
                    <a:bodyPr/>
                    <a:lstStyle/>
                    <a:p>
                      <a:pPr algn="ctr"/>
                      <a:r>
                        <a:rPr lang="en-US" sz="1600" b="1">
                          <a:solidFill>
                            <a:srgbClr val="FFFFFF"/>
                          </a:solidFill>
                          <a:latin typeface="Noto Sans JP"/>
                          <a:ea typeface="Noto Sans JP"/>
                        </a:rPr>
                        <a:t>値</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1B2A41"/>
                    </a:solidFill>
                  </a:tcPr>
                </a:tc>
              </a:tr>
              <a:tr h="360000">
                <a:tc>
                  <a:txBody>
                    <a:bodyPr/>
                    <a:lstStyle/>
                    <a:p>
                      <a:pPr algn="l"/>
                      <a:r>
                        <a:rPr lang="en-US" sz="1600" b="0">
                          <a:solidFill>
                            <a:srgbClr val="1F2933"/>
                          </a:solidFill>
                          <a:latin typeface="Noto Sans JP"/>
                          <a:ea typeface="Noto Sans JP"/>
                        </a:rPr>
                        <a:t>頂点（互いに素な状態）</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491520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l"/>
                      <a:r>
                        <a:rPr lang="en-US" sz="1600" b="0">
                          <a:solidFill>
                            <a:srgbClr val="1F2933"/>
                          </a:solidFill>
                          <a:latin typeface="Noto Sans JP"/>
                          <a:ea typeface="Noto Sans JP"/>
                        </a:rPr>
                        <a:t>ラベル付きの辺</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891990</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l"/>
                      <a:r>
                        <a:rPr lang="en-US" sz="1600" b="0">
                          <a:solidFill>
                            <a:srgbClr val="1F2933"/>
                          </a:solidFill>
                          <a:latin typeface="Noto Sans JP"/>
                          <a:ea typeface="Noto Sans JP"/>
                        </a:rPr>
                        <a:t>ブロック（SCC）</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491275</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l"/>
                      <a:r>
                        <a:rPr lang="en-US" sz="1600" b="0">
                          <a:solidFill>
                            <a:srgbClr val="1F2933"/>
                          </a:solidFill>
                          <a:latin typeface="Noto Sans JP"/>
                          <a:ea typeface="Noto Sans JP"/>
                        </a:rPr>
                        <a:t>巡回的ブロック</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35</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l"/>
                      <a:r>
                        <a:rPr lang="en-US" sz="1600" b="0">
                          <a:solidFill>
                            <a:srgbClr val="1F2933"/>
                          </a:solidFill>
                          <a:latin typeface="Noto Sans JP"/>
                          <a:ea typeface="Noto Sans JP"/>
                        </a:rPr>
                        <a:t>そのうち認証</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35</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l"/>
                      <a:r>
                        <a:rPr lang="en-US" sz="1600" b="0">
                          <a:solidFill>
                            <a:srgbClr val="1F2933"/>
                          </a:solidFill>
                          <a:latin typeface="Noto Sans JP"/>
                          <a:ea typeface="Noto Sans JP"/>
                        </a:rPr>
                        <a:t>ρ の最大</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65</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l"/>
                      <a:r>
                        <a:rPr lang="en-US" sz="1600" b="0">
                          <a:solidFill>
                            <a:srgbClr val="1F2933"/>
                          </a:solidFill>
                          <a:latin typeface="Noto Sans JP"/>
                          <a:ea typeface="Noto Sans JP"/>
                        </a:rPr>
                        <a:t>η の最大</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6</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r h="360000">
                <a:tc>
                  <a:txBody>
                    <a:bodyPr/>
                    <a:lstStyle/>
                    <a:p>
                      <a:pPr algn="l"/>
                      <a:r>
                        <a:rPr lang="en-US" sz="1600" b="0">
                          <a:solidFill>
                            <a:srgbClr val="1F2933"/>
                          </a:solidFill>
                          <a:latin typeface="Noto Sans JP"/>
                          <a:ea typeface="Noto Sans JP"/>
                        </a:rPr>
                        <a:t>d の最大</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c>
                  <a:txBody>
                    <a:bodyPr/>
                    <a:lstStyle/>
                    <a:p>
                      <a:pPr algn="r"/>
                      <a:r>
                        <a:rPr lang="en-US" sz="1600" b="0">
                          <a:solidFill>
                            <a:srgbClr val="1F2933"/>
                          </a:solidFill>
                          <a:latin typeface="Noto Sans JP"/>
                          <a:ea typeface="Noto Sans JP"/>
                        </a:rPr>
                        <a:t>13</a:t>
                      </a:r>
                      <a:endParaRPr lang="en-US"/>
                    </a:p>
                  </a:txBody>
                  <a:tcPr anchor="ctr">
                    <a:lnL w="9525">
                      <a:solidFill>
                        <a:srgbClr val="B8C2CC"/>
                      </a:solidFill>
                      <a:prstDash val="solid"/>
                    </a:lnL>
                    <a:lnR w="9525">
                      <a:solidFill>
                        <a:srgbClr val="B8C2CC"/>
                      </a:solidFill>
                      <a:prstDash val="solid"/>
                    </a:lnR>
                    <a:lnT w="9525">
                      <a:solidFill>
                        <a:srgbClr val="B8C2CC"/>
                      </a:solidFill>
                      <a:prstDash val="solid"/>
                    </a:lnT>
                    <a:lnB w="9525">
                      <a:solidFill>
                        <a:srgbClr val="B8C2CC"/>
                      </a:solidFill>
                      <a:prstDash val="solid"/>
                    </a:lnB>
                    <a:solidFill>
                      <a:srgbClr val="FFFFFF"/>
                    </a:solidFill>
                  </a:tcPr>
                </a:tc>
              </a:tr>
            </a:tbl>
          </a:graphicData>
        </a:graphic>
      </p:graphicFrame>
      <p:sp>
        <p:nvSpPr>
          <p:cNvPr id="100643" name="Text8"/>
          <p:cNvSpPr txBox="1"/>
          <p:nvPr/>
        </p:nvSpPr>
        <p:spPr>
          <a:xfrm xmlns:a="http://schemas.openxmlformats.org/drawingml/2006/main">
            <a:off x="5857200" y="1098000"/>
            <a:ext cx="5877720" cy="35510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H: M = 429 = 3·11·13、K = 2048、ラベルは {−4, −2, 2, 4, 6} だけ（2 と 5 はアルファベットで表す）。</a:t>
            </a:r>
          </a:p>
          <a:p xmlns:a="http://schemas.openxmlformats.org/drawingml/2006/main">
            <a:pPr algn="l">
              <a:lnSpc>
                <a:spcPct val="112000"/>
              </a:lnSpc>
              <a:spcBef>
                <a:spcPts val="400"/>
              </a:spcBef>
            </a:pPr>
            <a:r>
              <a:rPr lang="en-US" sz="2000" b="0">
                <a:solidFill>
                  <a:srgbClr val="1F2933"/>
                </a:solidFill>
                <a:latin typeface="Noto Sans JP"/>
                <a:ea typeface="Noto Sans JP"/>
              </a:rPr>
              <a:t>巡回的ブロックは全部認証されたので、定理27が使えます。</a:t>
            </a:r>
          </a:p>
          <a:p xmlns:a="http://schemas.openxmlformats.org/drawingml/2006/main">
            <a:pPr algn="l">
              <a:lnSpc>
                <a:spcPct val="112000"/>
              </a:lnSpc>
              <a:spcBef>
                <a:spcPts val="400"/>
              </a:spcBef>
            </a:pPr>
            <a:r>
              <a:rPr lang="en-US" sz="2000" b="0">
                <a:solidFill>
                  <a:srgbClr val="1F2933"/>
                </a:solidFill>
                <a:latin typeface="Noto Sans JP"/>
                <a:ea typeface="Noto Sans JP"/>
              </a:rPr>
              <a:t>R = 65 − 1 = 64、m = η の最大 6、D = d の最大 13、A = L(P)、γ = 5/4（7</a:t>
            </a:r>
            <a:r>
              <a:rPr lang="en-US" sz="2000" b="0" baseline="30000">
                <a:solidFill>
                  <a:srgbClr val="1F2933"/>
                </a:solidFill>
                <a:latin typeface="Noto Sans JP"/>
                <a:ea typeface="Noto Sans JP"/>
              </a:rPr>
              <a:t>4</a:t>
            </a:r>
            <a:r>
              <a:rPr lang="en-US" sz="2000" b="0">
                <a:solidFill>
                  <a:srgbClr val="1F2933"/>
                </a:solidFill>
                <a:latin typeface="Noto Sans JP"/>
                <a:ea typeface="Noto Sans JP"/>
              </a:rPr>
              <a:t xml:space="preserve"> &lt; 5</a:t>
            </a:r>
            <a:r>
              <a:rPr lang="en-US" sz="2000" b="0" baseline="30000">
                <a:solidFill>
                  <a:srgbClr val="1F2933"/>
                </a:solidFill>
                <a:latin typeface="Noto Sans JP"/>
                <a:ea typeface="Noto Sans JP"/>
              </a:rPr>
              <a:t>5</a:t>
            </a:r>
            <a:r>
              <a:rPr lang="en-US" sz="2000" b="0">
                <a:solidFill>
                  <a:srgbClr val="1F2933"/>
                </a:solidFill>
                <a:latin typeface="Noto Sans JP"/>
                <a:ea typeface="Noto Sans JP"/>
              </a:rPr>
              <a:t xml:space="preserve"> より log</a:t>
            </a:r>
            <a:r>
              <a:rPr lang="en-US" sz="2000" b="0" baseline="-25000">
                <a:solidFill>
                  <a:srgbClr val="1F2933"/>
                </a:solidFill>
                <a:latin typeface="Noto Sans JP"/>
                <a:ea typeface="Noto Sans JP"/>
              </a:rPr>
              <a:t>5</a:t>
            </a:r>
            <a:r>
              <a:rPr lang="en-US" sz="2000" b="0">
                <a:solidFill>
                  <a:srgbClr val="1F2933"/>
                </a:solidFill>
                <a:latin typeface="Noto Sans JP"/>
                <a:ea typeface="Noto Sans JP"/>
              </a:rPr>
              <a:t>(7/5) &lt; 1/4）を代入すると</a:t>
            </a:r>
          </a:p>
        </p:txBody>
      </p:sp>
      <p:pic>
        <p:nvPicPr>
          <p:cNvPr id="100644" name="Pic9" descr="数式: T\ \le\ \tfrac{1749385}{4096}+\tfrac{11529}{1024}\,L(P)\ &lt;\ 428+12\,L(P)"/>
          <p:cNvPicPr>
            <a:picLocks xmlns:a="http://schemas.openxmlformats.org/drawingml/2006/main" noChangeAspect="1"/>
          </p:cNvPicPr>
          <p:nvPr/>
        </p:nvPicPr>
        <p:blipFill>
          <a:blip xmlns:r="http://schemas.openxmlformats.org/officeDocument/2006/relationships" xmlns:a="http://schemas.openxmlformats.org/drawingml/2006/main" r:embed="R7638a7c777814aec"/>
          <a:stretch xmlns:a="http://schemas.openxmlformats.org/drawingml/2006/main">
            <a:fillRect/>
          </a:stretch>
        </p:blipFill>
        <p:spPr>
          <a:xfrm xmlns:a="http://schemas.openxmlformats.org/drawingml/2006/main">
            <a:off x="5929200" y="4164480"/>
            <a:ext cx="5046480" cy="353520"/>
          </a:xfrm>
          <a:prstGeom xmlns:a="http://schemas.openxmlformats.org/drawingml/2006/main" prst="rect">
            <a:avLst/>
          </a:prstGeom>
        </p:spPr>
      </p:pic>
    </p:spTree>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645"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5</a:t>
            </a:r>
          </a:p>
        </p:txBody>
      </p:sp>
      <p:sp>
        <p:nvSpPr>
          <p:cNvPr id="100646"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定理3の証明と使い方</a:t>
            </a:r>
          </a:p>
        </p:txBody>
      </p:sp>
      <p:sp>
        <p:nvSpPr>
          <p:cNvPr id="100647"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68 / 99</a:t>
            </a:r>
          </a:p>
        </p:txBody>
      </p:sp>
      <p:sp>
        <p:nvSpPr>
          <p:cNvPr id="100648"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49"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50"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P &gt; 13 がどれほど大きくても、割り切れる項は 428 + 12·L(P) 番目までに現れます。</a:t>
            </a:r>
          </a:p>
        </p:txBody>
      </p:sp>
      <p:sp>
        <p:nvSpPr>
          <p:cNvPr id="100651" name="Text7"/>
          <p:cNvSpPr txBox="1"/>
          <p:nvPr/>
        </p:nvSpPr>
        <p:spPr>
          <a:xfrm xmlns:a="http://schemas.openxmlformats.org/drawingml/2006/main">
            <a:off x="457200" y="1080000"/>
            <a:ext cx="5247720" cy="459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P = </a:t>
            </a:r>
            <a:r>
              <a:rPr lang="en-US" sz="2000" b="0">
                <a:solidFill>
                  <a:srgbClr val="1F2933"/>
                </a:solidFill>
                <a:latin typeface="Noto Sans Math"/>
                <a:ea typeface="Noto Sans Math"/>
              </a:rPr>
              <a:t>⌊</a:t>
            </a:r>
            <a:r>
              <a:rPr lang="en-US" sz="2000" b="0">
                <a:solidFill>
                  <a:srgbClr val="1F2933"/>
                </a:solidFill>
                <a:latin typeface="Noto Sans JP"/>
                <a:ea typeface="Noto Sans JP"/>
              </a:rPr>
              <a:t>ξ</a:t>
            </a:r>
            <a:r>
              <a:rPr lang="en-US" sz="2000" b="0">
                <a:solidFill>
                  <a:srgbClr val="1F2933"/>
                </a:solidFill>
                <a:latin typeface="Noto Sans Math"/>
                <a:ea typeface="Noto Sans Math"/>
              </a:rPr>
              <a:t>⌋</a:t>
            </a:r>
            <a:r>
              <a:rPr lang="en-US" sz="2000" b="0">
                <a:solidFill>
                  <a:srgbClr val="1F2933"/>
                </a:solidFill>
                <a:latin typeface="Noto Sans JP"/>
                <a:ea typeface="Noto Sans JP"/>
              </a:rPr>
              <a:t xml:space="preserve"> &gt; 13、T</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 428 + 12L(P) とします。</a:t>
            </a:r>
          </a:p>
          <a:p xmlns:a="http://schemas.openxmlformats.org/drawingml/2006/main">
            <a:pPr marL="288000" indent="-288000" algn="l">
              <a:lnSpc>
                <a:spcPct val="112000"/>
              </a:lnSpc>
              <a:spcBef>
                <a:spcPts val="400"/>
              </a:spcBef>
              <a:buNone/>
            </a:pPr>
            <a:r>
              <a:rPr lang="en-US" sz="2000" b="0">
                <a:solidFill>
                  <a:srgbClr val="1F2933"/>
                </a:solidFill>
                <a:latin typeface="Noto Sans JP"/>
                <a:ea typeface="Noto Sans JP"/>
              </a:rPr>
              <a:t>1. n = 0〜T</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の項がすべて 4290 と互いに素だと仮定する。</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2. その区間はグラフ H のウォーク（補題28）。</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3. 定理27の上限で T</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&lt; T</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となり矛盾。</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4. その項は 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 Q</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 P &gt; 13 なので、割った素数より大きく合成数。</a:t>
            </a:r>
          </a:p>
          <a:p xmlns:a="http://schemas.openxmlformats.org/drawingml/2006/main">
            <a:pPr algn="l">
              <a:lnSpc>
                <a:spcPct val="112000"/>
              </a:lnSpc>
              <a:spcBef>
                <a:spcPts val="400"/>
              </a:spcBef>
            </a:pPr>
            <a:r>
              <a:rPr lang="en-US" sz="2000" b="0">
                <a:solidFill>
                  <a:srgbClr val="1F2933"/>
                </a:solidFill>
                <a:latin typeface="Noto Sans JP"/>
                <a:ea typeface="Noto Sans JP"/>
              </a:rPr>
              <a:t>ξ の代わりに ξ(7/5)</a:t>
            </a:r>
            <a:r>
              <a:rPr lang="en-US" sz="2000" b="0" baseline="30000">
                <a:solidFill>
                  <a:srgbClr val="1F2933"/>
                </a:solidFill>
                <a:latin typeface="Noto Sans JP"/>
                <a:ea typeface="Noto Sans JP"/>
              </a:rPr>
              <a:t>N</a:t>
            </a:r>
            <a:r>
              <a:rPr lang="en-US" sz="2000" b="0">
                <a:solidFill>
                  <a:srgbClr val="1F2933"/>
                </a:solidFill>
                <a:latin typeface="Noto Sans JP"/>
                <a:ea typeface="Noto Sans JP"/>
              </a:rPr>
              <a:t xml:space="preserve"> を使えば、どの番号 N から数えても同じ評価が使えます。</a:t>
            </a:r>
          </a:p>
        </p:txBody>
      </p:sp>
      <p:pic>
        <p:nvPicPr>
          <p:cNvPr id="100652" name="Pic8" descr="図: P（対数目盛り）に対する上限 428 + 12L(P) の階段グラフ。P=14, 100, 1000, 10^6 の値に印。"/>
          <p:cNvPicPr>
            <a:picLocks xmlns:a="http://schemas.openxmlformats.org/drawingml/2006/main" noChangeAspect="1"/>
          </p:cNvPicPr>
          <p:nvPr/>
        </p:nvPicPr>
        <p:blipFill>
          <a:blip xmlns:r="http://schemas.openxmlformats.org/officeDocument/2006/relationships" xmlns:a="http://schemas.openxmlformats.org/drawingml/2006/main" r:embed="R2a4a72675f0e4353"/>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69.xml><?xml version="1.0" encoding="utf-8"?>
<p:sld xmlns:p="http://schemas.openxmlformats.org/presentationml/2006/main">
  <p:cSld>
    <p:bg>
      <p:bgPr>
        <a:solidFill xmlns:a="http://schemas.openxmlformats.org/drawingml/2006/main">
          <a:srgbClr val="1B2A41"/>
        </a:solidFill>
      </p:bgPr>
    </p:bg>
    <p:spTree>
      <p:nvGrpSpPr>
        <p:cNvPr id="1" name=""/>
        <p:cNvGrpSpPr/>
        <p:nvPr/>
      </p:nvGrpSpPr>
      <p:grpSpPr/>
      <p:sp>
        <p:nvSpPr>
          <p:cNvPr id="100653" name="SecNum1"/>
          <p:cNvSpPr txBox="1"/>
          <p:nvPr/>
        </p:nvSpPr>
        <p:spPr>
          <a:xfrm xmlns:a="http://schemas.openxmlformats.org/drawingml/2006/main">
            <a:off x="792000" y="1080000"/>
            <a:ext cx="2160000" cy="1944000"/>
          </a:xfrm>
          <a:prstGeom xmlns:a="http://schemas.openxmlformats.org/drawingml/2006/main" prst="rect">
            <a:avLst/>
          </a:prstGeom>
          <a:noFill xmlns:a="http://schemas.openxmlformats.org/drawingml/2006/main"/>
        </p:spPr>
        <p:txBody>
          <a:bodyPr xmlns:a="http://schemas.openxmlformats.org/drawingml/2006/main" lIns="0" tIns="0" rIns="0" bIns="0" anchor="b">
            <a:noAutofit/>
          </a:bodyPr>
          <a:lstStyle xmlns:a="http://schemas.openxmlformats.org/drawingml/2006/main"/>
          <a:p xmlns:a="http://schemas.openxmlformats.org/drawingml/2006/main">
            <a:pPr algn="l">
              <a:lnSpc>
                <a:spcPct val="112000"/>
              </a:lnSpc>
            </a:pPr>
            <a:r>
              <a:rPr lang="en-US" sz="11000" b="1">
                <a:solidFill>
                  <a:srgbClr val="D97B1F"/>
                </a:solidFill>
                <a:latin typeface="Noto Sans JP"/>
                <a:ea typeface="Noto Sans JP"/>
              </a:rPr>
              <a:t>6</a:t>
            </a:r>
          </a:p>
        </p:txBody>
      </p:sp>
      <p:sp>
        <p:nvSpPr>
          <p:cNvPr id="100654" name="SecTitle2"/>
          <p:cNvSpPr txBox="1"/>
          <p:nvPr/>
        </p:nvSpPr>
        <p:spPr>
          <a:xfrm xmlns:a="http://schemas.openxmlformats.org/drawingml/2006/main">
            <a:off x="792000" y="3096000"/>
            <a:ext cx="10608120" cy="79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4000" b="1">
                <a:solidFill>
                  <a:srgbClr val="FFFFFF"/>
                </a:solidFill>
                <a:latin typeface="Noto Sans JP"/>
                <a:ea typeface="Noto Sans JP"/>
              </a:rPr>
              <a:t>方法の届く範囲と限界</a:t>
            </a:r>
          </a:p>
        </p:txBody>
      </p:sp>
      <p:sp>
        <p:nvSpPr>
          <p:cNvPr id="100655" name="Text3"/>
          <p:cNvSpPr txBox="1"/>
          <p:nvPr/>
        </p:nvSpPr>
        <p:spPr>
          <a:xfrm xmlns:a="http://schemas.openxmlformats.org/drawingml/2006/main">
            <a:off x="792000" y="3996000"/>
            <a:ext cx="100321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FFFFFF"/>
                </a:solidFill>
                <a:latin typeface="Noto Sans JP"/>
                <a:ea typeface="Noto Sans JP"/>
              </a:rPr>
              <a:t>この証明書の方法で、どの比なら成功しうるか。どんなときに決して成功しないか</a:t>
            </a:r>
          </a:p>
        </p:txBody>
      </p:sp>
      <p:sp>
        <p:nvSpPr>
          <p:cNvPr id="100656" name="PageNo4"/>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9FB0C3"/>
                </a:solidFill>
                <a:latin typeface="Noto Sans JP"/>
                <a:ea typeface="Noto Sans JP"/>
              </a:rPr>
              <a:t>69 / 99</a:t>
            </a:r>
          </a:p>
        </p:txBody>
      </p:sp>
    </p:spTree>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657"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6</a:t>
            </a:r>
          </a:p>
        </p:txBody>
      </p:sp>
      <p:sp>
        <p:nvSpPr>
          <p:cNvPr id="100658"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手続きを6つの操作で決める</a:t>
            </a:r>
          </a:p>
        </p:txBody>
      </p:sp>
      <p:sp>
        <p:nvSpPr>
          <p:cNvPr id="100659"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70 / 99</a:t>
            </a:r>
          </a:p>
        </p:txBody>
      </p:sp>
      <p:sp>
        <p:nvSpPr>
          <p:cNvPr id="100660"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61"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62"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「成功しない」ことを証明するために、まず方法を6種類の操作の組合せとして正確に決めます。</a:t>
            </a:r>
          </a:p>
        </p:txBody>
      </p:sp>
      <p:sp>
        <p:nvSpPr>
          <p:cNvPr id="100663" name="Text7"/>
          <p:cNvSpPr txBox="1"/>
          <p:nvPr/>
        </p:nvSpPr>
        <p:spPr>
          <a:xfrm xmlns:a="http://schemas.openxmlformats.org/drawingml/2006/main">
            <a:off x="457200" y="1080000"/>
            <a:ext cx="5247720" cy="459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使ってよい操作を次の6つに決めた手続きを「標準手続き」とよびます。</a:t>
            </a:r>
          </a:p>
          <a:p xmlns:a="http://schemas.openxmlformats.org/drawingml/2006/main">
            <a:pPr marL="288000" indent="-288000" algn="l">
              <a:lnSpc>
                <a:spcPct val="112000"/>
              </a:lnSpc>
              <a:spcBef>
                <a:spcPts val="400"/>
              </a:spcBef>
              <a:buNone/>
            </a:pPr>
            <a:r>
              <a:rPr lang="en-US" sz="2000" b="0">
                <a:solidFill>
                  <a:srgbClr val="1F2933"/>
                </a:solidFill>
                <a:latin typeface="Noto Sans JP"/>
                <a:ea typeface="Noto Sans JP"/>
              </a:rPr>
              <a:t>1. (I) 初期グラフ（全状態、またはセルと文字）</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2. (P) 位相による除去</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3. (C) 縮約</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4. (R) セルの細分</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5. (L) 法の拡大（素数での持ち上げ）</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6. (A) 繰り上がりの制限</a:t>
            </a:r>
          </a:p>
          <a:p xmlns:a="http://schemas.openxmlformats.org/drawingml/2006/main">
            <a:pPr algn="l">
              <a:lnSpc>
                <a:spcPct val="112000"/>
              </a:lnSpc>
              <a:spcBef>
                <a:spcPts val="400"/>
              </a:spcBef>
            </a:pPr>
            <a:r>
              <a:rPr lang="en-US" sz="2000" b="0">
                <a:solidFill>
                  <a:srgbClr val="1F2933"/>
                </a:solidFill>
                <a:latin typeface="Noto Sans JP"/>
                <a:ea typeface="Noto Sans JP"/>
              </a:rPr>
              <a:t>最後が空なら「成功」。第4章の R・P はここでの (P)・(C)。</a:t>
            </a:r>
          </a:p>
        </p:txBody>
      </p:sp>
      <p:pic>
        <p:nvPicPr>
          <p:cNvPr id="100664" name="Pic8" descr="図: 標準手続きの6つの操作 (I)(P)(C)(R)(L)(A) のカードと、第3章・第4章の計算で使った組合せ。"/>
          <p:cNvPicPr>
            <a:picLocks xmlns:a="http://schemas.openxmlformats.org/drawingml/2006/main" noChangeAspect="1"/>
          </p:cNvPicPr>
          <p:nvPr/>
        </p:nvPicPr>
        <p:blipFill>
          <a:blip xmlns:r="http://schemas.openxmlformats.org/officeDocument/2006/relationships" xmlns:a="http://schemas.openxmlformats.org/drawingml/2006/main" r:embed="R592f6175e3d54f10"/>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665"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6</a:t>
            </a:r>
          </a:p>
        </p:txBody>
      </p:sp>
      <p:sp>
        <p:nvSpPr>
          <p:cNvPr id="100666"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擬軌道</a:t>
            </a:r>
          </a:p>
        </p:txBody>
      </p:sp>
      <p:sp>
        <p:nvSpPr>
          <p:cNvPr id="100667"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71 / 99</a:t>
            </a:r>
          </a:p>
        </p:txBody>
      </p:sp>
      <p:sp>
        <p:nvSpPr>
          <p:cNvPr id="100668"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69"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70"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擬軌道は局所的な条件だけを満たす列（真の軌道とは限らない）で、方法の限界を示します。</a:t>
            </a:r>
          </a:p>
        </p:txBody>
      </p:sp>
      <p:sp>
        <p:nvSpPr>
          <p:cNvPr id="100671" name="Term7"/>
          <p:cNvSpPr txBox="1"/>
          <p:nvPr/>
        </p:nvSpPr>
        <p:spPr>
          <a:xfrm xmlns:a="http://schemas.openxmlformats.org/drawingml/2006/main">
            <a:off x="457200" y="1080000"/>
            <a:ext cx="5247720" cy="192240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擬軌道</a:t>
            </a:r>
          </a:p>
          <a:p xmlns:a="http://schemas.openxmlformats.org/drawingml/2006/main">
            <a:pPr algn="l">
              <a:lnSpc>
                <a:spcPct val="112000"/>
              </a:lnSpc>
              <a:spcBef>
                <a:spcPts val="200"/>
              </a:spcBef>
            </a:pPr>
            <a:r>
              <a:rPr lang="en-US" sz="1800" b="0">
                <a:solidFill>
                  <a:srgbClr val="1F2933"/>
                </a:solidFill>
                <a:latin typeface="Noto Sans JP"/>
                <a:ea typeface="Noto Sans JP"/>
              </a:rPr>
              <a:t>M と互いに素なあまり q</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、0 ≤ θ</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&lt; 1、整数 c</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の列で、a·θ</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 b·θ</a:t>
            </a:r>
            <a:r>
              <a:rPr lang="en-US" sz="1800" b="0" baseline="-25000">
                <a:solidFill>
                  <a:srgbClr val="1F2933"/>
                </a:solidFill>
                <a:latin typeface="Noto Sans JP"/>
                <a:ea typeface="Noto Sans JP"/>
              </a:rPr>
              <a:t>n+1</a:t>
            </a:r>
            <a:r>
              <a:rPr lang="en-US" sz="1800" b="0">
                <a:solidFill>
                  <a:srgbClr val="1F2933"/>
                </a:solidFill>
                <a:latin typeface="Noto Sans JP"/>
                <a:ea typeface="Noto Sans JP"/>
              </a:rPr>
              <a:t xml:space="preserve"> = c</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（正確に）と b·q</a:t>
            </a:r>
            <a:r>
              <a:rPr lang="en-US" sz="1800" b="0" baseline="-25000">
                <a:solidFill>
                  <a:srgbClr val="1F2933"/>
                </a:solidFill>
                <a:latin typeface="Noto Sans JP"/>
                <a:ea typeface="Noto Sans JP"/>
              </a:rPr>
              <a:t>n+1</a:t>
            </a:r>
            <a:r>
              <a:rPr lang="en-US" sz="1800" b="0">
                <a:solidFill>
                  <a:srgbClr val="1F2933"/>
                </a:solidFill>
                <a:latin typeface="Noto Sans JP"/>
                <a:ea typeface="Noto Sans JP"/>
              </a:rPr>
              <a:t xml:space="preserve"> ≡ a·q</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 c</a:t>
            </a:r>
            <a:r>
              <a:rPr lang="en-US" sz="1800" b="0" baseline="-25000">
                <a:solidFill>
                  <a:srgbClr val="1F2933"/>
                </a:solidFill>
                <a:latin typeface="Noto Sans JP"/>
                <a:ea typeface="Noto Sans JP"/>
              </a:rPr>
              <a:t>n</a:t>
            </a:r>
            <a:r>
              <a:rPr lang="en-US" sz="1800" b="0">
                <a:solidFill>
                  <a:srgbClr val="1F2933"/>
                </a:solidFill>
                <a:latin typeface="Noto Sans JP"/>
                <a:ea typeface="Noto Sans JP"/>
              </a:rPr>
              <a:t xml:space="preserve"> (mod M) を満たすもの。</a:t>
            </a:r>
          </a:p>
        </p:txBody>
      </p:sp>
      <p:sp>
        <p:nvSpPr>
          <p:cNvPr id="100672" name="Text8"/>
          <p:cNvSpPr txBox="1"/>
          <p:nvPr/>
        </p:nvSpPr>
        <p:spPr>
          <a:xfrm xmlns:a="http://schemas.openxmlformats.org/drawingml/2006/main">
            <a:off x="457200" y="3117600"/>
            <a:ext cx="5247720" cy="2552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真の軌道なら 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 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mod M ですが、擬軌道では 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と θ</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を結ぶ1本の整数列 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がなくてもかまいません。</a:t>
            </a:r>
          </a:p>
          <a:p xmlns:a="http://schemas.openxmlformats.org/drawingml/2006/main">
            <a:pPr algn="l">
              <a:lnSpc>
                <a:spcPct val="112000"/>
              </a:lnSpc>
              <a:spcBef>
                <a:spcPts val="400"/>
              </a:spcBef>
            </a:pPr>
            <a:r>
              <a:rPr lang="en-US" sz="2000" b="0">
                <a:solidFill>
                  <a:srgbClr val="1F2933"/>
                </a:solidFill>
                <a:latin typeface="Noto Sans JP"/>
                <a:ea typeface="Noto Sans JP"/>
              </a:rPr>
              <a:t>擬軌道もグラフのウォークになり、6つの操作はどれもそれを消しません（補題30）。だから、周期的でない擬軌道があると、グラフは決して空になりません。</a:t>
            </a:r>
          </a:p>
        </p:txBody>
      </p:sp>
      <p:pic>
        <p:nvPicPr>
          <p:cNvPr id="100673" name="Pic9" descr="図: 真の軌道 ⊂ 擬軌道 ⊂ グラフのウォーク の包含図。周期的でない擬軌道があると方法は成功しない。"/>
          <p:cNvPicPr>
            <a:picLocks xmlns:a="http://schemas.openxmlformats.org/drawingml/2006/main" noChangeAspect="1"/>
          </p:cNvPicPr>
          <p:nvPr/>
        </p:nvPicPr>
        <p:blipFill>
          <a:blip xmlns:r="http://schemas.openxmlformats.org/officeDocument/2006/relationships" xmlns:a="http://schemas.openxmlformats.org/drawingml/2006/main" r:embed="R6adeaefaeb7d4e3d"/>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674"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6</a:t>
            </a:r>
          </a:p>
        </p:txBody>
      </p:sp>
      <p:sp>
        <p:nvSpPr>
          <p:cNvPr id="100675"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一般のアルファベット C(a, b)</a:t>
            </a:r>
          </a:p>
        </p:txBody>
      </p:sp>
      <p:sp>
        <p:nvSpPr>
          <p:cNvPr id="100676"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72 / 99</a:t>
            </a:r>
          </a:p>
        </p:txBody>
      </p:sp>
      <p:sp>
        <p:nvSpPr>
          <p:cNvPr id="100677"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78"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79"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「2ab の素因数で割り切れない」は、繰り上がりの値の集合 C(a, b) への制限と同じことです。</a:t>
            </a:r>
          </a:p>
        </p:txBody>
      </p:sp>
      <p:sp>
        <p:nvSpPr>
          <p:cNvPr id="100680" name="Text7"/>
          <p:cNvSpPr txBox="1"/>
          <p:nvPr/>
        </p:nvSpPr>
        <p:spPr>
          <a:xfrm xmlns:a="http://schemas.openxmlformats.org/drawingml/2006/main">
            <a:off x="457200" y="1080000"/>
            <a:ext cx="524772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素数 2 と、a, b を割る素数で割り切れない、という条件は、繰り上がりの制限にまとめられます（補題29）。</a:t>
            </a:r>
          </a:p>
        </p:txBody>
      </p:sp>
      <p:pic>
        <p:nvPicPr>
          <p:cNvPr id="100681" name="Pic8" descr="数式: \begin{aligned}\mathcal C(a,b)=\{c:\ &amp;1-b\le c\le a-1,\\ &amp;c\equiv b-a\ (\mathrm{mod}\ 2),\ \gcd(c,ab)=1\}\end{aligned}"/>
          <p:cNvPicPr>
            <a:picLocks xmlns:a="http://schemas.openxmlformats.org/drawingml/2006/main" noChangeAspect="1"/>
          </p:cNvPicPr>
          <p:nvPr/>
        </p:nvPicPr>
        <p:blipFill>
          <a:blip xmlns:r="http://schemas.openxmlformats.org/officeDocument/2006/relationships" xmlns:a="http://schemas.openxmlformats.org/drawingml/2006/main" r:embed="Rdb42062b17e445f7"/>
          <a:stretch xmlns:a="http://schemas.openxmlformats.org/drawingml/2006/main">
            <a:fillRect/>
          </a:stretch>
        </p:blipFill>
        <p:spPr>
          <a:xfrm xmlns:a="http://schemas.openxmlformats.org/drawingml/2006/main">
            <a:off x="529200" y="2308680"/>
            <a:ext cx="5247720" cy="721080"/>
          </a:xfrm>
          <a:prstGeom xmlns:a="http://schemas.openxmlformats.org/drawingml/2006/main" prst="rect">
            <a:avLst/>
          </a:prstGeom>
        </p:spPr>
      </p:pic>
      <p:sp>
        <p:nvSpPr>
          <p:cNvPr id="100682" name="Text9"/>
          <p:cNvSpPr txBox="1"/>
          <p:nvPr/>
        </p:nvSpPr>
        <p:spPr>
          <a:xfrm xmlns:a="http://schemas.openxmlformats.org/drawingml/2006/main">
            <a:off x="457200" y="3163320"/>
            <a:ext cx="5247720" cy="18525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例: C(7, 5) = {−4, −2, 2, 4, 6}、C(5, 2) = {−1, 1, 3}。</a:t>
            </a:r>
          </a:p>
          <a:p xmlns:a="http://schemas.openxmlformats.org/drawingml/2006/main">
            <a:pPr algn="l">
              <a:lnSpc>
                <a:spcPct val="112000"/>
              </a:lnSpc>
              <a:spcBef>
                <a:spcPts val="400"/>
              </a:spcBef>
            </a:pPr>
            <a:r>
              <a:rPr lang="en-US" sz="2000" b="0">
                <a:solidFill>
                  <a:srgbClr val="1F2933"/>
                </a:solidFill>
                <a:latin typeface="Noto Sans JP"/>
                <a:ea typeface="Noto Sans JP"/>
              </a:rPr>
              <a:t>補題23・24のアルファベットは、ちょうどこの一般形になっています。</a:t>
            </a:r>
          </a:p>
        </p:txBody>
      </p:sp>
      <p:pic>
        <p:nvPicPr>
          <p:cNvPr id="100683" name="Pic10" descr="図: 7/5 と 5/2 について、偶奇と gcd の条件で整数を消していき、アルファベット C(a, b) が残ることを示す図。"/>
          <p:cNvPicPr>
            <a:picLocks xmlns:a="http://schemas.openxmlformats.org/drawingml/2006/main" noChangeAspect="1"/>
          </p:cNvPicPr>
          <p:nvPr/>
        </p:nvPicPr>
        <p:blipFill>
          <a:blip xmlns:r="http://schemas.openxmlformats.org/officeDocument/2006/relationships" xmlns:a="http://schemas.openxmlformats.org/drawingml/2006/main" r:embed="Ra38fea4efe9c4160"/>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684"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6</a:t>
            </a:r>
          </a:p>
        </p:txBody>
      </p:sp>
      <p:sp>
        <p:nvSpPr>
          <p:cNvPr id="100685"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正規形定理（定理37）</a:t>
            </a:r>
          </a:p>
        </p:txBody>
      </p:sp>
      <p:sp>
        <p:nvSpPr>
          <p:cNvPr id="100686"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73 / 99</a:t>
            </a:r>
          </a:p>
        </p:txBody>
      </p:sp>
      <p:sp>
        <p:nvSpPr>
          <p:cNvPr id="100687"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88"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89"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どんな順番で操作を組み合わせても、成功するかどうかは「1つのグラフの判定」で決まります。</a:t>
            </a:r>
          </a:p>
        </p:txBody>
      </p:sp>
      <p:sp>
        <p:nvSpPr>
          <p:cNvPr id="100690" name="Text7"/>
          <p:cNvSpPr txBox="1"/>
          <p:nvPr/>
        </p:nvSpPr>
        <p:spPr>
          <a:xfrm xmlns:a="http://schemas.openxmlformats.org/drawingml/2006/main">
            <a:off x="457200" y="1080000"/>
            <a:ext cx="5247720" cy="459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次の2つは同じことです。</a:t>
            </a:r>
          </a:p>
          <a:p xmlns:a="http://schemas.openxmlformats.org/drawingml/2006/main">
            <a:pPr marL="288000" indent="-288000" algn="l">
              <a:lnSpc>
                <a:spcPct val="112000"/>
              </a:lnSpc>
              <a:spcBef>
                <a:spcPts val="400"/>
              </a:spcBef>
              <a:buNone/>
            </a:pPr>
            <a:r>
              <a:rPr lang="en-US" sz="2000" b="0">
                <a:solidFill>
                  <a:srgbClr val="1F2933"/>
                </a:solidFill>
                <a:latin typeface="Noto Sans JP"/>
                <a:ea typeface="Noto Sans JP"/>
              </a:rPr>
              <a:t>1. 標準手続きのどれかの実行が成功する。</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2. ある K と、2ab を割らない素数の集合 S で、グラフ G′(∏S, K) の巡回的 SCC が全部合格する。</a:t>
            </a:r>
          </a:p>
          <a:p xmlns:a="http://schemas.openxmlformats.org/drawingml/2006/main">
            <a:pPr algn="l">
              <a:lnSpc>
                <a:spcPct val="112000"/>
              </a:lnSpc>
              <a:spcBef>
                <a:spcPts val="600"/>
              </a:spcBef>
            </a:pPr>
            <a:r>
              <a:rPr lang="en-US" sz="1800" b="0">
                <a:solidFill>
                  <a:srgbClr val="4F5D6E"/>
                </a:solidFill>
                <a:latin typeface="Noto Sans JP"/>
                <a:ea typeface="Noto Sans JP"/>
              </a:rPr>
              <a:t>G′(R, K): あまりは R で記録し、ラベルを C(a, b) に限った1ステップグラフ。</a:t>
            </a:r>
          </a:p>
          <a:p xmlns:a="http://schemas.openxmlformats.org/drawingml/2006/main">
            <a:pPr algn="l">
              <a:lnSpc>
                <a:spcPct val="112000"/>
              </a:lnSpc>
              <a:spcBef>
                <a:spcPts val="1000"/>
              </a:spcBef>
            </a:pPr>
            <a:r>
              <a:rPr lang="en-US" sz="2000" b="1">
                <a:solidFill>
                  <a:srgbClr val="1B2A41"/>
                </a:solidFill>
                <a:latin typeface="Noto Sans JP"/>
                <a:ea typeface="Noto Sans JP"/>
              </a:rPr>
              <a:t>分かること</a:t>
            </a:r>
          </a:p>
          <a:p xmlns:a="http://schemas.openxmlformats.org/drawingml/2006/main">
            <a:pPr marL="223200" indent="-223200" algn="l">
              <a:lnSpc>
                <a:spcPct val="112000"/>
              </a:lnSpc>
              <a:spcBef>
                <a:spcPts val="400"/>
              </a:spcBef>
              <a:buChar char="•"/>
            </a:pPr>
            <a:r>
              <a:rPr lang="en-US" sz="2000" b="0">
                <a:solidFill>
                  <a:srgbClr val="1F2933"/>
                </a:solidFill>
                <a:latin typeface="Noto Sans JP"/>
                <a:ea typeface="Noto Sans JP"/>
              </a:rPr>
              <a:t>縮約で証明できる比は増えない。</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素数のべき乗（p² など）は不要。</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素数を加える順番は成否に関係しない。</a:t>
            </a:r>
          </a:p>
        </p:txBody>
      </p:sp>
      <p:pic>
        <p:nvPicPr>
          <p:cNvPr id="100691" name="Pic8" descr="図: いろいろな実行の組合せと、1つのグラフ G′(∏S, K) の位相判定が同値であることを示す図。"/>
          <p:cNvPicPr>
            <a:picLocks xmlns:a="http://schemas.openxmlformats.org/drawingml/2006/main" noChangeAspect="1"/>
          </p:cNvPicPr>
          <p:nvPr/>
        </p:nvPicPr>
        <p:blipFill>
          <a:blip xmlns:r="http://schemas.openxmlformats.org/officeDocument/2006/relationships" xmlns:a="http://schemas.openxmlformats.org/drawingml/2006/main" r:embed="R66093e264dff4b05"/>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692"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6</a:t>
            </a:r>
          </a:p>
        </p:txBody>
      </p:sp>
      <p:sp>
        <p:nvSpPr>
          <p:cNvPr id="100693"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障害1: 分子が大きい比（定理39）</a:t>
            </a:r>
          </a:p>
        </p:txBody>
      </p:sp>
      <p:sp>
        <p:nvSpPr>
          <p:cNvPr id="100694"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74 / 99</a:t>
            </a:r>
          </a:p>
        </p:txBody>
      </p:sp>
      <p:sp>
        <p:nvSpPr>
          <p:cNvPr id="100695"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96"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697"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分子 a が 2·rad M 以上なら、法が M を割る実行は決して成功しません。</a:t>
            </a:r>
          </a:p>
        </p:txBody>
      </p:sp>
      <p:sp>
        <p:nvSpPr>
          <p:cNvPr id="100698"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法 M の異なる素因数の積を rad M と書きます（4290 なら 4290）。</a:t>
            </a:r>
          </a:p>
        </p:txBody>
      </p:sp>
      <p:pic>
        <p:nvPicPr>
          <p:cNvPr id="100699" name="Pic8" descr="数式: a\ \ge\ 2\,\mathrm{rad}\,M"/>
          <p:cNvPicPr>
            <a:picLocks xmlns:a="http://schemas.openxmlformats.org/drawingml/2006/main" noChangeAspect="1"/>
          </p:cNvPicPr>
          <p:nvPr/>
        </p:nvPicPr>
        <p:blipFill>
          <a:blip xmlns:r="http://schemas.openxmlformats.org/officeDocument/2006/relationships" xmlns:a="http://schemas.openxmlformats.org/drawingml/2006/main" r:embed="R65f09af8823743d6"/>
          <a:stretch xmlns:a="http://schemas.openxmlformats.org/drawingml/2006/main">
            <a:fillRect/>
          </a:stretch>
        </p:blipFill>
        <p:spPr>
          <a:xfrm xmlns:a="http://schemas.openxmlformats.org/drawingml/2006/main">
            <a:off x="529200" y="1961640"/>
            <a:ext cx="1540800" cy="259920"/>
          </a:xfrm>
          <a:prstGeom xmlns:a="http://schemas.openxmlformats.org/drawingml/2006/main" prst="rect">
            <a:avLst/>
          </a:prstGeom>
        </p:spPr>
      </p:pic>
      <p:sp>
        <p:nvSpPr>
          <p:cNvPr id="100700" name="Text9"/>
          <p:cNvSpPr txBox="1"/>
          <p:nvPr/>
        </p:nvSpPr>
        <p:spPr>
          <a:xfrm xmlns:a="http://schemas.openxmlformats.org/drawingml/2006/main">
            <a:off x="457200" y="2354760"/>
            <a:ext cx="5247720" cy="28216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このとき、法が M を割る範囲の実行は決して成功しません。</a:t>
            </a:r>
          </a:p>
          <a:p xmlns:a="http://schemas.openxmlformats.org/drawingml/2006/main">
            <a:pPr algn="l">
              <a:lnSpc>
                <a:spcPct val="112000"/>
              </a:lnSpc>
              <a:spcBef>
                <a:spcPts val="1000"/>
              </a:spcBef>
            </a:pPr>
            <a:r>
              <a:rPr lang="en-US" sz="2000" b="1">
                <a:solidFill>
                  <a:srgbClr val="1B2A41"/>
                </a:solidFill>
                <a:latin typeface="Noto Sans JP"/>
                <a:ea typeface="Noto Sans JP"/>
              </a:rPr>
              <a:t>理由</a:t>
            </a:r>
          </a:p>
          <a:p xmlns:a="http://schemas.openxmlformats.org/drawingml/2006/main">
            <a:pPr algn="l">
              <a:lnSpc>
                <a:spcPct val="112000"/>
              </a:lnSpc>
              <a:spcBef>
                <a:spcPts val="400"/>
              </a:spcBef>
            </a:pPr>
            <a:r>
              <a:rPr lang="en-US" sz="2000" b="0">
                <a:solidFill>
                  <a:srgbClr val="1F2933"/>
                </a:solidFill>
                <a:latin typeface="Noto Sans JP"/>
                <a:ea typeface="Noto Sans JP"/>
              </a:rPr>
              <a:t>逆向き（θ</a:t>
            </a:r>
            <a:r>
              <a:rPr lang="en-US" sz="2000" b="0" baseline="-25000">
                <a:solidFill>
                  <a:srgbClr val="1F2933"/>
                </a:solidFill>
                <a:latin typeface="Noto Sans JP"/>
                <a:ea typeface="Noto Sans JP"/>
              </a:rPr>
              <a:t>n+1</a:t>
            </a:r>
            <a:r>
              <a:rPr lang="en-US" sz="2000" b="0">
                <a:solidFill>
                  <a:srgbClr val="1F2933"/>
                </a:solidFill>
                <a:latin typeface="Noto Sans JP"/>
                <a:ea typeface="Noto Sans JP"/>
              </a:rPr>
              <a:t xml:space="preserve"> から θ</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）に作ると、各ステップで繰り上がりを2通り以上選べます。選び方で周期的でない擬軌道を作れます。</a:t>
            </a:r>
          </a:p>
        </p:txBody>
      </p:sp>
      <p:pic>
        <p:nvPicPr>
          <p:cNvPr id="100701" name="Pic10" descr="図: 説明用の模式図: 時刻を逆向きにたどると、各ステップで繰り上がりを2通り以上選べる分岐の木。"/>
          <p:cNvPicPr>
            <a:picLocks xmlns:a="http://schemas.openxmlformats.org/drawingml/2006/main" noChangeAspect="1"/>
          </p:cNvPicPr>
          <p:nvPr/>
        </p:nvPicPr>
        <p:blipFill>
          <a:blip xmlns:r="http://schemas.openxmlformats.org/officeDocument/2006/relationships" xmlns:a="http://schemas.openxmlformats.org/drawingml/2006/main" r:embed="R46e5f39f55a34861"/>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702"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6</a:t>
            </a:r>
          </a:p>
        </p:txBody>
      </p:sp>
      <p:sp>
        <p:nvSpPr>
          <p:cNvPr id="100703"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近くの比では同じ素数で足りない（系40）</a:t>
            </a:r>
          </a:p>
        </p:txBody>
      </p:sp>
      <p:sp>
        <p:nvSpPr>
          <p:cNvPr id="100704"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75 / 99</a:t>
            </a:r>
          </a:p>
        </p:txBody>
      </p:sp>
      <p:sp>
        <p:nvSpPr>
          <p:cNvPr id="100705"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06"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07"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比 7/5 の証明書は、同じ素数のままでは近くの比にそのまま使えません。</a:t>
            </a:r>
          </a:p>
        </p:txBody>
      </p:sp>
      <p:sp>
        <p:nvSpPr>
          <p:cNvPr id="100708" name="Text7"/>
          <p:cNvSpPr txBox="1"/>
          <p:nvPr/>
        </p:nvSpPr>
        <p:spPr>
          <a:xfrm xmlns:a="http://schemas.openxmlformats.org/drawingml/2006/main">
            <a:off x="457200" y="1080000"/>
            <a:ext cx="5247720" cy="22622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使う素数を固定すると、成功しうる比は有限個です（a &lt; 2 × 素数の積）。</a:t>
            </a:r>
          </a:p>
          <a:p xmlns:a="http://schemas.openxmlformats.org/drawingml/2006/main">
            <a:pPr algn="l">
              <a:lnSpc>
                <a:spcPct val="112000"/>
              </a:lnSpc>
              <a:spcBef>
                <a:spcPts val="400"/>
              </a:spcBef>
            </a:pPr>
            <a:r>
              <a:rPr lang="en-US" sz="2000" b="0">
                <a:solidFill>
                  <a:srgbClr val="1F2933"/>
                </a:solidFill>
                <a:latin typeface="Noto Sans JP"/>
                <a:ea typeface="Noto Sans JP"/>
              </a:rPr>
              <a:t>例: r</a:t>
            </a:r>
            <a:r>
              <a:rPr lang="en-US" sz="2000" b="0" baseline="-25000">
                <a:solidFill>
                  <a:srgbClr val="1F2933"/>
                </a:solidFill>
                <a:latin typeface="Noto Sans JP"/>
                <a:ea typeface="Noto Sans JP"/>
              </a:rPr>
              <a:t>t</a:t>
            </a:r>
            <a:r>
              <a:rPr lang="en-US" sz="2000" b="0">
                <a:solidFill>
                  <a:srgbClr val="1F2933"/>
                </a:solidFill>
                <a:latin typeface="Noto Sans JP"/>
                <a:ea typeface="Noto Sans JP"/>
              </a:rPr>
              <a:t xml:space="preserve"> = (2t+7)/(2t+5) は t = 0 で 7/5。定理39の a &lt; 2·rad M に a = 2t+7 を入れると</a:t>
            </a:r>
          </a:p>
        </p:txBody>
      </p:sp>
      <p:pic>
        <p:nvPicPr>
          <p:cNvPr id="100709" name="Pic8" descr="数式: \mathrm{rad}(M_t)\ \ge\ t+4"/>
          <p:cNvPicPr>
            <a:picLocks xmlns:a="http://schemas.openxmlformats.org/drawingml/2006/main" noChangeAspect="1"/>
          </p:cNvPicPr>
          <p:nvPr/>
        </p:nvPicPr>
        <p:blipFill>
          <a:blip xmlns:r="http://schemas.openxmlformats.org/officeDocument/2006/relationships" xmlns:a="http://schemas.openxmlformats.org/drawingml/2006/main" r:embed="R5ce035c9eb0742c2"/>
          <a:stretch xmlns:a="http://schemas.openxmlformats.org/drawingml/2006/main">
            <a:fillRect/>
          </a:stretch>
        </p:blipFill>
        <p:spPr>
          <a:xfrm xmlns:a="http://schemas.openxmlformats.org/drawingml/2006/main">
            <a:off x="529200" y="3053880"/>
            <a:ext cx="1981440" cy="304560"/>
          </a:xfrm>
          <a:prstGeom xmlns:a="http://schemas.openxmlformats.org/drawingml/2006/main" prst="rect">
            <a:avLst/>
          </a:prstGeom>
        </p:spPr>
      </p:pic>
      <p:sp>
        <p:nvSpPr>
          <p:cNvPr id="100710" name="Text9"/>
          <p:cNvSpPr txBox="1"/>
          <p:nvPr/>
        </p:nvSpPr>
        <p:spPr>
          <a:xfrm xmlns:a="http://schemas.openxmlformats.org/drawingml/2006/main">
            <a:off x="457200" y="3491640"/>
            <a:ext cx="5247720" cy="21783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が必要なので、素数 {2, 3, 5, 11, 13} だけでは t ≥ 4287 で決して成功しません。7/5 に近づく (14k+1)/(10k+1) でも k ≥ 613 で同じです。</a:t>
            </a:r>
          </a:p>
          <a:p xmlns:a="http://schemas.openxmlformats.org/drawingml/2006/main">
            <a:pPr algn="l">
              <a:lnSpc>
                <a:spcPct val="112000"/>
              </a:lnSpc>
              <a:spcBef>
                <a:spcPts val="600"/>
              </a:spcBef>
            </a:pPr>
            <a:r>
              <a:rPr lang="en-US" sz="1800" b="0">
                <a:solidFill>
                  <a:srgbClr val="4F5D6E"/>
                </a:solidFill>
                <a:latin typeface="Noto Sans JP"/>
                <a:ea typeface="Noto Sans JP"/>
              </a:rPr>
              <a:t>これは方法の限界です。これらの比に合成数が無限にないという意味ではありません。</a:t>
            </a:r>
          </a:p>
        </p:txBody>
      </p:sp>
      <p:pic>
        <p:nvPicPr>
          <p:cNvPr id="100711" name="Pic10" descr="図: 比 (2t+7)/(2t+5) の分子 2t+7 と 2·rad(4290) = 8580 の比較。t ≥ 4287 では素数 {2,3,5,11,13} だけでは成功しない。"/>
          <p:cNvPicPr>
            <a:picLocks xmlns:a="http://schemas.openxmlformats.org/drawingml/2006/main" noChangeAspect="1"/>
          </p:cNvPicPr>
          <p:nvPr/>
        </p:nvPicPr>
        <p:blipFill>
          <a:blip xmlns:r="http://schemas.openxmlformats.org/officeDocument/2006/relationships" xmlns:a="http://schemas.openxmlformats.org/drawingml/2006/main" r:embed="R30e6ca5d16754888"/>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712"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6</a:t>
            </a:r>
          </a:p>
        </p:txBody>
      </p:sp>
      <p:sp>
        <p:nvSpPr>
          <p:cNvPr id="100713"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有限の区間は真の軌道で実現できる（補題41）</a:t>
            </a:r>
          </a:p>
        </p:txBody>
      </p:sp>
      <p:sp>
        <p:nvSpPr>
          <p:cNvPr id="100714"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76 / 99</a:t>
            </a:r>
          </a:p>
        </p:txBody>
      </p:sp>
      <p:sp>
        <p:nvSpPr>
          <p:cNvPr id="100715"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16"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17"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区間ごとに真の軌道で実現できても、1本の真の軌道で全部を実現できるとは限りません。</a:t>
            </a:r>
          </a:p>
        </p:txBody>
      </p:sp>
      <p:sp>
        <p:nvSpPr>
          <p:cNvPr id="100718"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擬軌道の長さ L の区間は、ある ξ の真の軌道で実現できます。</a:t>
            </a:r>
          </a:p>
        </p:txBody>
      </p:sp>
      <p:pic>
        <p:nvPicPr>
          <p:cNvPr id="100719" name="Pic8" descr="数式: \forall L\ \ \exists\,\xi_L"/>
          <p:cNvPicPr>
            <a:picLocks xmlns:a="http://schemas.openxmlformats.org/drawingml/2006/main" noChangeAspect="1"/>
          </p:cNvPicPr>
          <p:nvPr/>
        </p:nvPicPr>
        <p:blipFill>
          <a:blip xmlns:r="http://schemas.openxmlformats.org/officeDocument/2006/relationships" xmlns:a="http://schemas.openxmlformats.org/drawingml/2006/main" r:embed="R2cdfc47090284230"/>
          <a:stretch xmlns:a="http://schemas.openxmlformats.org/drawingml/2006/main">
            <a:fillRect/>
          </a:stretch>
        </p:blipFill>
        <p:spPr>
          <a:xfrm xmlns:a="http://schemas.openxmlformats.org/drawingml/2006/main">
            <a:off x="529200" y="1961640"/>
            <a:ext cx="977040" cy="276120"/>
          </a:xfrm>
          <a:prstGeom xmlns:a="http://schemas.openxmlformats.org/drawingml/2006/main" prst="rect">
            <a:avLst/>
          </a:prstGeom>
        </p:spPr>
      </p:pic>
      <p:sp>
        <p:nvSpPr>
          <p:cNvPr id="100720" name="Text9"/>
          <p:cNvSpPr txBox="1"/>
          <p:nvPr/>
        </p:nvSpPr>
        <p:spPr>
          <a:xfrm xmlns:a="http://schemas.openxmlformats.org/drawingml/2006/main">
            <a:off x="457200" y="2370960"/>
            <a:ext cx="5247720" cy="14918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spcBef>
                <a:spcPts val="600"/>
              </a:spcBef>
            </a:pPr>
            <a:r>
              <a:rPr lang="en-US" sz="1800" b="0">
                <a:solidFill>
                  <a:srgbClr val="4F5D6E"/>
                </a:solidFill>
                <a:latin typeface="Noto Sans JP"/>
                <a:ea typeface="Noto Sans JP"/>
              </a:rPr>
              <a:t>どの L にも一致する ξ</a:t>
            </a:r>
            <a:r>
              <a:rPr lang="en-US" sz="1800" b="0" baseline="-25000">
                <a:solidFill>
                  <a:srgbClr val="4F5D6E"/>
                </a:solidFill>
                <a:latin typeface="Noto Sans JP"/>
                <a:ea typeface="Noto Sans JP"/>
              </a:rPr>
              <a:t>L</a:t>
            </a:r>
            <a:r>
              <a:rPr lang="en-US" sz="1800" b="0">
                <a:solidFill>
                  <a:srgbClr val="4F5D6E"/>
                </a:solidFill>
                <a:latin typeface="Noto Sans JP"/>
                <a:ea typeface="Noto Sans JP"/>
              </a:rPr>
              <a:t xml:space="preserve"> がある（正しい）</a:t>
            </a:r>
          </a:p>
          <a:p xmlns:a="http://schemas.openxmlformats.org/drawingml/2006/main">
            <a:pPr algn="l">
              <a:lnSpc>
                <a:spcPct val="112000"/>
              </a:lnSpc>
              <a:spcBef>
                <a:spcPts val="400"/>
              </a:spcBef>
            </a:pPr>
            <a:r>
              <a:rPr lang="en-US" sz="2000" b="0">
                <a:solidFill>
                  <a:srgbClr val="1F2933"/>
                </a:solidFill>
                <a:latin typeface="Noto Sans JP"/>
                <a:ea typeface="Noto Sans JP"/>
              </a:rPr>
              <a:t>しかし「1つの ξ で全部」とは言えません。</a:t>
            </a:r>
          </a:p>
        </p:txBody>
      </p:sp>
      <p:pic>
        <p:nvPicPr>
          <p:cNvPr id="100721" name="Pic10" descr="数式: \exists\,\xi\ \ \forall L"/>
          <p:cNvPicPr>
            <a:picLocks xmlns:a="http://schemas.openxmlformats.org/drawingml/2006/main" noChangeAspect="1"/>
          </p:cNvPicPr>
          <p:nvPr/>
        </p:nvPicPr>
        <p:blipFill>
          <a:blip xmlns:r="http://schemas.openxmlformats.org/officeDocument/2006/relationships" xmlns:a="http://schemas.openxmlformats.org/drawingml/2006/main" r:embed="Rd82a4dc7853745d7"/>
          <a:stretch xmlns:a="http://schemas.openxmlformats.org/drawingml/2006/main">
            <a:fillRect/>
          </a:stretch>
        </p:blipFill>
        <p:spPr>
          <a:xfrm xmlns:a="http://schemas.openxmlformats.org/drawingml/2006/main">
            <a:off x="529200" y="3692160"/>
            <a:ext cx="837360" cy="275760"/>
          </a:xfrm>
          <a:prstGeom xmlns:a="http://schemas.openxmlformats.org/drawingml/2006/main" prst="rect">
            <a:avLst/>
          </a:prstGeom>
        </p:spPr>
      </p:pic>
      <p:sp>
        <p:nvSpPr>
          <p:cNvPr id="100722" name="Text11"/>
          <p:cNvSpPr txBox="1"/>
          <p:nvPr/>
        </p:nvSpPr>
        <p:spPr>
          <a:xfrm xmlns:a="http://schemas.openxmlformats.org/drawingml/2006/main">
            <a:off x="457200" y="4101120"/>
            <a:ext cx="5247720" cy="14918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spcBef>
                <a:spcPts val="600"/>
              </a:spcBef>
            </a:pPr>
            <a:r>
              <a:rPr lang="en-US" sz="1800" b="0">
                <a:solidFill>
                  <a:srgbClr val="4F5D6E"/>
                </a:solidFill>
                <a:latin typeface="Noto Sans JP"/>
                <a:ea typeface="Noto Sans JP"/>
              </a:rPr>
              <a:t>1つの ξ ですべての L（上からは出ない）</a:t>
            </a:r>
          </a:p>
          <a:p xmlns:a="http://schemas.openxmlformats.org/drawingml/2006/main">
            <a:pPr algn="l">
              <a:lnSpc>
                <a:spcPct val="112000"/>
              </a:lnSpc>
              <a:spcBef>
                <a:spcPts val="400"/>
              </a:spcBef>
            </a:pPr>
            <a:r>
              <a:rPr lang="en-US" sz="2000" b="0">
                <a:solidFill>
                  <a:srgbClr val="1F2933"/>
                </a:solidFill>
                <a:latin typeface="Noto Sans JP"/>
                <a:ea typeface="Noto Sans JP"/>
              </a:rPr>
              <a:t>障害の定理は「合成数が無限にある」の反例ではありません。</a:t>
            </a:r>
          </a:p>
        </p:txBody>
      </p:sp>
      <p:pic>
        <p:nvPicPr>
          <p:cNvPr id="100723" name="Pic12" descr="図: 擬軌道の長さ L の区間ごとに別の ξ_L で実現できることと、1つの ξ で全部を実現するとは言えないことを示す図。"/>
          <p:cNvPicPr>
            <a:picLocks xmlns:a="http://schemas.openxmlformats.org/drawingml/2006/main" noChangeAspect="1"/>
          </p:cNvPicPr>
          <p:nvPr/>
        </p:nvPicPr>
        <p:blipFill>
          <a:blip xmlns:r="http://schemas.openxmlformats.org/officeDocument/2006/relationships" xmlns:a="http://schemas.openxmlformats.org/drawingml/2006/main" r:embed="R6773ed3199244cf8"/>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724"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6</a:t>
            </a:r>
          </a:p>
        </p:txBody>
      </p:sp>
      <p:sp>
        <p:nvSpPr>
          <p:cNvPr id="100725"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障害2: 2つの繰り上がり語（定理42）</a:t>
            </a:r>
          </a:p>
        </p:txBody>
      </p:sp>
      <p:sp>
        <p:nvSpPr>
          <p:cNvPr id="100726"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77 / 99</a:t>
            </a:r>
          </a:p>
        </p:txBody>
      </p:sp>
      <p:sp>
        <p:nvSpPr>
          <p:cNvPr id="100727"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28"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29"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2種類の語を好きな順に並べられる擬軌道があると、方法は成功しません。</a:t>
            </a:r>
          </a:p>
        </p:txBody>
      </p:sp>
      <p:sp>
        <p:nvSpPr>
          <p:cNvPr id="100730"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R: M の素因数のうち 2ab を割らないものの積。Δ = a − b として</a:t>
            </a:r>
          </a:p>
        </p:txBody>
      </p:sp>
      <p:pic>
        <p:nvPicPr>
          <p:cNvPr id="100731" name="Pic8" descr="数式: h=2Rm\le a-1,\qquad c=\Delta-h,\qquad \gcd(c,ab)=1"/>
          <p:cNvPicPr>
            <a:picLocks xmlns:a="http://schemas.openxmlformats.org/drawingml/2006/main" noChangeAspect="1"/>
          </p:cNvPicPr>
          <p:nvPr/>
        </p:nvPicPr>
        <p:blipFill>
          <a:blip xmlns:r="http://schemas.openxmlformats.org/officeDocument/2006/relationships" xmlns:a="http://schemas.openxmlformats.org/drawingml/2006/main" r:embed="Raf398e07933c4404"/>
          <a:stretch xmlns:a="http://schemas.openxmlformats.org/drawingml/2006/main">
            <a:fillRect/>
          </a:stretch>
        </p:blipFill>
        <p:spPr>
          <a:xfrm xmlns:a="http://schemas.openxmlformats.org/drawingml/2006/main">
            <a:off x="529200" y="1961640"/>
            <a:ext cx="5247720" cy="273960"/>
          </a:xfrm>
          <a:prstGeom xmlns:a="http://schemas.openxmlformats.org/drawingml/2006/main" prst="rect">
            <a:avLst/>
          </a:prstGeom>
        </p:spPr>
      </p:pic>
      <p:sp>
        <p:nvSpPr>
          <p:cNvPr id="100732" name="Text9"/>
          <p:cNvSpPr txBox="1"/>
          <p:nvPr/>
        </p:nvSpPr>
        <p:spPr>
          <a:xfrm xmlns:a="http://schemas.openxmlformats.org/drawingml/2006/main">
            <a:off x="457200" y="2368800"/>
            <a:ext cx="5247720" cy="33012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となる m ≥ 1 があれば、法が M を割る実行は成功しません。</a:t>
            </a:r>
          </a:p>
          <a:p xmlns:a="http://schemas.openxmlformats.org/drawingml/2006/main">
            <a:pPr algn="l">
              <a:lnSpc>
                <a:spcPct val="112000"/>
              </a:lnSpc>
              <a:spcBef>
                <a:spcPts val="400"/>
              </a:spcBef>
            </a:pPr>
            <a:r>
              <a:rPr lang="en-US" sz="2000" b="0">
                <a:solidFill>
                  <a:srgbClr val="1F2933"/>
                </a:solidFill>
                <a:latin typeface="Noto Sans JP"/>
                <a:ea typeface="Noto Sans JP"/>
              </a:rPr>
              <a:t>例（5/2、素数 2 だけ、R = 1）: Δ = 3, h = 2, c = 1、U = (1), V = (3, 1)。</a:t>
            </a:r>
          </a:p>
          <a:p xmlns:a="http://schemas.openxmlformats.org/drawingml/2006/main">
            <a:pPr algn="l">
              <a:lnSpc>
                <a:spcPct val="112000"/>
              </a:lnSpc>
              <a:spcBef>
                <a:spcPts val="400"/>
              </a:spcBef>
            </a:pPr>
            <a:r>
              <a:rPr lang="en-US" sz="2000" b="0">
                <a:solidFill>
                  <a:srgbClr val="1F2933"/>
                </a:solidFill>
                <a:latin typeface="Noto Sans JP"/>
                <a:ea typeface="Noto Sans JP"/>
              </a:rPr>
              <a:t>時刻を戻す写像 θ ↦ (bθ + c)/a で、I = [1/3, 17/21] は U でも V でも I の中に写る。だから U, V を周期的でない順に並べた擬軌道が作れる。</a:t>
            </a:r>
          </a:p>
        </p:txBody>
      </p:sp>
      <p:pic>
        <p:nvPicPr>
          <p:cNvPr id="100733" name="Pic10" descr="図: 5/2 で素数 2 だけの場合、区間 I = [1/3, 17/21] が語 U=(1), V=(3,1) の逆向き写像で I の中に写り、U と V を自由に並べられることを示す図。"/>
          <p:cNvPicPr>
            <a:picLocks xmlns:a="http://schemas.openxmlformats.org/drawingml/2006/main" noChangeAspect="1"/>
          </p:cNvPicPr>
          <p:nvPr/>
        </p:nvPicPr>
        <p:blipFill>
          <a:blip xmlns:r="http://schemas.openxmlformats.org/officeDocument/2006/relationships" xmlns:a="http://schemas.openxmlformats.org/drawingml/2006/main" r:embed="Refbc37c38c9d40b5"/>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734"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6</a:t>
            </a:r>
          </a:p>
        </p:txBody>
      </p:sp>
      <p:sp>
        <p:nvSpPr>
          <p:cNvPr id="100735"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外の素数は必ず要る（系43）</a:t>
            </a:r>
          </a:p>
        </p:txBody>
      </p:sp>
      <p:sp>
        <p:nvSpPr>
          <p:cNvPr id="100736"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78 / 99</a:t>
            </a:r>
          </a:p>
        </p:txBody>
      </p:sp>
      <p:sp>
        <p:nvSpPr>
          <p:cNvPr id="100737"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38"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39"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どの比でも、a, b, 2 とは関係のない「外の素数」を少なくとも1つは使わなければなりません。</a:t>
            </a:r>
          </a:p>
        </p:txBody>
      </p:sp>
      <p:sp>
        <p:nvSpPr>
          <p:cNvPr id="100740" name="Text7"/>
          <p:cNvSpPr txBox="1"/>
          <p:nvPr/>
        </p:nvSpPr>
        <p:spPr>
          <a:xfrm xmlns:a="http://schemas.openxmlformats.org/drawingml/2006/main">
            <a:off x="457200" y="1080000"/>
            <a:ext cx="5247720" cy="459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系43</a:t>
            </a:r>
          </a:p>
          <a:p xmlns:a="http://schemas.openxmlformats.org/drawingml/2006/main">
            <a:pPr algn="l">
              <a:lnSpc>
                <a:spcPct val="112000"/>
              </a:lnSpc>
              <a:spcBef>
                <a:spcPts val="400"/>
              </a:spcBef>
            </a:pPr>
            <a:r>
              <a:rPr lang="en-US" sz="2000" b="0">
                <a:solidFill>
                  <a:srgbClr val="1F2933"/>
                </a:solidFill>
                <a:latin typeface="Noto Sans JP"/>
                <a:ea typeface="Noto Sans JP"/>
              </a:rPr>
              <a:t>どんな比 a/b（a &gt; b ≥ 2, 互いに素）でも、2ab を割る素数だけを使う実行は成功しません。</a:t>
            </a:r>
          </a:p>
          <a:p xmlns:a="http://schemas.openxmlformats.org/drawingml/2006/main">
            <a:pPr algn="l">
              <a:lnSpc>
                <a:spcPct val="112000"/>
              </a:lnSpc>
              <a:spcBef>
                <a:spcPts val="400"/>
              </a:spcBef>
            </a:pPr>
            <a:r>
              <a:rPr lang="en-US" sz="2000" b="0">
                <a:solidFill>
                  <a:srgbClr val="1F2933"/>
                </a:solidFill>
                <a:latin typeface="Noto Sans JP"/>
                <a:ea typeface="Noto Sans JP"/>
              </a:rPr>
              <a:t>理由: R = 1 のとき、定理42の条件（h = Δ − c が正の偶数、gcd(c, ab) = 1）を満たす c がいつもある。</a:t>
            </a:r>
          </a:p>
          <a:p xmlns:a="http://schemas.openxmlformats.org/drawingml/2006/main">
            <a:pPr marL="223200" indent="-223200" algn="l">
              <a:lnSpc>
                <a:spcPct val="112000"/>
              </a:lnSpc>
              <a:spcBef>
                <a:spcPts val="400"/>
              </a:spcBef>
              <a:buChar char="•"/>
            </a:pPr>
            <a:r>
              <a:rPr lang="en-US" sz="2000" b="0">
                <a:solidFill>
                  <a:srgbClr val="1F2933"/>
                </a:solidFill>
                <a:latin typeface="Noto Sans JP"/>
                <a:ea typeface="Noto Sans JP"/>
              </a:rPr>
              <a:t>Δ が奇数で 3 以上: c = 1</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Δ が偶数で 4 以上: c = 2</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Δ = 1: c = −1　／　Δ = 2: c = −2</a:t>
            </a:r>
          </a:p>
          <a:p xmlns:a="http://schemas.openxmlformats.org/drawingml/2006/main">
            <a:pPr algn="l">
              <a:lnSpc>
                <a:spcPct val="112000"/>
              </a:lnSpc>
              <a:spcBef>
                <a:spcPts val="600"/>
              </a:spcBef>
            </a:pPr>
            <a:r>
              <a:rPr lang="en-US" sz="1800" b="0">
                <a:solidFill>
                  <a:srgbClr val="4F5D6E"/>
                </a:solidFill>
                <a:latin typeface="Noto Sans JP"/>
                <a:ea typeface="Noto Sans JP"/>
              </a:rPr>
              <a:t>7/5, M = 4290 では R = 429 で h = 858m ≤ 6 は不可能なので、この障害は起きない。</a:t>
            </a:r>
          </a:p>
        </p:txBody>
      </p:sp>
      <p:pic>
        <p:nvPicPr>
          <p:cNvPr id="100741" name="Pic8" descr="図: 7/5 と 5/2 について、2ab の素因数と、論文で使った外の素数を並べた図。"/>
          <p:cNvPicPr>
            <a:picLocks xmlns:a="http://schemas.openxmlformats.org/drawingml/2006/main" noChangeAspect="1"/>
          </p:cNvPicPr>
          <p:nvPr/>
        </p:nvPicPr>
        <p:blipFill>
          <a:blip xmlns:r="http://schemas.openxmlformats.org/officeDocument/2006/relationships" xmlns:a="http://schemas.openxmlformats.org/drawingml/2006/main" r:embed="R4902a9a1456e4d1a"/>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742"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6</a:t>
            </a:r>
          </a:p>
        </p:txBody>
      </p:sp>
      <p:sp>
        <p:nvSpPr>
          <p:cNvPr id="100743"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Jacobsthal 関数</a:t>
            </a:r>
          </a:p>
        </p:txBody>
      </p:sp>
      <p:sp>
        <p:nvSpPr>
          <p:cNvPr id="100744"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79 / 99</a:t>
            </a:r>
          </a:p>
        </p:txBody>
      </p:sp>
      <p:sp>
        <p:nvSpPr>
          <p:cNvPr id="100745"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46"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47"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J(N) は「N と互いに素な数が現れるまで、最大で何個待てばよいか」を表します。</a:t>
            </a:r>
          </a:p>
        </p:txBody>
      </p:sp>
      <p:sp>
        <p:nvSpPr>
          <p:cNvPr id="100748" name="Term7"/>
          <p:cNvSpPr txBox="1"/>
          <p:nvPr/>
        </p:nvSpPr>
        <p:spPr>
          <a:xfrm xmlns:a="http://schemas.openxmlformats.org/drawingml/2006/main">
            <a:off x="457200" y="108000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Jacobsthal 関数 J(N)</a:t>
            </a:r>
          </a:p>
          <a:p xmlns:a="http://schemas.openxmlformats.org/drawingml/2006/main">
            <a:pPr algn="l">
              <a:lnSpc>
                <a:spcPct val="112000"/>
              </a:lnSpc>
              <a:spcBef>
                <a:spcPts val="200"/>
              </a:spcBef>
            </a:pPr>
            <a:r>
              <a:rPr lang="en-US" sz="1800" b="0">
                <a:solidFill>
                  <a:srgbClr val="1F2933"/>
                </a:solidFill>
                <a:latin typeface="Noto Sans JP"/>
                <a:ea typeface="Noto Sans JP"/>
              </a:rPr>
              <a:t>どの連続する J 個の整数の中にも、N と互いに素な数が必ずある、という最小の J。</a:t>
            </a:r>
          </a:p>
        </p:txBody>
      </p:sp>
      <p:sp>
        <p:nvSpPr>
          <p:cNvPr id="100749" name="Text8"/>
          <p:cNvSpPr txBox="1"/>
          <p:nvPr/>
        </p:nvSpPr>
        <p:spPr>
          <a:xfrm xmlns:a="http://schemas.openxmlformats.org/drawingml/2006/main">
            <a:off x="457200" y="2492640"/>
            <a:ext cx="524772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例: 15 と互いに素な数は 1, 2, 4, 7, 8, 11, 13, 14, … で、間隔の最大は 3（4 と 7、8 と 11）なので J(15) = 3。</a:t>
            </a:r>
          </a:p>
        </p:txBody>
      </p:sp>
      <p:pic>
        <p:nvPicPr>
          <p:cNvPr id="100750" name="Pic9" descr="数式: J(N)\ \le\ 3^{\,\omega(N)}"/>
          <p:cNvPicPr>
            <a:picLocks xmlns:a="http://schemas.openxmlformats.org/drawingml/2006/main" noChangeAspect="1"/>
          </p:cNvPicPr>
          <p:nvPr/>
        </p:nvPicPr>
        <p:blipFill>
          <a:blip xmlns:r="http://schemas.openxmlformats.org/officeDocument/2006/relationships" xmlns:a="http://schemas.openxmlformats.org/drawingml/2006/main" r:embed="R0fc61436cd6246d5"/>
          <a:stretch xmlns:a="http://schemas.openxmlformats.org/drawingml/2006/main">
            <a:fillRect/>
          </a:stretch>
        </p:blipFill>
        <p:spPr>
          <a:xfrm xmlns:a="http://schemas.openxmlformats.org/drawingml/2006/main">
            <a:off x="529200" y="3721320"/>
            <a:ext cx="1794240" cy="351360"/>
          </a:xfrm>
          <a:prstGeom xmlns:a="http://schemas.openxmlformats.org/drawingml/2006/main" prst="rect">
            <a:avLst/>
          </a:prstGeom>
        </p:spPr>
      </p:pic>
      <p:sp>
        <p:nvSpPr>
          <p:cNvPr id="100751" name="Text10"/>
          <p:cNvSpPr txBox="1"/>
          <p:nvPr/>
        </p:nvSpPr>
        <p:spPr>
          <a:xfrm xmlns:a="http://schemas.openxmlformats.org/drawingml/2006/main">
            <a:off x="457200" y="4206240"/>
            <a:ext cx="5247720" cy="981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spcBef>
                <a:spcPts val="600"/>
              </a:spcBef>
            </a:pPr>
            <a:r>
              <a:rPr lang="en-US" sz="1800" b="0">
                <a:solidFill>
                  <a:srgbClr val="4F5D6E"/>
                </a:solidFill>
                <a:latin typeface="Noto Sans JP"/>
                <a:ea typeface="Noto Sans JP"/>
              </a:rPr>
              <a:t>N は奇数で同じ素因数を2回もたない。ω(N) は異なる素因数の個数。</a:t>
            </a:r>
          </a:p>
        </p:txBody>
      </p:sp>
      <p:pic>
        <p:nvPicPr>
          <p:cNvPr id="100752" name="Pic11" descr="図: 1〜30 のうち 15 と互いに素な数を色付けし、互いに素でない数は最大2個しか続かないので J(15) = 3 であることを示す図。"/>
          <p:cNvPicPr>
            <a:picLocks xmlns:a="http://schemas.openxmlformats.org/drawingml/2006/main" noChangeAspect="1"/>
          </p:cNvPicPr>
          <p:nvPr/>
        </p:nvPicPr>
        <p:blipFill>
          <a:blip xmlns:r="http://schemas.openxmlformats.org/officeDocument/2006/relationships" xmlns:a="http://schemas.openxmlformats.org/drawingml/2006/main" r:embed="R5972793b25114b53"/>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753"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6</a:t>
            </a:r>
          </a:p>
        </p:txBody>
      </p:sp>
      <p:sp>
        <p:nvSpPr>
          <p:cNvPr id="100754"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外の素数の積の大きさ（定理44）</a:t>
            </a:r>
          </a:p>
        </p:txBody>
      </p:sp>
      <p:sp>
        <p:nvSpPr>
          <p:cNvPr id="100755"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80 / 99</a:t>
            </a:r>
          </a:p>
        </p:txBody>
      </p:sp>
      <p:sp>
        <p:nvSpPr>
          <p:cNvPr id="100756"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57"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58"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成功するには、外の素数の積 R が a の定数分の1（a/4, a/6 など）以上でなければなりません。</a:t>
            </a:r>
          </a:p>
        </p:txBody>
      </p:sp>
      <p:sp>
        <p:nvSpPr>
          <p:cNvPr id="100759" name="Text7"/>
          <p:cNvSpPr txBox="1"/>
          <p:nvPr/>
        </p:nvSpPr>
        <p:spPr>
          <a:xfrm xmlns:a="http://schemas.openxmlformats.org/drawingml/2006/main">
            <a:off x="457200" y="1080000"/>
            <a:ext cx="5247720" cy="973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N</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xml:space="preserve"> を ab を割る奇素数の積、R を外の素数の積とします。成功するには</a:t>
            </a:r>
          </a:p>
        </p:txBody>
      </p:sp>
      <p:pic>
        <p:nvPicPr>
          <p:cNvPr id="100760" name="Pic8" descr="数式: a\ \le\ 2R\,J(N_0)"/>
          <p:cNvPicPr>
            <a:picLocks xmlns:a="http://schemas.openxmlformats.org/drawingml/2006/main" noChangeAspect="1"/>
          </p:cNvPicPr>
          <p:nvPr/>
        </p:nvPicPr>
        <p:blipFill>
          <a:blip xmlns:r="http://schemas.openxmlformats.org/officeDocument/2006/relationships" xmlns:a="http://schemas.openxmlformats.org/drawingml/2006/main" r:embed="R91295bf3fe8640c7"/>
          <a:stretch xmlns:a="http://schemas.openxmlformats.org/drawingml/2006/main">
            <a:fillRect/>
          </a:stretch>
        </p:blipFill>
        <p:spPr>
          <a:xfrm xmlns:a="http://schemas.openxmlformats.org/drawingml/2006/main">
            <a:off x="529200" y="1961640"/>
            <a:ext cx="1731600" cy="304560"/>
          </a:xfrm>
          <a:prstGeom xmlns:a="http://schemas.openxmlformats.org/drawingml/2006/main" prst="rect">
            <a:avLst/>
          </a:prstGeom>
        </p:spPr>
      </p:pic>
      <p:sp>
        <p:nvSpPr>
          <p:cNvPr id="100761" name="Text9"/>
          <p:cNvSpPr txBox="1"/>
          <p:nvPr/>
        </p:nvSpPr>
        <p:spPr>
          <a:xfrm xmlns:a="http://schemas.openxmlformats.org/drawingml/2006/main">
            <a:off x="457200" y="2399400"/>
            <a:ext cx="5247720" cy="32706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が必要です。J(N</a:t>
            </a:r>
            <a:r>
              <a:rPr lang="en-US" sz="2000" b="0" baseline="-25000">
                <a:solidFill>
                  <a:srgbClr val="1F2933"/>
                </a:solidFill>
                <a:latin typeface="Noto Sans JP"/>
                <a:ea typeface="Noto Sans JP"/>
              </a:rPr>
              <a:t>0</a:t>
            </a:r>
            <a:r>
              <a:rPr lang="en-US" sz="2000" b="0">
                <a:solidFill>
                  <a:srgbClr val="1F2933"/>
                </a:solidFill>
                <a:latin typeface="Noto Sans JP"/>
                <a:ea typeface="Noto Sans JP"/>
              </a:rPr>
              <a:t>) は a に比べてとても小さいので、R は a とほぼ同じくらい大きくなければなりません（R ≥ a</a:t>
            </a:r>
            <a:r>
              <a:rPr lang="en-US" sz="2000" b="0" baseline="30000">
                <a:solidFill>
                  <a:srgbClr val="1F2933"/>
                </a:solidFill>
                <a:latin typeface="Noto Sans JP"/>
                <a:ea typeface="Noto Sans JP"/>
              </a:rPr>
              <a:t>1−o(1)</a:t>
            </a:r>
            <a:r>
              <a:rPr lang="en-US" sz="2000" b="0">
                <a:solidFill>
                  <a:srgbClr val="1F2933"/>
                </a:solidFill>
                <a:latin typeface="Noto Sans JP"/>
                <a:ea typeface="Noto Sans JP"/>
              </a:rPr>
              <a:t>）。</a:t>
            </a:r>
          </a:p>
          <a:p xmlns:a="http://schemas.openxmlformats.org/drawingml/2006/main">
            <a:pPr algn="l">
              <a:lnSpc>
                <a:spcPct val="112000"/>
              </a:lnSpc>
              <a:spcBef>
                <a:spcPts val="1000"/>
              </a:spcBef>
            </a:pPr>
            <a:r>
              <a:rPr lang="en-US" sz="2000" b="1">
                <a:solidFill>
                  <a:srgbClr val="1B2A41"/>
                </a:solidFill>
                <a:latin typeface="Noto Sans JP"/>
                <a:ea typeface="Noto Sans JP"/>
              </a:rPr>
              <a:t>例（系45）</a:t>
            </a:r>
          </a:p>
          <a:p xmlns:a="http://schemas.openxmlformats.org/drawingml/2006/main">
            <a:pPr marL="223200" indent="-223200" algn="l">
              <a:lnSpc>
                <a:spcPct val="112000"/>
              </a:lnSpc>
              <a:spcBef>
                <a:spcPts val="400"/>
              </a:spcBef>
              <a:buChar char="•"/>
            </a:pPr>
            <a:r>
              <a:rPr lang="en-US" sz="2000" b="0">
                <a:solidFill>
                  <a:srgbClr val="1F2933"/>
                </a:solidFill>
                <a:latin typeface="Noto Sans JP"/>
                <a:ea typeface="Noto Sans JP"/>
              </a:rPr>
              <a:t>a が奇素数、b = 2</a:t>
            </a:r>
            <a:r>
              <a:rPr lang="en-US" sz="2000" b="0" baseline="30000">
                <a:solidFill>
                  <a:srgbClr val="1F2933"/>
                </a:solidFill>
                <a:latin typeface="Noto Sans JP"/>
                <a:ea typeface="Noto Sans JP"/>
              </a:rPr>
              <a:t>s</a:t>
            </a:r>
            <a:r>
              <a:rPr lang="en-US" sz="2000" b="0">
                <a:solidFill>
                  <a:srgbClr val="1F2933"/>
                </a:solidFill>
                <a:latin typeface="Noto Sans JP"/>
                <a:ea typeface="Noto Sans JP"/>
              </a:rPr>
              <a:t>: R ≥ a/4</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a, b が異なる奇素数: R ≥ a/6</a:t>
            </a:r>
          </a:p>
          <a:p xmlns:a="http://schemas.openxmlformats.org/drawingml/2006/main">
            <a:pPr algn="l">
              <a:lnSpc>
                <a:spcPct val="112000"/>
              </a:lnSpc>
              <a:spcBef>
                <a:spcPts val="600"/>
              </a:spcBef>
            </a:pPr>
            <a:r>
              <a:rPr lang="en-US" sz="1800" b="0">
                <a:solidFill>
                  <a:srgbClr val="4F5D6E"/>
                </a:solidFill>
                <a:latin typeface="Noto Sans JP"/>
                <a:ea typeface="Noto Sans JP"/>
              </a:rPr>
              <a:t>7/5: N</a:t>
            </a:r>
            <a:r>
              <a:rPr lang="en-US" sz="1800" b="0" baseline="-25000">
                <a:solidFill>
                  <a:srgbClr val="4F5D6E"/>
                </a:solidFill>
                <a:latin typeface="Noto Sans JP"/>
                <a:ea typeface="Noto Sans JP"/>
              </a:rPr>
              <a:t>0</a:t>
            </a:r>
            <a:r>
              <a:rPr lang="en-US" sz="1800" b="0">
                <a:solidFill>
                  <a:srgbClr val="4F5D6E"/>
                </a:solidFill>
                <a:latin typeface="Noto Sans JP"/>
                <a:ea typeface="Noto Sans JP"/>
              </a:rPr>
              <a:t xml:space="preserve"> = 35, J(35) = 3 で 7 ≤ 6R。実際の R = 429 は下限よりずっと大きい。</a:t>
            </a:r>
          </a:p>
        </p:txBody>
      </p:sp>
      <p:pic>
        <p:nvPicPr>
          <p:cNvPr id="100762" name="Pic10" descr="図: 必要な R の下限 R = a/4 と R = a/6 の直線（各種類の比についての下限）と、7/5 の R = 429、5/2 の R ≈ 2.0 × 10^10 の点。"/>
          <p:cNvPicPr>
            <a:picLocks xmlns:a="http://schemas.openxmlformats.org/drawingml/2006/main" noChangeAspect="1"/>
          </p:cNvPicPr>
          <p:nvPr/>
        </p:nvPicPr>
        <p:blipFill>
          <a:blip xmlns:r="http://schemas.openxmlformats.org/officeDocument/2006/relationships" xmlns:a="http://schemas.openxmlformats.org/drawingml/2006/main" r:embed="Rf1ed1b18bc42429e"/>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81.xml><?xml version="1.0" encoding="utf-8"?>
<p:sld xmlns:p="http://schemas.openxmlformats.org/presentationml/2006/main">
  <p:cSld>
    <p:bg>
      <p:bgPr>
        <a:solidFill xmlns:a="http://schemas.openxmlformats.org/drawingml/2006/main">
          <a:srgbClr val="1B2A41"/>
        </a:solidFill>
      </p:bgPr>
    </p:bg>
    <p:spTree>
      <p:nvGrpSpPr>
        <p:cNvPr id="1" name=""/>
        <p:cNvGrpSpPr/>
        <p:nvPr/>
      </p:nvGrpSpPr>
      <p:grpSpPr/>
      <p:sp>
        <p:nvSpPr>
          <p:cNvPr id="100763" name="SecNum1"/>
          <p:cNvSpPr txBox="1"/>
          <p:nvPr/>
        </p:nvSpPr>
        <p:spPr>
          <a:xfrm xmlns:a="http://schemas.openxmlformats.org/drawingml/2006/main">
            <a:off x="792000" y="1080000"/>
            <a:ext cx="2160000" cy="1944000"/>
          </a:xfrm>
          <a:prstGeom xmlns:a="http://schemas.openxmlformats.org/drawingml/2006/main" prst="rect">
            <a:avLst/>
          </a:prstGeom>
          <a:noFill xmlns:a="http://schemas.openxmlformats.org/drawingml/2006/main"/>
        </p:spPr>
        <p:txBody>
          <a:bodyPr xmlns:a="http://schemas.openxmlformats.org/drawingml/2006/main" lIns="0" tIns="0" rIns="0" bIns="0" anchor="b">
            <a:noAutofit/>
          </a:bodyPr>
          <a:lstStyle xmlns:a="http://schemas.openxmlformats.org/drawingml/2006/main"/>
          <a:p xmlns:a="http://schemas.openxmlformats.org/drawingml/2006/main">
            <a:pPr algn="l">
              <a:lnSpc>
                <a:spcPct val="112000"/>
              </a:lnSpc>
            </a:pPr>
            <a:r>
              <a:rPr lang="en-US" sz="11000" b="1">
                <a:solidFill>
                  <a:srgbClr val="D97B1F"/>
                </a:solidFill>
                <a:latin typeface="Noto Sans JP"/>
                <a:ea typeface="Noto Sans JP"/>
              </a:rPr>
              <a:t>7</a:t>
            </a:r>
          </a:p>
        </p:txBody>
      </p:sp>
      <p:sp>
        <p:nvSpPr>
          <p:cNvPr id="100764" name="SecTitle2"/>
          <p:cNvSpPr txBox="1"/>
          <p:nvPr/>
        </p:nvSpPr>
        <p:spPr>
          <a:xfrm xmlns:a="http://schemas.openxmlformats.org/drawingml/2006/main">
            <a:off x="792000" y="3096000"/>
            <a:ext cx="10608120" cy="79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4000" b="1">
                <a:solidFill>
                  <a:srgbClr val="FFFFFF"/>
                </a:solidFill>
                <a:latin typeface="Noto Sans JP"/>
                <a:ea typeface="Noto Sans JP"/>
              </a:rPr>
              <a:t>検証と Lean</a:t>
            </a:r>
          </a:p>
        </p:txBody>
      </p:sp>
      <p:sp>
        <p:nvSpPr>
          <p:cNvPr id="100765" name="Text3"/>
          <p:cNvSpPr txBox="1"/>
          <p:nvPr/>
        </p:nvSpPr>
        <p:spPr>
          <a:xfrm xmlns:a="http://schemas.openxmlformats.org/drawingml/2006/main">
            <a:off x="792000" y="3996000"/>
            <a:ext cx="100321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FFFFFF"/>
                </a:solidFill>
                <a:latin typeface="Noto Sans JP"/>
                <a:ea typeface="Noto Sans JP"/>
              </a:rPr>
              <a:t>有限の計算をどう確かめたか。証明をどう機械で検査したか</a:t>
            </a:r>
          </a:p>
        </p:txBody>
      </p:sp>
      <p:sp>
        <p:nvSpPr>
          <p:cNvPr id="100766" name="PageNo4"/>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9FB0C3"/>
                </a:solidFill>
                <a:latin typeface="Noto Sans JP"/>
                <a:ea typeface="Noto Sans JP"/>
              </a:rPr>
              <a:t>81 / 99</a:t>
            </a:r>
          </a:p>
        </p:txBody>
      </p:sp>
    </p:spTree>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767"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7</a:t>
            </a:r>
          </a:p>
        </p:txBody>
      </p:sp>
      <p:sp>
        <p:nvSpPr>
          <p:cNvPr id="100768"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有限計算が確かめる8つのこと</a:t>
            </a:r>
          </a:p>
        </p:txBody>
      </p:sp>
      <p:sp>
        <p:nvSpPr>
          <p:cNvPr id="100769"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82 / 99</a:t>
            </a:r>
          </a:p>
        </p:txBody>
      </p:sp>
      <p:sp>
        <p:nvSpPr>
          <p:cNvPr id="100770"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71"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72"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件数の一致ではなく、すべての頂点・辺・成分で条件を確かめたことが根拠です。</a:t>
            </a:r>
          </a:p>
        </p:txBody>
      </p:sp>
      <p:pic>
        <p:nvPicPr>
          <p:cNvPr id="100773" name="Pic7" descr="図: 有限計算が確かめる8つの条件をカードで並べた図（初期状態、辺の完全性、途中のあまり、全文字の位相判定、ランク、保持、縮約、最後が空）。"/>
          <p:cNvPicPr>
            <a:picLocks xmlns:a="http://schemas.openxmlformats.org/drawingml/2006/main" noChangeAspect="1"/>
          </p:cNvPicPr>
          <p:nvPr/>
        </p:nvPicPr>
        <p:blipFill>
          <a:blip xmlns:r="http://schemas.openxmlformats.org/officeDocument/2006/relationships" xmlns:a="http://schemas.openxmlformats.org/drawingml/2006/main" r:embed="Rabf3f3cf251f4a97"/>
          <a:stretch xmlns:a="http://schemas.openxmlformats.org/drawingml/2006/main">
            <a:fillRect/>
          </a:stretch>
        </p:blipFill>
        <p:spPr>
          <a:xfrm xmlns:a="http://schemas.openxmlformats.org/drawingml/2006/main">
            <a:off x="462960" y="1062000"/>
            <a:ext cx="11265840" cy="2736000"/>
          </a:xfrm>
          <a:prstGeom xmlns:a="http://schemas.openxmlformats.org/drawingml/2006/main" prst="rect">
            <a:avLst/>
          </a:prstGeom>
        </p:spPr>
      </p:pic>
      <p:sp>
        <p:nvSpPr>
          <p:cNvPr id="100774" name="Text8"/>
          <p:cNvSpPr txBox="1"/>
          <p:nvPr/>
        </p:nvSpPr>
        <p:spPr>
          <a:xfrm xmlns:a="http://schemas.openxmlformats.org/drawingml/2006/main">
            <a:off x="457200" y="3960000"/>
            <a:ext cx="545868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表の件数は要約で、証明書そのものではありません。証明に必要なのは、これら8種類の条件をすべての要素で確かめることです。</a:t>
            </a:r>
          </a:p>
        </p:txBody>
      </p:sp>
      <p:sp>
        <p:nvSpPr>
          <p:cNvPr id="100775" name="Text9"/>
          <p:cNvSpPr txBox="1"/>
          <p:nvPr/>
        </p:nvSpPr>
        <p:spPr>
          <a:xfrm xmlns:a="http://schemas.openxmlformats.org/drawingml/2006/main">
            <a:off x="6275880" y="3960000"/>
            <a:ext cx="545868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SCC の分け方も、「ブロック内で行き来できる」「ブロック間に単調なランクがある」という条件で検査しました。</a:t>
            </a:r>
          </a:p>
        </p:txBody>
      </p:sp>
    </p:spTree>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776"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7</a:t>
            </a:r>
          </a:p>
        </p:txBody>
      </p:sp>
      <p:sp>
        <p:nvSpPr>
          <p:cNvPr id="100777"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独立に書いた2つの実装</a:t>
            </a:r>
          </a:p>
        </p:txBody>
      </p:sp>
      <p:sp>
        <p:nvSpPr>
          <p:cNvPr id="100778"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83 / 99</a:t>
            </a:r>
          </a:p>
        </p:txBody>
      </p:sp>
      <p:sp>
        <p:nvSpPr>
          <p:cNvPr id="100779"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80"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81"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別々に書いた2つのプログラムが、すべての要素で同じ結果を出しました。</a:t>
            </a:r>
          </a:p>
        </p:txBody>
      </p:sp>
      <p:sp>
        <p:nvSpPr>
          <p:cNvPr id="100782" name="Text7"/>
          <p:cNvSpPr txBox="1"/>
          <p:nvPr/>
        </p:nvSpPr>
        <p:spPr>
          <a:xfrm xmlns:a="http://schemas.openxmlformats.org/drawingml/2006/main">
            <a:off x="457200" y="1080000"/>
            <a:ext cx="5247720" cy="459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同じ計算を、中心部分を別々に書いた2つのプログラム（実装 A, B）で行いました。語ラベル法の B は別の担当者が仕様から作成。</a:t>
            </a:r>
          </a:p>
          <a:p xmlns:a="http://schemas.openxmlformats.org/drawingml/2006/main">
            <a:pPr marL="223200" indent="-223200" algn="l">
              <a:lnSpc>
                <a:spcPct val="112000"/>
              </a:lnSpc>
              <a:spcBef>
                <a:spcPts val="400"/>
              </a:spcBef>
              <a:buChar char="•"/>
            </a:pPr>
            <a:r>
              <a:rPr lang="en-US" sz="2000" b="0">
                <a:solidFill>
                  <a:srgbClr val="1F2933"/>
                </a:solidFill>
                <a:latin typeface="Noto Sans JP"/>
                <a:ea typeface="Noto Sans JP"/>
              </a:rPr>
              <a:t>計算の中心部分は共有しない。共有は入出力の形式と比較の決まりだけ。</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全要素を比較して不一致 0。1ステップ法: 97,772 頂点・168,474 辺・94,006 SCC。語ラベル法: 29 組のファイル。</a:t>
            </a:r>
          </a:p>
          <a:p xmlns:a="http://schemas.openxmlformats.org/drawingml/2006/main">
            <a:pPr algn="l">
              <a:lnSpc>
                <a:spcPct val="112000"/>
              </a:lnSpc>
              <a:spcBef>
                <a:spcPts val="600"/>
              </a:spcBef>
            </a:pPr>
            <a:r>
              <a:rPr lang="en-US" sz="1800" b="0">
                <a:solidFill>
                  <a:srgbClr val="4F5D6E"/>
                </a:solidFill>
                <a:latin typeface="Noto Sans JP"/>
                <a:ea typeface="Noto Sans JP"/>
              </a:rPr>
              <a:t>時間・メモリの上限に達した計算は「判定不能」とする決まり（採用した計算はすべて完了）。</a:t>
            </a:r>
          </a:p>
        </p:txBody>
      </p:sp>
      <p:pic>
        <p:nvPicPr>
          <p:cNvPr id="100783" name="Pic8" descr="図: 共通の仕様から実装 A と B を別々に作り、全要素を比較して不一致 0 になった、という流れ図。"/>
          <p:cNvPicPr>
            <a:picLocks xmlns:a="http://schemas.openxmlformats.org/drawingml/2006/main" noChangeAspect="1"/>
          </p:cNvPicPr>
          <p:nvPr/>
        </p:nvPicPr>
        <p:blipFill>
          <a:blip xmlns:r="http://schemas.openxmlformats.org/officeDocument/2006/relationships" xmlns:a="http://schemas.openxmlformats.org/drawingml/2006/main" r:embed="R578dcab9d96640e2"/>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784"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7</a:t>
            </a:r>
          </a:p>
        </p:txBody>
      </p:sp>
      <p:sp>
        <p:nvSpPr>
          <p:cNvPr id="100785"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Lean とは</a:t>
            </a:r>
          </a:p>
        </p:txBody>
      </p:sp>
      <p:sp>
        <p:nvSpPr>
          <p:cNvPr id="100786"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84 / 99</a:t>
            </a:r>
          </a:p>
        </p:txBody>
      </p:sp>
      <p:sp>
        <p:nvSpPr>
          <p:cNvPr id="100787"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88"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89"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Lean は、書かれた証明の各ステップを機械で検査し、使った前提（公理）まで表示できます。</a:t>
            </a:r>
          </a:p>
        </p:txBody>
      </p:sp>
      <p:sp>
        <p:nvSpPr>
          <p:cNvPr id="100790" name="Term7"/>
          <p:cNvSpPr txBox="1"/>
          <p:nvPr/>
        </p:nvSpPr>
        <p:spPr>
          <a:xfrm xmlns:a="http://schemas.openxmlformats.org/drawingml/2006/main">
            <a:off x="457200" y="1080000"/>
            <a:ext cx="5247720" cy="160992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定理証明支援系 Lean</a:t>
            </a:r>
          </a:p>
          <a:p xmlns:a="http://schemas.openxmlformats.org/drawingml/2006/main">
            <a:pPr algn="l">
              <a:lnSpc>
                <a:spcPct val="112000"/>
              </a:lnSpc>
              <a:spcBef>
                <a:spcPts val="200"/>
              </a:spcBef>
            </a:pPr>
            <a:r>
              <a:rPr lang="en-US" sz="1800" b="0">
                <a:solidFill>
                  <a:srgbClr val="1F2933"/>
                </a:solidFill>
                <a:latin typeface="Noto Sans JP"/>
                <a:ea typeface="Noto Sans JP"/>
              </a:rPr>
              <a:t>定義・定理・証明をプログラムのように書き、計算機が1ステップずつ正しさを検査するソフトウェア。</a:t>
            </a:r>
          </a:p>
        </p:txBody>
      </p:sp>
      <p:sp>
        <p:nvSpPr>
          <p:cNvPr id="100791" name="Term8"/>
          <p:cNvSpPr txBox="1"/>
          <p:nvPr/>
        </p:nvSpPr>
        <p:spPr>
          <a:xfrm xmlns:a="http://schemas.openxmlformats.org/drawingml/2006/main">
            <a:off x="457200" y="280512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カーネル</a:t>
            </a:r>
          </a:p>
          <a:p xmlns:a="http://schemas.openxmlformats.org/drawingml/2006/main">
            <a:pPr algn="l">
              <a:lnSpc>
                <a:spcPct val="112000"/>
              </a:lnSpc>
              <a:spcBef>
                <a:spcPts val="200"/>
              </a:spcBef>
            </a:pPr>
            <a:r>
              <a:rPr lang="en-US" sz="1800" b="0">
                <a:solidFill>
                  <a:srgbClr val="1F2933"/>
                </a:solidFill>
                <a:latin typeface="Noto Sans JP"/>
                <a:ea typeface="Noto Sans JP"/>
              </a:rPr>
              <a:t>Lean の中心の小さな検査プログラム。証明は最後にここで確かめられる。</a:t>
            </a:r>
          </a:p>
        </p:txBody>
      </p:sp>
      <p:sp>
        <p:nvSpPr>
          <p:cNvPr id="100792" name="Text9"/>
          <p:cNvSpPr txBox="1"/>
          <p:nvPr/>
        </p:nvSpPr>
        <p:spPr>
          <a:xfrm xmlns:a="http://schemas.openxmlformats.org/drawingml/2006/main">
            <a:off x="457200" y="4217760"/>
            <a:ext cx="5247720" cy="13827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公理: 証明せずに認める前提。標準は propext, Classical.choice, Quot.sound の3つ。</a:t>
            </a:r>
          </a:p>
        </p:txBody>
      </p:sp>
      <p:pic>
        <p:nvPicPr>
          <p:cNvPr id="100793" name="Pic10" descr="図: Lean の流れ図: .lean ファイル → コンパイル → カーネルが全ステップを検査 → 受理または拒否。#print axioms で公理を表示できる。"/>
          <p:cNvPicPr>
            <a:picLocks xmlns:a="http://schemas.openxmlformats.org/drawingml/2006/main" noChangeAspect="1"/>
          </p:cNvPicPr>
          <p:nvPr/>
        </p:nvPicPr>
        <p:blipFill>
          <a:blip xmlns:r="http://schemas.openxmlformats.org/officeDocument/2006/relationships" xmlns:a="http://schemas.openxmlformats.org/drawingml/2006/main" r:embed="Re474b74e41734f0a"/>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794"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7</a:t>
            </a:r>
          </a:p>
        </p:txBody>
      </p:sp>
      <p:sp>
        <p:nvSpPr>
          <p:cNvPr id="100795"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Lean の文を読む: 主定理 (i)</a:t>
            </a:r>
          </a:p>
        </p:txBody>
      </p:sp>
      <p:sp>
        <p:nvSpPr>
          <p:cNvPr id="100796"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85 / 99</a:t>
            </a:r>
          </a:p>
        </p:txBody>
      </p:sp>
      <p:sp>
        <p:nvSpPr>
          <p:cNvPr id="100797"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98"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799"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Lean の文は、論文の定理1 (i) と同じ量化子と同じ式をそのまま書いたものです。</a:t>
            </a:r>
          </a:p>
        </p:txBody>
      </p:sp>
      <p:pic>
        <p:nvPicPr>
          <p:cNvPr id="100800" name="Pic7" descr="コード引用: 主定理 (i) の Lean 文 floor_seven_fifths_visits（Main.lean 9–12 行）"/>
          <p:cNvPicPr>
            <a:picLocks xmlns:a="http://schemas.openxmlformats.org/drawingml/2006/main" noChangeAspect="1"/>
          </p:cNvPicPr>
          <p:nvPr/>
        </p:nvPicPr>
        <p:blipFill>
          <a:blip xmlns:r="http://schemas.openxmlformats.org/officeDocument/2006/relationships" xmlns:a="http://schemas.openxmlformats.org/drawingml/2006/main" r:embed="R1a7847436cdd4f64"/>
          <a:stretch xmlns:a="http://schemas.openxmlformats.org/drawingml/2006/main">
            <a:fillRect/>
          </a:stretch>
        </p:blipFill>
        <p:spPr>
          <a:xfrm xmlns:a="http://schemas.openxmlformats.org/drawingml/2006/main">
            <a:off x="457200" y="1080000"/>
            <a:ext cx="9296280" cy="1422360"/>
          </a:xfrm>
          <a:prstGeom xmlns:a="http://schemas.openxmlformats.org/drawingml/2006/main" prst="rect">
            <a:avLst/>
          </a:prstGeom>
        </p:spPr>
      </p:pic>
      <p:sp>
        <p:nvSpPr>
          <p:cNvPr id="100801" name="Text8"/>
          <p:cNvSpPr txBox="1"/>
          <p:nvPr/>
        </p:nvSpPr>
        <p:spPr>
          <a:xfrm xmlns:a="http://schemas.openxmlformats.org/drawingml/2006/main">
            <a:off x="457200" y="2617560"/>
            <a:ext cx="11277720" cy="233712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marL="223200" indent="-223200" algn="l">
              <a:lnSpc>
                <a:spcPct val="112000"/>
              </a:lnSpc>
              <a:buChar char="•"/>
            </a:pPr>
            <a:r>
              <a:rPr lang="en-US" sz="2000" b="0">
                <a:solidFill>
                  <a:srgbClr val="1F2933"/>
                </a:solidFill>
                <a:latin typeface="Noto Sans JP"/>
                <a:ea typeface="Noto Sans JP"/>
              </a:rPr>
              <a:t>(ξ : </a:t>
            </a:r>
            <a:r>
              <a:rPr lang="en-US" sz="2000" b="0">
                <a:solidFill>
                  <a:srgbClr val="1F2933"/>
                </a:solidFill>
                <a:latin typeface="Noto Sans Math"/>
                <a:ea typeface="Noto Sans Math"/>
              </a:rPr>
              <a:t>ℝ</a:t>
            </a:r>
            <a:r>
              <a:rPr lang="en-US" sz="2000" b="0">
                <a:solidFill>
                  <a:srgbClr val="1F2933"/>
                </a:solidFill>
                <a:latin typeface="Noto Sans JP"/>
                <a:ea typeface="Noto Sans JP"/>
              </a:rPr>
              <a:t xml:space="preserve">) (hξ : 0 &lt; ξ) (N : </a:t>
            </a:r>
            <a:r>
              <a:rPr lang="en-US" sz="2000" b="0">
                <a:solidFill>
                  <a:srgbClr val="1F2933"/>
                </a:solidFill>
                <a:latin typeface="Noto Sans Math"/>
                <a:ea typeface="Noto Sans Math"/>
              </a:rPr>
              <a:t>ℕ</a:t>
            </a:r>
            <a:r>
              <a:rPr lang="en-US" sz="2000" b="0">
                <a:solidFill>
                  <a:srgbClr val="1F2933"/>
                </a:solidFill>
                <a:latin typeface="Noto Sans JP"/>
                <a:ea typeface="Noto Sans JP"/>
              </a:rPr>
              <a:t>): 「任意の正の実数 ξ と自然数 N について」</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 n : </a:t>
            </a:r>
            <a:r>
              <a:rPr lang="en-US" sz="2000" b="0">
                <a:solidFill>
                  <a:srgbClr val="1F2933"/>
                </a:solidFill>
                <a:latin typeface="Noto Sans Math"/>
                <a:ea typeface="Noto Sans Math"/>
              </a:rPr>
              <a:t>ℕ</a:t>
            </a:r>
            <a:r>
              <a:rPr lang="en-US" sz="2000" b="0">
                <a:solidFill>
                  <a:srgbClr val="1F2933"/>
                </a:solidFill>
                <a:latin typeface="Noto Sans JP"/>
                <a:ea typeface="Noto Sans JP"/>
              </a:rPr>
              <a:t>, max N 1 ≤ n ∧ …: 「n ≥ max(N,1) となる n が存在して…」</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1 &lt; Int.gcd </a:t>
            </a:r>
            <a:r>
              <a:rPr lang="en-US" sz="2000" b="0">
                <a:solidFill>
                  <a:srgbClr val="1F2933"/>
                </a:solidFill>
                <a:latin typeface="Noto Sans Math"/>
                <a:ea typeface="Noto Sans Math"/>
              </a:rPr>
              <a:t>⌊</a:t>
            </a:r>
            <a:r>
              <a:rPr lang="en-US" sz="2000" b="0">
                <a:solidFill>
                  <a:srgbClr val="1F2933"/>
                </a:solidFill>
                <a:latin typeface="Noto Sans JP"/>
                <a:ea typeface="Noto Sans JP"/>
              </a:rPr>
              <a:t xml:space="preserve">ξ * (7 / 5 : </a:t>
            </a:r>
            <a:r>
              <a:rPr lang="en-US" sz="2000" b="0">
                <a:solidFill>
                  <a:srgbClr val="1F2933"/>
                </a:solidFill>
                <a:latin typeface="Noto Sans Math"/>
                <a:ea typeface="Noto Sans Math"/>
              </a:rPr>
              <a:t>ℝ</a:t>
            </a:r>
            <a:r>
              <a:rPr lang="en-US" sz="2000" b="0">
                <a:solidFill>
                  <a:srgbClr val="1F2933"/>
                </a:solidFill>
                <a:latin typeface="Noto Sans JP"/>
                <a:ea typeface="Noto Sans JP"/>
              </a:rPr>
              <a:t>) ^ n</a:t>
            </a:r>
            <a:r>
              <a:rPr lang="en-US" sz="2000" b="0">
                <a:solidFill>
                  <a:srgbClr val="1F2933"/>
                </a:solidFill>
                <a:latin typeface="Noto Sans Math"/>
                <a:ea typeface="Noto Sans Math"/>
              </a:rPr>
              <a:t>⌋</a:t>
            </a:r>
            <a:r>
              <a:rPr lang="en-US" sz="2000" b="0">
                <a:solidFill>
                  <a:srgbClr val="1F2933"/>
                </a:solidFill>
                <a:latin typeface="Noto Sans JP"/>
                <a:ea typeface="Noto Sans JP"/>
              </a:rPr>
              <a:t xml:space="preserve"> 4290: 「gcd(</a:t>
            </a:r>
            <a:r>
              <a:rPr lang="en-US" sz="2000" b="0">
                <a:solidFill>
                  <a:srgbClr val="1F2933"/>
                </a:solidFill>
                <a:latin typeface="Noto Sans Math"/>
                <a:ea typeface="Noto Sans Math"/>
              </a:rPr>
              <a:t>⌊</a:t>
            </a:r>
            <a:r>
              <a:rPr lang="en-US" sz="2000" b="0">
                <a:solidFill>
                  <a:srgbClr val="1F2933"/>
                </a:solidFill>
                <a:latin typeface="Noto Sans JP"/>
                <a:ea typeface="Noto Sans JP"/>
              </a:rPr>
              <a:t>ξ(7/5)</a:t>
            </a:r>
            <a:r>
              <a:rPr lang="en-US" sz="2000" b="0" baseline="30000">
                <a:solidFill>
                  <a:srgbClr val="1F2933"/>
                </a:solidFill>
                <a:latin typeface="Noto Sans JP"/>
                <a:ea typeface="Noto Sans JP"/>
              </a:rPr>
              <a:t>n</a:t>
            </a:r>
            <a:r>
              <a:rPr lang="en-US" sz="2000" b="0">
                <a:solidFill>
                  <a:srgbClr val="1F2933"/>
                </a:solidFill>
                <a:latin typeface="Noto Sans Math"/>
                <a:ea typeface="Noto Sans Math"/>
              </a:rPr>
              <a:t>⌋</a:t>
            </a:r>
            <a:r>
              <a:rPr lang="en-US" sz="2000" b="0">
                <a:solidFill>
                  <a:srgbClr val="1F2933"/>
                </a:solidFill>
                <a:latin typeface="Noto Sans JP"/>
                <a:ea typeface="Noto Sans JP"/>
              </a:rPr>
              <a:t>, 4290) &gt; 1」</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mainFiniteSuccess: 4 段の有限計算を Lean で表した証明書。finite_success_visits は定理10に当たる。</a:t>
            </a:r>
          </a:p>
        </p:txBody>
      </p:sp>
    </p:spTree>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802"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7</a:t>
            </a:r>
          </a:p>
        </p:txBody>
      </p:sp>
      <p:sp>
        <p:nvSpPr>
          <p:cNvPr id="100803"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1ステップ証明の検査</a:t>
            </a:r>
          </a:p>
        </p:txBody>
      </p:sp>
      <p:sp>
        <p:nvSpPr>
          <p:cNvPr id="100804"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86 / 99</a:t>
            </a:r>
          </a:p>
        </p:txBody>
      </p:sp>
      <p:sp>
        <p:nvSpPr>
          <p:cNvPr id="100805"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06"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07"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比 7/5 の1ステップ証明は、有限の検査も含めて全部 Lean のカーネルで確かめられています。</a:t>
            </a:r>
          </a:p>
        </p:txBody>
      </p:sp>
      <p:sp>
        <p:nvSpPr>
          <p:cNvPr id="100808" name="Text7"/>
          <p:cNvSpPr txBox="1"/>
          <p:nvPr/>
        </p:nvSpPr>
        <p:spPr>
          <a:xfrm xmlns:a="http://schemas.openxmlformats.org/drawingml/2006/main">
            <a:off x="457200" y="1080000"/>
            <a:ext cx="5247720" cy="355104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有限の検査は、Bool（真か偽か）を返す関数で書きます。</a:t>
            </a:r>
          </a:p>
          <a:p xmlns:a="http://schemas.openxmlformats.org/drawingml/2006/main">
            <a:pPr algn="l">
              <a:lnSpc>
                <a:spcPct val="112000"/>
              </a:lnSpc>
              <a:spcBef>
                <a:spcPts val="400"/>
              </a:spcBef>
            </a:pPr>
            <a:r>
              <a:rPr lang="en-US" sz="2000" b="0">
                <a:solidFill>
                  <a:srgbClr val="1F2933"/>
                </a:solidFill>
                <a:latin typeface="Noto Sans JP"/>
                <a:ea typeface="Noto Sans JP"/>
              </a:rPr>
              <a:t>大きな検査を小さな部分に分け、各部分を decide +kernel（カーネル自身に計算させる方法）で証明し、結合の補題でつなぎます。</a:t>
            </a:r>
          </a:p>
          <a:p xmlns:a="http://schemas.openxmlformats.org/drawingml/2006/main">
            <a:pPr algn="l">
              <a:lnSpc>
                <a:spcPct val="112000"/>
              </a:lnSpc>
              <a:spcBef>
                <a:spcPts val="400"/>
              </a:spcBef>
            </a:pPr>
            <a:r>
              <a:rPr lang="en-US" sz="2000" b="0">
                <a:solidFill>
                  <a:srgbClr val="1F2933"/>
                </a:solidFill>
                <a:latin typeface="Noto Sans JP"/>
                <a:ea typeface="Noto Sans JP"/>
              </a:rPr>
              <a:t>辺の一覧が完全であることも仮定せず、Lean の中で証明しています。</a:t>
            </a:r>
          </a:p>
        </p:txBody>
      </p:sp>
      <p:pic>
        <p:nvPicPr>
          <p:cNvPr id="100809" name="Pic8" descr="図: 模式図: 全体の検査を小さな部分に分け、各部分を decide +kernel で証明して結合の補題で組み立てる木。"/>
          <p:cNvPicPr>
            <a:picLocks xmlns:a="http://schemas.openxmlformats.org/drawingml/2006/main" noChangeAspect="1"/>
          </p:cNvPicPr>
          <p:nvPr/>
        </p:nvPicPr>
        <p:blipFill>
          <a:blip xmlns:r="http://schemas.openxmlformats.org/officeDocument/2006/relationships" xmlns:a="http://schemas.openxmlformats.org/drawingml/2006/main" r:embed="Ra1c4718a2ddb4f5a"/>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810"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7</a:t>
            </a:r>
          </a:p>
        </p:txBody>
      </p:sp>
      <p:sp>
        <p:nvSpPr>
          <p:cNvPr id="100811"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decide +kernel と公理の実出力</a:t>
            </a:r>
          </a:p>
        </p:txBody>
      </p:sp>
      <p:sp>
        <p:nvSpPr>
          <p:cNvPr id="100812"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87 / 99</a:t>
            </a:r>
          </a:p>
        </p:txBody>
      </p:sp>
      <p:sp>
        <p:nvSpPr>
          <p:cNvPr id="100813"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14"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15"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比 7/5 の1ステップ証明が頼る前提は、Lean の標準の3公理だけです。</a:t>
            </a:r>
          </a:p>
        </p:txBody>
      </p:sp>
      <p:sp>
        <p:nvSpPr>
          <p:cNvPr id="100816" name="Text7"/>
          <p:cNvSpPr txBox="1"/>
          <p:nvPr/>
        </p:nvSpPr>
        <p:spPr>
          <a:xfrm xmlns:a="http://schemas.openxmlformats.org/drawingml/2006/main">
            <a:off x="457200" y="1080000"/>
            <a:ext cx="112777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有限検査の1つ（実際のファイルから引用）</a:t>
            </a:r>
          </a:p>
        </p:txBody>
      </p:sp>
      <p:pic>
        <p:nvPicPr>
          <p:cNvPr id="100817" name="Pic8" descr="コード引用: 有限検査の1つ: decide +kernel で Bool の検査を証明（Verify0_00.lean 7–8 行）"/>
          <p:cNvPicPr>
            <a:picLocks xmlns:a="http://schemas.openxmlformats.org/drawingml/2006/main" noChangeAspect="1"/>
          </p:cNvPicPr>
          <p:nvPr/>
        </p:nvPicPr>
        <p:blipFill>
          <a:blip xmlns:r="http://schemas.openxmlformats.org/officeDocument/2006/relationships" xmlns:a="http://schemas.openxmlformats.org/drawingml/2006/main" r:embed="R6a371b6c193a49ad"/>
          <a:stretch xmlns:a="http://schemas.openxmlformats.org/drawingml/2006/main">
            <a:fillRect/>
          </a:stretch>
        </p:blipFill>
        <p:spPr>
          <a:xfrm xmlns:a="http://schemas.openxmlformats.org/drawingml/2006/main">
            <a:off x="457200" y="1596240"/>
            <a:ext cx="11130120" cy="833040"/>
          </a:xfrm>
          <a:prstGeom xmlns:a="http://schemas.openxmlformats.org/drawingml/2006/main" prst="rect">
            <a:avLst/>
          </a:prstGeom>
        </p:spPr>
      </p:pic>
      <p:sp>
        <p:nvSpPr>
          <p:cNvPr id="100818" name="Text9"/>
          <p:cNvSpPr txBox="1"/>
          <p:nvPr/>
        </p:nvSpPr>
        <p:spPr>
          <a:xfrm xmlns:a="http://schemas.openxmlformats.org/drawingml/2006/main">
            <a:off x="457200" y="2544840"/>
            <a:ext cx="112777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#print axioms の実際の出力（定理1 (i) と系2の 7/5 の部分）</a:t>
            </a:r>
          </a:p>
        </p:txBody>
      </p:sp>
      <p:pic>
        <p:nvPicPr>
          <p:cNvPr id="100819" name="Pic10" descr="コード引用: #print axioms の実出力: 主定理 (i) と系は標準の3公理だけに依存（axioms-full.txt 29–30 行）"/>
          <p:cNvPicPr>
            <a:picLocks xmlns:a="http://schemas.openxmlformats.org/drawingml/2006/main" noChangeAspect="1"/>
          </p:cNvPicPr>
          <p:nvPr/>
        </p:nvPicPr>
        <p:blipFill>
          <a:blip xmlns:r="http://schemas.openxmlformats.org/officeDocument/2006/relationships" xmlns:a="http://schemas.openxmlformats.org/drawingml/2006/main" r:embed="Rfde18bd27d8f446d"/>
          <a:stretch xmlns:a="http://schemas.openxmlformats.org/drawingml/2006/main">
            <a:fillRect/>
          </a:stretch>
        </p:blipFill>
        <p:spPr>
          <a:xfrm xmlns:a="http://schemas.openxmlformats.org/drawingml/2006/main">
            <a:off x="457200" y="3061080"/>
            <a:ext cx="8803800" cy="1422360"/>
          </a:xfrm>
          <a:prstGeom xmlns:a="http://schemas.openxmlformats.org/drawingml/2006/main" prst="rect">
            <a:avLst/>
          </a:prstGeom>
        </p:spPr>
      </p:pic>
      <p:sp>
        <p:nvSpPr>
          <p:cNvPr id="100820" name="Text11"/>
          <p:cNvSpPr txBox="1"/>
          <p:nvPr/>
        </p:nvSpPr>
        <p:spPr>
          <a:xfrm xmlns:a="http://schemas.openxmlformats.org/drawingml/2006/main">
            <a:off x="457200" y="4598640"/>
            <a:ext cx="11277720" cy="1188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spcBef>
                <a:spcPts val="600"/>
              </a:spcBef>
            </a:pPr>
            <a:r>
              <a:rPr lang="en-US" sz="1800" b="0">
                <a:solidFill>
                  <a:srgbClr val="4F5D6E"/>
                </a:solidFill>
                <a:latin typeface="Noto Sans JP"/>
                <a:ea typeface="Noto Sans JP"/>
              </a:rPr>
              <a:t>↪ は画像内の折り返しの印（実際の出力は各1行）。</a:t>
            </a:r>
          </a:p>
          <a:p xmlns:a="http://schemas.openxmlformats.org/drawingml/2006/main">
            <a:pPr marL="223200" indent="-223200" algn="l">
              <a:lnSpc>
                <a:spcPct val="112000"/>
              </a:lnSpc>
              <a:spcBef>
                <a:spcPts val="400"/>
              </a:spcBef>
              <a:buChar char="•"/>
            </a:pPr>
            <a:r>
              <a:rPr lang="en-US" sz="2000" b="0">
                <a:solidFill>
                  <a:srgbClr val="1F2933"/>
                </a:solidFill>
                <a:latin typeface="Noto Sans JP"/>
                <a:ea typeface="Noto Sans JP"/>
              </a:rPr>
              <a:t>公理は標準の3つだけ。sorry（証明の穴）や独自の公理はない。独立の監査で 79 モジュールを作り直し、60 個の宣言を確認。</a:t>
            </a:r>
          </a:p>
        </p:txBody>
      </p:sp>
    </p:spTree>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821"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7</a:t>
            </a:r>
          </a:p>
        </p:txBody>
      </p:sp>
      <p:sp>
        <p:nvSpPr>
          <p:cNvPr id="100822"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語ラベル法の検査と追加の信頼</a:t>
            </a:r>
          </a:p>
        </p:txBody>
      </p:sp>
      <p:sp>
        <p:nvSpPr>
          <p:cNvPr id="100823"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88 / 99</a:t>
            </a:r>
          </a:p>
        </p:txBody>
      </p:sp>
      <p:sp>
        <p:nvSpPr>
          <p:cNvPr id="100824"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25"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26"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比 5/2 の証明は、Lean のカーネルに加えて、Lean のコンパイラとネイティブ実行を信頼します。</a:t>
            </a:r>
          </a:p>
        </p:txBody>
      </p:sp>
      <p:sp>
        <p:nvSpPr>
          <p:cNvPr id="100827" name="Text7"/>
          <p:cNvSpPr txBox="1"/>
          <p:nvPr/>
        </p:nvSpPr>
        <p:spPr>
          <a:xfrm xmlns:a="http://schemas.openxmlformats.org/drawingml/2006/main">
            <a:off x="457200" y="1080000"/>
            <a:ext cx="5247720" cy="396072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語ラベル法の計算は、Lean の中に書いた関数 wordPipeline を実行して確かめます。</a:t>
            </a:r>
          </a:p>
          <a:p xmlns:a="http://schemas.openxmlformats.org/drawingml/2006/main">
            <a:pPr algn="l">
              <a:lnSpc>
                <a:spcPct val="112000"/>
              </a:lnSpc>
              <a:spcBef>
                <a:spcPts val="400"/>
              </a:spcBef>
            </a:pPr>
            <a:r>
              <a:rPr lang="en-US" sz="2000" b="0">
                <a:solidFill>
                  <a:srgbClr val="1F2933"/>
                </a:solidFill>
                <a:latin typeface="Noto Sans JP"/>
                <a:ea typeface="Noto Sans JP"/>
              </a:rPr>
              <a:t>wordPipeline が true なら定理19の仮定が成り立つこと（wordPipeline_sound）は、カーネルで検査済みです。</a:t>
            </a:r>
          </a:p>
          <a:p xmlns:a="http://schemas.openxmlformats.org/drawingml/2006/main">
            <a:pPr algn="l">
              <a:lnSpc>
                <a:spcPct val="112000"/>
              </a:lnSpc>
              <a:spcBef>
                <a:spcPts val="400"/>
              </a:spcBef>
            </a:pPr>
            <a:r>
              <a:rPr lang="en-US" sz="2000" b="0">
                <a:solidFill>
                  <a:srgbClr val="1F2933"/>
                </a:solidFill>
                <a:latin typeface="Noto Sans JP"/>
                <a:ea typeface="Noto Sans JP"/>
              </a:rPr>
              <a:t>true になることの確認は native_decide で行います。これは計算を機械語にコンパイルして実行する方法で、Lean のコンパイラとネイティブ実行を追加で信頼します。</a:t>
            </a:r>
          </a:p>
        </p:txBody>
      </p:sp>
      <p:pic>
        <p:nvPicPr>
          <p:cNvPr id="100828" name="Pic8" descr="図: 信頼の範囲の図: 内側はカーネルで検査したもの、外側は追加で信頼する Lean のコンパイラとネイティブ実行、枠の外は信頼しないもの。"/>
          <p:cNvPicPr>
            <a:picLocks xmlns:a="http://schemas.openxmlformats.org/drawingml/2006/main" noChangeAspect="1"/>
          </p:cNvPicPr>
          <p:nvPr/>
        </p:nvPicPr>
        <p:blipFill>
          <a:blip xmlns:r="http://schemas.openxmlformats.org/officeDocument/2006/relationships" xmlns:a="http://schemas.openxmlformats.org/drawingml/2006/main" r:embed="R01b898196b974f62"/>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829"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7</a:t>
            </a:r>
          </a:p>
        </p:txBody>
      </p:sp>
      <p:sp>
        <p:nvSpPr>
          <p:cNvPr id="100830"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native_decide と公理の実出力</a:t>
            </a:r>
          </a:p>
        </p:txBody>
      </p:sp>
      <p:sp>
        <p:nvSpPr>
          <p:cNvPr id="100831"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89 / 99</a:t>
            </a:r>
          </a:p>
        </p:txBody>
      </p:sp>
      <p:sp>
        <p:nvSpPr>
          <p:cNvPr id="100832"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33"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34"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比 5/2 の証明は、標準の3公理と、ネイティブ評価の結果を表す1つの公理に依存します。</a:t>
            </a:r>
          </a:p>
        </p:txBody>
      </p:sp>
      <p:sp>
        <p:nvSpPr>
          <p:cNvPr id="100835" name="Text7"/>
          <p:cNvSpPr txBox="1"/>
          <p:nvPr/>
        </p:nvSpPr>
        <p:spPr>
          <a:xfrm xmlns:a="http://schemas.openxmlformats.org/drawingml/2006/main">
            <a:off x="457200" y="1080000"/>
            <a:ext cx="112777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比 5/2 の有限評価（実際のファイルから引用）</a:t>
            </a:r>
          </a:p>
        </p:txBody>
      </p:sp>
      <p:pic>
        <p:nvPicPr>
          <p:cNvPr id="100836" name="Pic8" descr="コード引用: 比 5/2 の有限評価 five_halves_ok（native_decide、FiveHalves.lean 16–18 行）"/>
          <p:cNvPicPr>
            <a:picLocks xmlns:a="http://schemas.openxmlformats.org/drawingml/2006/main" noChangeAspect="1"/>
          </p:cNvPicPr>
          <p:nvPr/>
        </p:nvPicPr>
        <p:blipFill>
          <a:blip xmlns:r="http://schemas.openxmlformats.org/officeDocument/2006/relationships" xmlns:a="http://schemas.openxmlformats.org/drawingml/2006/main" r:embed="R750a9c5e19d2444a"/>
          <a:stretch xmlns:a="http://schemas.openxmlformats.org/drawingml/2006/main">
            <a:fillRect/>
          </a:stretch>
        </p:blipFill>
        <p:spPr>
          <a:xfrm xmlns:a="http://schemas.openxmlformats.org/drawingml/2006/main">
            <a:off x="457200" y="1596240"/>
            <a:ext cx="10149840" cy="1127880"/>
          </a:xfrm>
          <a:prstGeom xmlns:a="http://schemas.openxmlformats.org/drawingml/2006/main" prst="rect">
            <a:avLst/>
          </a:prstGeom>
        </p:spPr>
      </p:pic>
      <p:sp>
        <p:nvSpPr>
          <p:cNvPr id="100837" name="Text9"/>
          <p:cNvSpPr txBox="1"/>
          <p:nvPr/>
        </p:nvSpPr>
        <p:spPr>
          <a:xfrm xmlns:a="http://schemas.openxmlformats.org/drawingml/2006/main">
            <a:off x="457200" y="2839320"/>
            <a:ext cx="112777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#print axioms の実際の出力（定理1 (ii)）</a:t>
            </a:r>
          </a:p>
        </p:txBody>
      </p:sp>
      <p:pic>
        <p:nvPicPr>
          <p:cNvPr id="100838" name="Pic10" descr="コード引用: #print axioms の実出力: 主定理 (ii) は native_decide が生成した公理にも依存（axioms-word.txt 64–67 行）"/>
          <p:cNvPicPr>
            <a:picLocks xmlns:a="http://schemas.openxmlformats.org/drawingml/2006/main" noChangeAspect="1"/>
          </p:cNvPicPr>
          <p:nvPr/>
        </p:nvPicPr>
        <p:blipFill>
          <a:blip xmlns:r="http://schemas.openxmlformats.org/officeDocument/2006/relationships" xmlns:a="http://schemas.openxmlformats.org/drawingml/2006/main" r:embed="R60dce2d78653468b"/>
          <a:stretch xmlns:a="http://schemas.openxmlformats.org/drawingml/2006/main">
            <a:fillRect/>
          </a:stretch>
        </p:blipFill>
        <p:spPr>
          <a:xfrm xmlns:a="http://schemas.openxmlformats.org/drawingml/2006/main">
            <a:off x="457200" y="3355560"/>
            <a:ext cx="8193960" cy="1422360"/>
          </a:xfrm>
          <a:prstGeom xmlns:a="http://schemas.openxmlformats.org/drawingml/2006/main" prst="rect">
            <a:avLst/>
          </a:prstGeom>
        </p:spPr>
      </p:pic>
      <p:sp>
        <p:nvSpPr>
          <p:cNvPr id="100839" name="Text11"/>
          <p:cNvSpPr txBox="1"/>
          <p:nvPr/>
        </p:nvSpPr>
        <p:spPr>
          <a:xfrm xmlns:a="http://schemas.openxmlformats.org/drawingml/2006/main">
            <a:off x="457200" y="4893480"/>
            <a:ext cx="11277720" cy="77652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marL="223200" indent="-223200" algn="l">
              <a:lnSpc>
                <a:spcPct val="112000"/>
              </a:lnSpc>
              <a:buChar char="•"/>
            </a:pPr>
            <a:r>
              <a:rPr lang="en-US" sz="2000" b="0">
                <a:solidFill>
                  <a:srgbClr val="1F2933"/>
                </a:solidFill>
                <a:latin typeface="Noto Sans JP"/>
                <a:ea typeface="Noto Sans JP"/>
              </a:rPr>
              <a:t>標準の3公理に加えて native_decide が生成した公理が1つ入る。独立の監査で 14 モジュールを作り直し、評価を再実行し、46 個の宣言を確認。</a:t>
            </a:r>
          </a:p>
        </p:txBody>
      </p:sp>
    </p:spTree>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840"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7</a:t>
            </a:r>
          </a:p>
        </p:txBody>
      </p:sp>
      <p:sp>
        <p:nvSpPr>
          <p:cNvPr id="100841"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Lean が保証する範囲</a:t>
            </a:r>
          </a:p>
        </p:txBody>
      </p:sp>
      <p:sp>
        <p:nvSpPr>
          <p:cNvPr id="100842"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90 / 99</a:t>
            </a:r>
          </a:p>
        </p:txBody>
      </p:sp>
      <p:sp>
        <p:nvSpPr>
          <p:cNvPr id="100843"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44"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45"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Lean は主定理と系を保証します。他は論文の証明と独立な計算が根拠です。</a:t>
            </a:r>
          </a:p>
        </p:txBody>
      </p:sp>
      <p:sp>
        <p:nvSpPr>
          <p:cNvPr id="100846" name="Text7"/>
          <p:cNvSpPr txBox="1"/>
          <p:nvPr/>
        </p:nvSpPr>
        <p:spPr>
          <a:xfrm xmlns:a="http://schemas.openxmlformats.org/drawingml/2006/main">
            <a:off x="457200" y="1080000"/>
            <a:ext cx="5458680" cy="40356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Lean で確かめたこと</a:t>
            </a:r>
          </a:p>
          <a:p xmlns:a="http://schemas.openxmlformats.org/drawingml/2006/main">
            <a:pPr marL="223200" indent="-223200" algn="l">
              <a:lnSpc>
                <a:spcPct val="112000"/>
              </a:lnSpc>
              <a:spcBef>
                <a:spcPts val="400"/>
              </a:spcBef>
              <a:buChar char="•"/>
            </a:pPr>
            <a:r>
              <a:rPr lang="en-US" sz="2000" b="0">
                <a:solidFill>
                  <a:srgbClr val="1F2933"/>
                </a:solidFill>
                <a:latin typeface="Noto Sans JP"/>
                <a:ea typeface="Noto Sans JP"/>
              </a:rPr>
              <a:t>定理1 (i) と (ii)、系2（7/5 と 5/2）の結論。</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7/5 の1ステップ証明: カーネルのみ（標準の3公理）。</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5/2 と 7/5 の語ラベル法の証明: カーネル ＋ native_decide。</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辺の列挙の完全性、補題4、命題5、除去・縮約・持ち上げの健全性。</a:t>
            </a:r>
          </a:p>
        </p:txBody>
      </p:sp>
      <p:sp>
        <p:nvSpPr>
          <p:cNvPr id="100847" name="Text8"/>
          <p:cNvSpPr txBox="1"/>
          <p:nvPr/>
        </p:nvSpPr>
        <p:spPr>
          <a:xfrm xmlns:a="http://schemas.openxmlformats.org/drawingml/2006/main">
            <a:off x="6275880" y="1080000"/>
            <a:ext cx="5458680" cy="362592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Lean の外（論文の証明と A/B 計算で確かめた）</a:t>
            </a:r>
          </a:p>
          <a:p xmlns:a="http://schemas.openxmlformats.org/drawingml/2006/main">
            <a:pPr marL="223200" indent="-223200" algn="l">
              <a:lnSpc>
                <a:spcPct val="112000"/>
              </a:lnSpc>
              <a:spcBef>
                <a:spcPts val="400"/>
              </a:spcBef>
              <a:buChar char="•"/>
            </a:pPr>
            <a:r>
              <a:rPr lang="en-US" sz="2000" b="0">
                <a:solidFill>
                  <a:srgbClr val="1F2933"/>
                </a:solidFill>
                <a:latin typeface="Noto Sans JP"/>
                <a:ea typeface="Noto Sans JP"/>
              </a:rPr>
              <a:t>ブロックが SCC であること、h が最短距離であること、d が gcd であること。</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表の件数や出力の語。</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定理3（待ち時間）と表7、第6章（範囲と障害）、付録の結果。</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定理21・系22、補題18 など一部の補題。</a:t>
            </a:r>
          </a:p>
        </p:txBody>
      </p:sp>
    </p:spTree>
  </p:cSld>
</p:sld>
</file>

<file path=ppt/slides/slide91.xml><?xml version="1.0" encoding="utf-8"?>
<p:sld xmlns:p="http://schemas.openxmlformats.org/presentationml/2006/main">
  <p:cSld>
    <p:bg>
      <p:bgPr>
        <a:solidFill xmlns:a="http://schemas.openxmlformats.org/drawingml/2006/main">
          <a:srgbClr val="1B2A41"/>
        </a:solidFill>
      </p:bgPr>
    </p:bg>
    <p:spTree>
      <p:nvGrpSpPr>
        <p:cNvPr id="1" name=""/>
        <p:cNvGrpSpPr/>
        <p:nvPr/>
      </p:nvGrpSpPr>
      <p:grpSpPr/>
      <p:sp>
        <p:nvSpPr>
          <p:cNvPr id="100848" name="SecNum1"/>
          <p:cNvSpPr txBox="1"/>
          <p:nvPr/>
        </p:nvSpPr>
        <p:spPr>
          <a:xfrm xmlns:a="http://schemas.openxmlformats.org/drawingml/2006/main">
            <a:off x="792000" y="1080000"/>
            <a:ext cx="2160000" cy="1944000"/>
          </a:xfrm>
          <a:prstGeom xmlns:a="http://schemas.openxmlformats.org/drawingml/2006/main" prst="rect">
            <a:avLst/>
          </a:prstGeom>
          <a:noFill xmlns:a="http://schemas.openxmlformats.org/drawingml/2006/main"/>
        </p:spPr>
        <p:txBody>
          <a:bodyPr xmlns:a="http://schemas.openxmlformats.org/drawingml/2006/main" lIns="0" tIns="0" rIns="0" bIns="0" anchor="b">
            <a:noAutofit/>
          </a:bodyPr>
          <a:lstStyle xmlns:a="http://schemas.openxmlformats.org/drawingml/2006/main"/>
          <a:p xmlns:a="http://schemas.openxmlformats.org/drawingml/2006/main">
            <a:pPr algn="l">
              <a:lnSpc>
                <a:spcPct val="112000"/>
              </a:lnSpc>
            </a:pPr>
            <a:r>
              <a:rPr lang="en-US" sz="11000" b="1">
                <a:solidFill>
                  <a:srgbClr val="D97B1F"/>
                </a:solidFill>
                <a:latin typeface="Noto Sans JP"/>
                <a:ea typeface="Noto Sans JP"/>
              </a:rPr>
              <a:t>8</a:t>
            </a:r>
          </a:p>
        </p:txBody>
      </p:sp>
      <p:sp>
        <p:nvSpPr>
          <p:cNvPr id="100849" name="SecTitle2"/>
          <p:cNvSpPr txBox="1"/>
          <p:nvPr/>
        </p:nvSpPr>
        <p:spPr>
          <a:xfrm xmlns:a="http://schemas.openxmlformats.org/drawingml/2006/main">
            <a:off x="792000" y="3096000"/>
            <a:ext cx="10608120" cy="792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4000" b="1">
                <a:solidFill>
                  <a:srgbClr val="FFFFFF"/>
                </a:solidFill>
                <a:latin typeface="Noto Sans JP"/>
                <a:ea typeface="Noto Sans JP"/>
              </a:rPr>
              <a:t>追加の結果と未解決問題</a:t>
            </a:r>
          </a:p>
        </p:txBody>
      </p:sp>
      <p:sp>
        <p:nvSpPr>
          <p:cNvPr id="100850" name="Text3"/>
          <p:cNvSpPr txBox="1"/>
          <p:nvPr/>
        </p:nvSpPr>
        <p:spPr>
          <a:xfrm xmlns:a="http://schemas.openxmlformats.org/drawingml/2006/main">
            <a:off x="792000" y="3996000"/>
            <a:ext cx="10032120" cy="5634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FFFFFF"/>
                </a:solidFill>
                <a:latin typeface="Noto Sans JP"/>
                <a:ea typeface="Noto Sans JP"/>
              </a:rPr>
              <a:t>付録にある結果と、まだ分かっていないこと</a:t>
            </a:r>
          </a:p>
        </p:txBody>
      </p:sp>
      <p:sp>
        <p:nvSpPr>
          <p:cNvPr id="100851" name="PageNo4"/>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9FB0C3"/>
                </a:solidFill>
                <a:latin typeface="Noto Sans JP"/>
                <a:ea typeface="Noto Sans JP"/>
              </a:rPr>
              <a:t>91 / 99</a:t>
            </a:r>
          </a:p>
        </p:txBody>
      </p:sp>
    </p:spTree>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852"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8</a:t>
            </a:r>
          </a:p>
        </p:txBody>
      </p:sp>
      <p:sp>
        <p:nvSpPr>
          <p:cNvPr id="100853"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再帰的な繰り上がり（定理46）</a:t>
            </a:r>
          </a:p>
        </p:txBody>
      </p:sp>
      <p:sp>
        <p:nvSpPr>
          <p:cNvPr id="100854"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92 / 99</a:t>
            </a:r>
          </a:p>
        </p:txBody>
      </p:sp>
      <p:sp>
        <p:nvSpPr>
          <p:cNvPr id="100855"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56"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57"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繰り上がりが再帰的なら、合成数が無限に現れることが証明できます。</a:t>
            </a:r>
          </a:p>
        </p:txBody>
      </p:sp>
      <p:sp>
        <p:nvSpPr>
          <p:cNvPr id="100858" name="Term7"/>
          <p:cNvSpPr txBox="1"/>
          <p:nvPr/>
        </p:nvSpPr>
        <p:spPr>
          <a:xfrm xmlns:a="http://schemas.openxmlformats.org/drawingml/2006/main">
            <a:off x="457200" y="1080000"/>
            <a:ext cx="5247720" cy="1297440"/>
          </a:xfrm>
          <a:prstGeom xmlns:a="http://schemas.openxmlformats.org/drawingml/2006/main" prst="rect">
            <a:avLst/>
          </a:prstGeom>
          <a:solidFill xmlns:a="http://schemas.openxmlformats.org/drawingml/2006/main">
            <a:srgbClr val="F6E3CF"/>
          </a:solidFill>
          <a:ln xmlns:a="http://schemas.openxmlformats.org/drawingml/2006/main">
            <a:noFill/>
          </a:ln>
        </p:spPr>
        <p:txBody>
          <a:bodyPr xmlns:a="http://schemas.openxmlformats.org/drawingml/2006/main" lIns="108000" tIns="108000" rIns="108000" bIns="108000" anchor="t">
            <a:noAutofit/>
          </a:bodyPr>
          <a:lstStyle xmlns:a="http://schemas.openxmlformats.org/drawingml/2006/main"/>
          <a:p xmlns:a="http://schemas.openxmlformats.org/drawingml/2006/main">
            <a:pPr algn="l">
              <a:lnSpc>
                <a:spcPct val="112000"/>
              </a:lnSpc>
            </a:pPr>
            <a:r>
              <a:rPr lang="en-US" sz="1400" b="1">
                <a:solidFill>
                  <a:srgbClr val="8A4A0F"/>
                </a:solidFill>
                <a:latin typeface="Noto Sans JP"/>
                <a:ea typeface="Noto Sans JP"/>
              </a:rPr>
              <a:t>新しい言葉　</a:t>
            </a:r>
            <a:r>
              <a:rPr lang="en-US" sz="1800" b="1">
                <a:solidFill>
                  <a:srgbClr val="1B2A41"/>
                </a:solidFill>
                <a:latin typeface="Noto Sans JP"/>
                <a:ea typeface="Noto Sans JP"/>
              </a:rPr>
              <a:t>再帰的な語</a:t>
            </a:r>
          </a:p>
          <a:p xmlns:a="http://schemas.openxmlformats.org/drawingml/2006/main">
            <a:pPr algn="l">
              <a:lnSpc>
                <a:spcPct val="112000"/>
              </a:lnSpc>
              <a:spcBef>
                <a:spcPts val="200"/>
              </a:spcBef>
            </a:pPr>
            <a:r>
              <a:rPr lang="en-US" sz="1800" b="0">
                <a:solidFill>
                  <a:srgbClr val="1F2933"/>
                </a:solidFill>
                <a:latin typeface="Noto Sans JP"/>
                <a:ea typeface="Noto Sans JP"/>
              </a:rPr>
              <a:t>どの長さの先頭部分も、後ろでまた何度でも現れる無限の語。</a:t>
            </a:r>
          </a:p>
        </p:txBody>
      </p:sp>
      <p:sp>
        <p:nvSpPr>
          <p:cNvPr id="100859" name="Text8"/>
          <p:cNvSpPr txBox="1"/>
          <p:nvPr/>
        </p:nvSpPr>
        <p:spPr>
          <a:xfrm xmlns:a="http://schemas.openxmlformats.org/drawingml/2006/main">
            <a:off x="457200" y="2492640"/>
            <a:ext cx="5247720" cy="31773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定理46</a:t>
            </a:r>
          </a:p>
          <a:p xmlns:a="http://schemas.openxmlformats.org/drawingml/2006/main">
            <a:pPr algn="l">
              <a:lnSpc>
                <a:spcPct val="112000"/>
              </a:lnSpc>
              <a:spcBef>
                <a:spcPts val="400"/>
              </a:spcBef>
            </a:pPr>
            <a:r>
              <a:rPr lang="en-US" sz="2000" b="0">
                <a:solidFill>
                  <a:srgbClr val="1F2933"/>
                </a:solidFill>
                <a:latin typeface="Noto Sans JP"/>
                <a:ea typeface="Noto Sans JP"/>
              </a:rPr>
              <a:t>繰り上がりの列のある所から先が再帰的なら、Q</a:t>
            </a:r>
            <a:r>
              <a:rPr lang="en-US" sz="2000" b="0" baseline="-25000">
                <a:solidFill>
                  <a:srgbClr val="1F2933"/>
                </a:solidFill>
                <a:latin typeface="Noto Sans JP"/>
                <a:ea typeface="Noto Sans JP"/>
              </a:rPr>
              <a:t>n</a:t>
            </a:r>
            <a:r>
              <a:rPr lang="en-US" sz="2000" b="0">
                <a:solidFill>
                  <a:srgbClr val="1F2933"/>
                </a:solidFill>
                <a:latin typeface="Noto Sans JP"/>
                <a:ea typeface="Noto Sans JP"/>
              </a:rPr>
              <a:t xml:space="preserve"> に合成数が無限にあります（その部分の Q</a:t>
            </a:r>
            <a:r>
              <a:rPr lang="en-US" sz="2000" b="0" baseline="-25000">
                <a:solidFill>
                  <a:srgbClr val="1F2933"/>
                </a:solidFill>
                <a:latin typeface="Noto Sans JP"/>
                <a:ea typeface="Noto Sans JP"/>
              </a:rPr>
              <a:t>j</a:t>
            </a:r>
            <a:r>
              <a:rPr lang="en-US" sz="2000" b="0">
                <a:solidFill>
                  <a:srgbClr val="1F2933"/>
                </a:solidFill>
                <a:latin typeface="Noto Sans JP"/>
                <a:ea typeface="Noto Sans JP"/>
              </a:rPr>
              <a:t xml:space="preserve"> が Q</a:t>
            </a:r>
            <a:r>
              <a:rPr lang="en-US" sz="2000" b="0" baseline="-25000">
                <a:solidFill>
                  <a:srgbClr val="1F2933"/>
                </a:solidFill>
                <a:latin typeface="Noto Sans JP"/>
                <a:ea typeface="Noto Sans JP"/>
              </a:rPr>
              <a:t>j</a:t>
            </a:r>
            <a:r>
              <a:rPr lang="en-US" sz="2000" b="0">
                <a:solidFill>
                  <a:srgbClr val="1F2933"/>
                </a:solidFill>
                <a:latin typeface="Noto Sans JP"/>
                <a:ea typeface="Noto Sans JP"/>
              </a:rPr>
              <a:t xml:space="preserve"> &gt; 1 で ab と互いに素なら、後の項を無限に割り切る）。</a:t>
            </a:r>
          </a:p>
          <a:p xmlns:a="http://schemas.openxmlformats.org/drawingml/2006/main">
            <a:pPr algn="l">
              <a:lnSpc>
                <a:spcPct val="112000"/>
              </a:lnSpc>
              <a:spcBef>
                <a:spcPts val="1000"/>
              </a:spcBef>
            </a:pPr>
            <a:r>
              <a:rPr lang="en-US" sz="2000" b="1">
                <a:solidFill>
                  <a:srgbClr val="1B2A41"/>
                </a:solidFill>
                <a:latin typeface="Noto Sans JP"/>
                <a:ea typeface="Noto Sans JP"/>
              </a:rPr>
              <a:t>系51</a:t>
            </a:r>
          </a:p>
          <a:p xmlns:a="http://schemas.openxmlformats.org/drawingml/2006/main">
            <a:pPr algn="l">
              <a:lnSpc>
                <a:spcPct val="112000"/>
              </a:lnSpc>
              <a:spcBef>
                <a:spcPts val="400"/>
              </a:spcBef>
            </a:pPr>
            <a:r>
              <a:rPr lang="en-US" sz="2000" b="0">
                <a:solidFill>
                  <a:srgbClr val="1F2933"/>
                </a:solidFill>
                <a:latin typeface="Noto Sans JP"/>
                <a:ea typeface="Noto Sans JP"/>
              </a:rPr>
              <a:t>先の項がすべて素数なら、繰り上がりはどこから先も再帰的でない。</a:t>
            </a:r>
          </a:p>
        </p:txBody>
      </p:sp>
      <p:pic>
        <p:nvPicPr>
          <p:cNvPr id="100860" name="Pic9" descr="図: 再帰的な語の例（同じ並びが何度も現れる）と、再帰的でない語の例（1 0 1 0 0 1 0 0 0 1 …）の比較。"/>
          <p:cNvPicPr>
            <a:picLocks xmlns:a="http://schemas.openxmlformats.org/drawingml/2006/main" noChangeAspect="1"/>
          </p:cNvPicPr>
          <p:nvPr/>
        </p:nvPicPr>
        <p:blipFill>
          <a:blip xmlns:r="http://schemas.openxmlformats.org/officeDocument/2006/relationships" xmlns:a="http://schemas.openxmlformats.org/drawingml/2006/main" r:embed="R24837756e2434ce5"/>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861"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8</a:t>
            </a:r>
          </a:p>
        </p:txBody>
      </p:sp>
      <p:sp>
        <p:nvSpPr>
          <p:cNvPr id="100862"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有限の高さまでの結果（定理47）</a:t>
            </a:r>
          </a:p>
        </p:txBody>
      </p:sp>
      <p:sp>
        <p:nvSpPr>
          <p:cNvPr id="100863"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93 / 99</a:t>
            </a:r>
          </a:p>
        </p:txBody>
      </p:sp>
      <p:sp>
        <p:nvSpPr>
          <p:cNvPr id="100864"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65"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66"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6/5 と 9/7 では、</a:t>
            </a:r>
            <a:r>
              <a:rPr lang="en-US" sz="1800" b="0">
                <a:solidFill>
                  <a:srgbClr val="1F2933"/>
                </a:solidFill>
                <a:latin typeface="Noto Sans Math"/>
                <a:ea typeface="Noto Sans Math"/>
              </a:rPr>
              <a:t>⌊</a:t>
            </a:r>
            <a:r>
              <a:rPr lang="en-US" sz="1800" b="0">
                <a:solidFill>
                  <a:srgbClr val="1F2933"/>
                </a:solidFill>
                <a:latin typeface="Noto Sans JP"/>
                <a:ea typeface="Noto Sans JP"/>
              </a:rPr>
              <a:t>ξ</a:t>
            </a:r>
            <a:r>
              <a:rPr lang="en-US" sz="1800" b="0">
                <a:solidFill>
                  <a:srgbClr val="1F2933"/>
                </a:solidFill>
                <a:latin typeface="Noto Sans Math"/>
                <a:ea typeface="Noto Sans Math"/>
              </a:rPr>
              <a:t>⌋</a:t>
            </a:r>
            <a:r>
              <a:rPr lang="en-US" sz="1800" b="0">
                <a:solidFill>
                  <a:srgbClr val="1F2933"/>
                </a:solidFill>
                <a:latin typeface="Noto Sans JP"/>
                <a:ea typeface="Noto Sans JP"/>
              </a:rPr>
              <a:t xml:space="preserve"> が決まった高さ以下なら、早い番号で合成数が出ます。</a:t>
            </a:r>
          </a:p>
        </p:txBody>
      </p:sp>
      <p:sp>
        <p:nvSpPr>
          <p:cNvPr id="100867" name="Text7"/>
          <p:cNvSpPr txBox="1"/>
          <p:nvPr/>
        </p:nvSpPr>
        <p:spPr>
          <a:xfrm xmlns:a="http://schemas.openxmlformats.org/drawingml/2006/main">
            <a:off x="457200" y="1080000"/>
            <a:ext cx="5247720" cy="459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定理47</a:t>
            </a:r>
          </a:p>
          <a:p xmlns:a="http://schemas.openxmlformats.org/drawingml/2006/main">
            <a:pPr algn="l">
              <a:lnSpc>
                <a:spcPct val="112000"/>
              </a:lnSpc>
              <a:spcBef>
                <a:spcPts val="400"/>
              </a:spcBef>
            </a:pPr>
            <a:r>
              <a:rPr lang="en-US" sz="2000" b="0">
                <a:solidFill>
                  <a:srgbClr val="1F2933"/>
                </a:solidFill>
                <a:latin typeface="Noto Sans JP"/>
                <a:ea typeface="Noto Sans JP"/>
              </a:rPr>
              <a:t>(a) 6 &lt; </a:t>
            </a:r>
            <a:r>
              <a:rPr lang="en-US" sz="2000" b="0">
                <a:solidFill>
                  <a:srgbClr val="1F2933"/>
                </a:solidFill>
                <a:latin typeface="Noto Sans Math"/>
                <a:ea typeface="Noto Sans Math"/>
              </a:rPr>
              <a:t>⌊</a:t>
            </a:r>
            <a:r>
              <a:rPr lang="en-US" sz="2000" b="0">
                <a:solidFill>
                  <a:srgbClr val="1F2933"/>
                </a:solidFill>
                <a:latin typeface="Noto Sans JP"/>
                <a:ea typeface="Noto Sans JP"/>
              </a:rPr>
              <a:t>ξ</a:t>
            </a:r>
            <a:r>
              <a:rPr lang="en-US" sz="2000" b="0">
                <a:solidFill>
                  <a:srgbClr val="1F2933"/>
                </a:solidFill>
                <a:latin typeface="Noto Sans Math"/>
                <a:ea typeface="Noto Sans Math"/>
              </a:rPr>
              <a:t>⌋</a:t>
            </a:r>
            <a:r>
              <a:rPr lang="en-US" sz="2000" b="0">
                <a:solidFill>
                  <a:srgbClr val="1F2933"/>
                </a:solidFill>
                <a:latin typeface="Noto Sans JP"/>
                <a:ea typeface="Noto Sans JP"/>
              </a:rPr>
              <a:t xml:space="preserve"> ≤ 5</a:t>
            </a:r>
            <a:r>
              <a:rPr lang="en-US" sz="2000" b="0" baseline="30000">
                <a:solidFill>
                  <a:srgbClr val="1F2933"/>
                </a:solidFill>
                <a:latin typeface="Noto Sans JP"/>
                <a:ea typeface="Noto Sans JP"/>
              </a:rPr>
              <a:t>40</a:t>
            </a:r>
            <a:r>
              <a:rPr lang="en-US" sz="2000" b="0">
                <a:solidFill>
                  <a:srgbClr val="1F2933"/>
                </a:solidFill>
                <a:latin typeface="Noto Sans JP"/>
                <a:ea typeface="Noto Sans JP"/>
              </a:rPr>
              <a:t xml:space="preserve"> なら、ある 0 ≤ j ≤ 40 で </a:t>
            </a:r>
            <a:r>
              <a:rPr lang="en-US" sz="2000" b="0">
                <a:solidFill>
                  <a:srgbClr val="1F2933"/>
                </a:solidFill>
                <a:latin typeface="Noto Sans Math"/>
                <a:ea typeface="Noto Sans Math"/>
              </a:rPr>
              <a:t>⌊</a:t>
            </a:r>
            <a:r>
              <a:rPr lang="en-US" sz="2000" b="0">
                <a:solidFill>
                  <a:srgbClr val="1F2933"/>
                </a:solidFill>
                <a:latin typeface="Noto Sans JP"/>
                <a:ea typeface="Noto Sans JP"/>
              </a:rPr>
              <a:t>ξ(6/5)</a:t>
            </a:r>
            <a:r>
              <a:rPr lang="en-US" sz="2000" b="0" baseline="30000">
                <a:solidFill>
                  <a:srgbClr val="1F2933"/>
                </a:solidFill>
                <a:latin typeface="Noto Sans JP"/>
                <a:ea typeface="Noto Sans JP"/>
              </a:rPr>
              <a:t>j</a:t>
            </a:r>
            <a:r>
              <a:rPr lang="en-US" sz="2000" b="0">
                <a:solidFill>
                  <a:srgbClr val="1F2933"/>
                </a:solidFill>
                <a:latin typeface="Noto Sans Math"/>
                <a:ea typeface="Noto Sans Math"/>
              </a:rPr>
              <a:t>⌋</a:t>
            </a:r>
            <a:r>
              <a:rPr lang="en-US" sz="2000" b="0">
                <a:solidFill>
                  <a:srgbClr val="1F2933"/>
                </a:solidFill>
                <a:latin typeface="Noto Sans JP"/>
                <a:ea typeface="Noto Sans JP"/>
              </a:rPr>
              <a:t xml:space="preserve"> は合成数。</a:t>
            </a:r>
          </a:p>
          <a:p xmlns:a="http://schemas.openxmlformats.org/drawingml/2006/main">
            <a:pPr algn="l">
              <a:lnSpc>
                <a:spcPct val="112000"/>
              </a:lnSpc>
              <a:spcBef>
                <a:spcPts val="400"/>
              </a:spcBef>
            </a:pPr>
            <a:r>
              <a:rPr lang="en-US" sz="2000" b="0">
                <a:solidFill>
                  <a:srgbClr val="1F2933"/>
                </a:solidFill>
                <a:latin typeface="Noto Sans JP"/>
                <a:ea typeface="Noto Sans JP"/>
              </a:rPr>
              <a:t>(b) 9 &lt; </a:t>
            </a:r>
            <a:r>
              <a:rPr lang="en-US" sz="2000" b="0">
                <a:solidFill>
                  <a:srgbClr val="1F2933"/>
                </a:solidFill>
                <a:latin typeface="Noto Sans Math"/>
                <a:ea typeface="Noto Sans Math"/>
              </a:rPr>
              <a:t>⌊</a:t>
            </a:r>
            <a:r>
              <a:rPr lang="en-US" sz="2000" b="0">
                <a:solidFill>
                  <a:srgbClr val="1F2933"/>
                </a:solidFill>
                <a:latin typeface="Noto Sans JP"/>
                <a:ea typeface="Noto Sans JP"/>
              </a:rPr>
              <a:t>ξ</a:t>
            </a:r>
            <a:r>
              <a:rPr lang="en-US" sz="2000" b="0">
                <a:solidFill>
                  <a:srgbClr val="1F2933"/>
                </a:solidFill>
                <a:latin typeface="Noto Sans Math"/>
                <a:ea typeface="Noto Sans Math"/>
              </a:rPr>
              <a:t>⌋</a:t>
            </a:r>
            <a:r>
              <a:rPr lang="en-US" sz="2000" b="0">
                <a:solidFill>
                  <a:srgbClr val="1F2933"/>
                </a:solidFill>
                <a:latin typeface="Noto Sans JP"/>
                <a:ea typeface="Noto Sans JP"/>
              </a:rPr>
              <a:t xml:space="preserve"> ≤ 7</a:t>
            </a:r>
            <a:r>
              <a:rPr lang="en-US" sz="2000" b="0" baseline="30000">
                <a:solidFill>
                  <a:srgbClr val="1F2933"/>
                </a:solidFill>
                <a:latin typeface="Noto Sans JP"/>
                <a:ea typeface="Noto Sans JP"/>
              </a:rPr>
              <a:t>18</a:t>
            </a:r>
            <a:r>
              <a:rPr lang="en-US" sz="2000" b="0">
                <a:solidFill>
                  <a:srgbClr val="1F2933"/>
                </a:solidFill>
                <a:latin typeface="Noto Sans JP"/>
                <a:ea typeface="Noto Sans JP"/>
              </a:rPr>
              <a:t xml:space="preserve"> なら、ある 0 ≤ j ≤ 18 で </a:t>
            </a:r>
            <a:r>
              <a:rPr lang="en-US" sz="2000" b="0">
                <a:solidFill>
                  <a:srgbClr val="1F2933"/>
                </a:solidFill>
                <a:latin typeface="Noto Sans Math"/>
                <a:ea typeface="Noto Sans Math"/>
              </a:rPr>
              <a:t>⌊</a:t>
            </a:r>
            <a:r>
              <a:rPr lang="en-US" sz="2000" b="0">
                <a:solidFill>
                  <a:srgbClr val="1F2933"/>
                </a:solidFill>
                <a:latin typeface="Noto Sans JP"/>
                <a:ea typeface="Noto Sans JP"/>
              </a:rPr>
              <a:t>ξ(9/7)</a:t>
            </a:r>
            <a:r>
              <a:rPr lang="en-US" sz="2000" b="0" baseline="30000">
                <a:solidFill>
                  <a:srgbClr val="1F2933"/>
                </a:solidFill>
                <a:latin typeface="Noto Sans JP"/>
                <a:ea typeface="Noto Sans JP"/>
              </a:rPr>
              <a:t>j</a:t>
            </a:r>
            <a:r>
              <a:rPr lang="en-US" sz="2000" b="0">
                <a:solidFill>
                  <a:srgbClr val="1F2933"/>
                </a:solidFill>
                <a:latin typeface="Noto Sans Math"/>
                <a:ea typeface="Noto Sans Math"/>
              </a:rPr>
              <a:t>⌋</a:t>
            </a:r>
            <a:r>
              <a:rPr lang="en-US" sz="2000" b="0">
                <a:solidFill>
                  <a:srgbClr val="1F2933"/>
                </a:solidFill>
                <a:latin typeface="Noto Sans JP"/>
                <a:ea typeface="Noto Sans JP"/>
              </a:rPr>
              <a:t xml:space="preserve"> は合成数。</a:t>
            </a:r>
          </a:p>
          <a:p xmlns:a="http://schemas.openxmlformats.org/drawingml/2006/main">
            <a:pPr algn="l">
              <a:lnSpc>
                <a:spcPct val="112000"/>
              </a:lnSpc>
              <a:spcBef>
                <a:spcPts val="400"/>
              </a:spcBef>
            </a:pPr>
            <a:r>
              <a:rPr lang="en-US" sz="2000" b="0">
                <a:solidFill>
                  <a:srgbClr val="1F2933"/>
                </a:solidFill>
                <a:latin typeface="Noto Sans JP"/>
                <a:ea typeface="Noto Sans JP"/>
              </a:rPr>
              <a:t>方法: 最初の 40 ステップ（または 18 ステップ）の繰り上がりの語を全部並べ（6/5 で 3,955,763 通り）、各語から最初の整数を復元して調べる「語の篩」。</a:t>
            </a:r>
          </a:p>
          <a:p xmlns:a="http://schemas.openxmlformats.org/drawingml/2006/main">
            <a:pPr algn="l">
              <a:lnSpc>
                <a:spcPct val="112000"/>
              </a:lnSpc>
              <a:spcBef>
                <a:spcPts val="600"/>
              </a:spcBef>
            </a:pPr>
            <a:r>
              <a:rPr lang="en-US" sz="1800" b="0">
                <a:solidFill>
                  <a:srgbClr val="4F5D6E"/>
                </a:solidFill>
                <a:latin typeface="Noto Sans JP"/>
                <a:ea typeface="Noto Sans JP"/>
              </a:rPr>
              <a:t>種: 語から逆算した最初の整数の候補（偶数なら合成数）。根の判定: あまりの条件から途中の項が合成数と分かる候補を除く。</a:t>
            </a:r>
          </a:p>
        </p:txBody>
      </p:sp>
      <p:pic>
        <p:nvPicPr>
          <p:cNvPr id="100868" name="Pic8" descr="図: 定理47の範囲: 6/5 では ⌊ξ⌋ が 5^40 まで、9/7 では 7^18 まで。語の篩の件数も併記。"/>
          <p:cNvPicPr>
            <a:picLocks xmlns:a="http://schemas.openxmlformats.org/drawingml/2006/main" noChangeAspect="1"/>
          </p:cNvPicPr>
          <p:nvPr/>
        </p:nvPicPr>
        <p:blipFill>
          <a:blip xmlns:r="http://schemas.openxmlformats.org/officeDocument/2006/relationships" xmlns:a="http://schemas.openxmlformats.org/drawingml/2006/main" r:embed="R3fae8b572f104029"/>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869"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8</a:t>
            </a:r>
          </a:p>
        </p:txBody>
      </p:sp>
      <p:sp>
        <p:nvSpPr>
          <p:cNvPr id="100870"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比の族 (6t+3)/(6t+1) と停止問題</a:t>
            </a:r>
          </a:p>
        </p:txBody>
      </p:sp>
      <p:sp>
        <p:nvSpPr>
          <p:cNvPr id="100871"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94 / 99</a:t>
            </a:r>
          </a:p>
        </p:txBody>
      </p:sp>
      <p:sp>
        <p:nvSpPr>
          <p:cNvPr id="100872"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73"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74"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この族では、無限の主張が「整数のプログラムが必ず止まるか」という問題と同じになります。</a:t>
            </a:r>
          </a:p>
        </p:txBody>
      </p:sp>
      <p:sp>
        <p:nvSpPr>
          <p:cNvPr id="100875" name="Text7"/>
          <p:cNvSpPr txBox="1"/>
          <p:nvPr/>
        </p:nvSpPr>
        <p:spPr>
          <a:xfrm xmlns:a="http://schemas.openxmlformats.org/drawingml/2006/main">
            <a:off x="457200" y="1080000"/>
            <a:ext cx="5247720" cy="459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0">
                <a:solidFill>
                  <a:srgbClr val="1F2933"/>
                </a:solidFill>
                <a:latin typeface="Noto Sans JP"/>
                <a:ea typeface="Noto Sans JP"/>
              </a:rPr>
              <a:t>9/7, 15/13, 21/19, … の族では、2 と 3 で割り切れない項が続くと、次の項は1通りに決まります（命題55）。</a:t>
            </a:r>
          </a:p>
          <a:p xmlns:a="http://schemas.openxmlformats.org/drawingml/2006/main">
            <a:pPr algn="l">
              <a:lnSpc>
                <a:spcPct val="112000"/>
              </a:lnSpc>
              <a:spcBef>
                <a:spcPts val="1000"/>
              </a:spcBef>
            </a:pPr>
            <a:r>
              <a:rPr lang="en-US" sz="2000" b="1">
                <a:solidFill>
                  <a:srgbClr val="1B2A41"/>
                </a:solidFill>
                <a:latin typeface="Noto Sans JP"/>
                <a:ea typeface="Noto Sans JP"/>
              </a:rPr>
              <a:t>定理58</a:t>
            </a:r>
          </a:p>
          <a:p xmlns:a="http://schemas.openxmlformats.org/drawingml/2006/main">
            <a:pPr algn="l">
              <a:lnSpc>
                <a:spcPct val="112000"/>
              </a:lnSpc>
              <a:spcBef>
                <a:spcPts val="400"/>
              </a:spcBef>
            </a:pPr>
            <a:r>
              <a:rPr lang="en-US" sz="2000" b="0">
                <a:solidFill>
                  <a:srgbClr val="1F2933"/>
                </a:solidFill>
                <a:latin typeface="Noto Sans JP"/>
                <a:ea typeface="Noto Sans JP"/>
              </a:rPr>
              <a:t>t を固定すると、「すべての ξ &gt; 0 で合成数が無限にある」ことは、ある整数のプログラムが、素数 P &gt; 6t+3 から始めていつも止まることと同じです。</a:t>
            </a:r>
          </a:p>
          <a:p xmlns:a="http://schemas.openxmlformats.org/drawingml/2006/main">
            <a:pPr algn="l">
              <a:lnSpc>
                <a:spcPct val="112000"/>
              </a:lnSpc>
              <a:spcBef>
                <a:spcPts val="1000"/>
              </a:spcBef>
            </a:pPr>
            <a:r>
              <a:rPr lang="en-US" sz="2000" b="1">
                <a:solidFill>
                  <a:srgbClr val="1B2A41"/>
                </a:solidFill>
                <a:latin typeface="Noto Sans JP"/>
                <a:ea typeface="Noto Sans JP"/>
              </a:rPr>
              <a:t>定理68</a:t>
            </a:r>
          </a:p>
          <a:p xmlns:a="http://schemas.openxmlformats.org/drawingml/2006/main">
            <a:pPr algn="l">
              <a:lnSpc>
                <a:spcPct val="112000"/>
              </a:lnSpc>
              <a:spcBef>
                <a:spcPts val="400"/>
              </a:spcBef>
            </a:pPr>
            <a:r>
              <a:rPr lang="en-US" sz="2000" b="0">
                <a:solidFill>
                  <a:srgbClr val="1F2933"/>
                </a:solidFill>
                <a:latin typeface="Noto Sans JP"/>
                <a:ea typeface="Noto Sans JP"/>
              </a:rPr>
              <a:t>最初の L 項がすべて素数になる t と ξ が、どんな L にもあります（素数の等差数列についての既知の定理を使う）。</a:t>
            </a:r>
          </a:p>
        </p:txBody>
      </p:sp>
      <p:pic>
        <p:nvPicPr>
          <p:cNvPr id="100876" name="Pic8" descr="図: 族 (6t+3)/(6t+1) の整数の停止プログラムの流れ図: 次の項が合成数か、小数部分の区間が空なら止まる。"/>
          <p:cNvPicPr>
            <a:picLocks xmlns:a="http://schemas.openxmlformats.org/drawingml/2006/main" noChangeAspect="1"/>
          </p:cNvPicPr>
          <p:nvPr/>
        </p:nvPicPr>
        <p:blipFill>
          <a:blip xmlns:r="http://schemas.openxmlformats.org/officeDocument/2006/relationships" xmlns:a="http://schemas.openxmlformats.org/drawingml/2006/main" r:embed="R27bd15dd13c44bfc"/>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877"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8</a:t>
            </a:r>
          </a:p>
        </p:txBody>
      </p:sp>
      <p:sp>
        <p:nvSpPr>
          <p:cNvPr id="100878"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帰還語による障害と、その先</a:t>
            </a:r>
          </a:p>
        </p:txBody>
      </p:sp>
      <p:sp>
        <p:nvSpPr>
          <p:cNvPr id="100879"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95 / 99</a:t>
            </a:r>
          </a:p>
        </p:txBody>
      </p:sp>
      <p:sp>
        <p:nvSpPr>
          <p:cNvPr id="100880"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81"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82"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素数が足りないと、元に戻る2つの語を並べた擬軌道が残り、方法は成功しません。</a:t>
            </a:r>
          </a:p>
        </p:txBody>
      </p:sp>
      <p:sp>
        <p:nvSpPr>
          <p:cNvPr id="100883" name="Text7"/>
          <p:cNvSpPr txBox="1"/>
          <p:nvPr/>
        </p:nvSpPr>
        <p:spPr>
          <a:xfrm xmlns:a="http://schemas.openxmlformats.org/drawingml/2006/main">
            <a:off x="457200" y="1080000"/>
            <a:ext cx="5247720" cy="4590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系70</a:t>
            </a:r>
          </a:p>
          <a:p xmlns:a="http://schemas.openxmlformats.org/drawingml/2006/main">
            <a:pPr marL="223200" indent="-223200" algn="l">
              <a:lnSpc>
                <a:spcPct val="112000"/>
              </a:lnSpc>
              <a:spcBef>
                <a:spcPts val="400"/>
              </a:spcBef>
              <a:buChar char="•"/>
            </a:pPr>
            <a:r>
              <a:rPr lang="en-US" sz="2000" b="0">
                <a:solidFill>
                  <a:srgbClr val="1F2933"/>
                </a:solidFill>
                <a:latin typeface="Noto Sans JP"/>
                <a:ea typeface="Noto Sans JP"/>
              </a:rPr>
              <a:t>9/7: 素数 {2, 3, 5, 7, 11, 13} だけでは成功しない。</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6/5: {2, 3, 5, 7, 11, 13, 17} だけでは成功しない。</a:t>
            </a:r>
          </a:p>
          <a:p xmlns:a="http://schemas.openxmlformats.org/drawingml/2006/main">
            <a:pPr algn="l">
              <a:lnSpc>
                <a:spcPct val="112000"/>
              </a:lnSpc>
              <a:spcBef>
                <a:spcPts val="400"/>
              </a:spcBef>
            </a:pPr>
            <a:r>
              <a:rPr lang="en-US" sz="2000" b="0">
                <a:solidFill>
                  <a:srgbClr val="1F2933"/>
                </a:solidFill>
                <a:latin typeface="Noto Sans JP"/>
                <a:ea typeface="Noto Sans JP"/>
              </a:rPr>
              <a:t>理由: あまりが元に戻る語 U, V を周期的でない順に並べた擬軌道がある（補題69）。</a:t>
            </a:r>
          </a:p>
          <a:p xmlns:a="http://schemas.openxmlformats.org/drawingml/2006/main">
            <a:pPr algn="l">
              <a:lnSpc>
                <a:spcPct val="112000"/>
              </a:lnSpc>
              <a:spcBef>
                <a:spcPts val="1000"/>
              </a:spcBef>
            </a:pPr>
            <a:r>
              <a:rPr lang="en-US" sz="2000" b="1">
                <a:solidFill>
                  <a:srgbClr val="1B2A41"/>
                </a:solidFill>
                <a:latin typeface="Noto Sans JP"/>
                <a:ea typeface="Noto Sans JP"/>
              </a:rPr>
              <a:t>命題71</a:t>
            </a:r>
          </a:p>
          <a:p xmlns:a="http://schemas.openxmlformats.org/drawingml/2006/main">
            <a:pPr algn="l">
              <a:lnSpc>
                <a:spcPct val="112000"/>
              </a:lnSpc>
              <a:spcBef>
                <a:spcPts val="400"/>
              </a:spcBef>
            </a:pPr>
            <a:r>
              <a:rPr lang="en-US" sz="2000" b="0">
                <a:solidFill>
                  <a:srgbClr val="1F2933"/>
                </a:solidFill>
                <a:latin typeface="Noto Sans JP"/>
                <a:ea typeface="Noto Sans JP"/>
              </a:rPr>
              <a:t>9/7 に素数 17 を加えると、この U, V の組は消せます。</a:t>
            </a:r>
          </a:p>
        </p:txBody>
      </p:sp>
      <p:pic>
        <p:nvPicPr>
          <p:cNvPr id="100884" name="Pic8" descr="図: 9/7 の説明用の図: あまり q から出て q に戻る2つの語 U, V と、区間 I = [1/5, 3/10] がどちらの逆向き写像でも I の中に写ること。"/>
          <p:cNvPicPr>
            <a:picLocks xmlns:a="http://schemas.openxmlformats.org/drawingml/2006/main" noChangeAspect="1"/>
          </p:cNvPicPr>
          <p:nvPr/>
        </p:nvPicPr>
        <p:blipFill>
          <a:blip xmlns:r="http://schemas.openxmlformats.org/officeDocument/2006/relationships" xmlns:a="http://schemas.openxmlformats.org/drawingml/2006/main" r:embed="R510119090aaf400e"/>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885"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8</a:t>
            </a:r>
          </a:p>
        </p:txBody>
      </p:sp>
      <p:sp>
        <p:nvSpPr>
          <p:cNvPr id="100886"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未解決問題</a:t>
            </a:r>
          </a:p>
        </p:txBody>
      </p:sp>
      <p:sp>
        <p:nvSpPr>
          <p:cNvPr id="100887"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96 / 99</a:t>
            </a:r>
          </a:p>
        </p:txBody>
      </p:sp>
      <p:sp>
        <p:nvSpPr>
          <p:cNvPr id="100888"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89"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90"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この論文の方法で証明できる範囲の外には、はっきりした未解決問題が残っています。</a:t>
            </a:r>
          </a:p>
        </p:txBody>
      </p:sp>
      <p:sp>
        <p:nvSpPr>
          <p:cNvPr id="100891" name="Text7"/>
          <p:cNvSpPr txBox="1"/>
          <p:nvPr/>
        </p:nvSpPr>
        <p:spPr>
          <a:xfrm xmlns:a="http://schemas.openxmlformats.org/drawingml/2006/main">
            <a:off x="457200" y="1080000"/>
            <a:ext cx="5458680" cy="31114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marL="288000" indent="-288000" algn="l">
              <a:lnSpc>
                <a:spcPct val="112000"/>
              </a:lnSpc>
              <a:buNone/>
            </a:pPr>
            <a:r>
              <a:rPr lang="en-US" sz="2000" b="0">
                <a:solidFill>
                  <a:srgbClr val="1F2933"/>
                </a:solidFill>
                <a:latin typeface="Noto Sans JP"/>
                <a:ea typeface="Noto Sans JP"/>
              </a:rPr>
              <a:t>1. 他の比と無限の族: どの比に有限の証明書があるか。無限個の比に一度に使える証明書は作れるか。</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2. 有限の高さとすべての係数: 定理47の高さより大きい </a:t>
            </a:r>
            <a:r>
              <a:rPr lang="en-US" sz="2000" b="0">
                <a:solidFill>
                  <a:srgbClr val="1F2933"/>
                </a:solidFill>
                <a:latin typeface="Noto Sans Math"/>
                <a:ea typeface="Noto Sans Math"/>
              </a:rPr>
              <a:t>⌊</a:t>
            </a:r>
            <a:r>
              <a:rPr lang="en-US" sz="2000" b="0">
                <a:solidFill>
                  <a:srgbClr val="1F2933"/>
                </a:solidFill>
                <a:latin typeface="Noto Sans JP"/>
                <a:ea typeface="Noto Sans JP"/>
              </a:rPr>
              <a:t>ξ</a:t>
            </a:r>
            <a:r>
              <a:rPr lang="en-US" sz="2000" b="0">
                <a:solidFill>
                  <a:srgbClr val="1F2933"/>
                </a:solidFill>
                <a:latin typeface="Noto Sans Math"/>
                <a:ea typeface="Noto Sans Math"/>
              </a:rPr>
              <a:t>⌋</a:t>
            </a:r>
            <a:r>
              <a:rPr lang="en-US" sz="2000" b="0">
                <a:solidFill>
                  <a:srgbClr val="1F2933"/>
                </a:solidFill>
                <a:latin typeface="Noto Sans JP"/>
                <a:ea typeface="Noto Sans JP"/>
              </a:rPr>
              <a:t xml:space="preserve"> は未処理。</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3. 再帰性: 再帰的でない繰り上がりをもつ「ずっと素数」の数列はありうるか。</a:t>
            </a:r>
          </a:p>
        </p:txBody>
      </p:sp>
      <p:sp>
        <p:nvSpPr>
          <p:cNvPr id="100892" name="Text8"/>
          <p:cNvSpPr txBox="1"/>
          <p:nvPr/>
        </p:nvSpPr>
        <p:spPr>
          <a:xfrm xmlns:a="http://schemas.openxmlformats.org/drawingml/2006/main">
            <a:off x="6275880" y="1080000"/>
            <a:ext cx="5458680" cy="26568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marL="288000" indent="-288000" algn="l">
              <a:lnSpc>
                <a:spcPct val="112000"/>
              </a:lnSpc>
              <a:buNone/>
            </a:pPr>
            <a:r>
              <a:rPr lang="en-US" sz="2000" b="0">
                <a:solidFill>
                  <a:srgbClr val="1F2933"/>
                </a:solidFill>
                <a:latin typeface="Noto Sans JP"/>
                <a:ea typeface="Noto Sans JP"/>
              </a:rPr>
              <a:t>4. 操作の追加: 全語区間判定を加えると証明できる比は増えるか。付録 C のプログラムはすべての t で止まるか。</a:t>
            </a:r>
          </a:p>
          <a:p xmlns:a="http://schemas.openxmlformats.org/drawingml/2006/main">
            <a:pPr marL="288000" indent="-288000" algn="l">
              <a:lnSpc>
                <a:spcPct val="112000"/>
              </a:lnSpc>
              <a:spcBef>
                <a:spcPts val="300"/>
              </a:spcBef>
              <a:buNone/>
            </a:pPr>
            <a:r>
              <a:rPr lang="en-US" sz="2000" b="0">
                <a:solidFill>
                  <a:srgbClr val="1F2933"/>
                </a:solidFill>
                <a:latin typeface="Noto Sans JP"/>
                <a:ea typeface="Noto Sans JP"/>
              </a:rPr>
              <a:t>5. 最小性と部分列: 使った素数の集合が最小かどうか。決まった等差数列の番号だけでも成り立つか。</a:t>
            </a:r>
          </a:p>
        </p:txBody>
      </p:sp>
    </p:spTree>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893"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9</a:t>
            </a:r>
          </a:p>
        </p:txBody>
      </p:sp>
      <p:sp>
        <p:nvSpPr>
          <p:cNvPr id="100894"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まとめ</a:t>
            </a:r>
          </a:p>
        </p:txBody>
      </p:sp>
      <p:sp>
        <p:nvSpPr>
          <p:cNvPr id="100895"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97 / 99</a:t>
            </a:r>
          </a:p>
        </p:txBody>
      </p:sp>
      <p:sp>
        <p:nvSpPr>
          <p:cNvPr id="100896"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97"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898"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無限に多い ξ と無限に続く数列を、有限のグラフの計算と一般の定理の組合せで扱いました。</a:t>
            </a:r>
          </a:p>
        </p:txBody>
      </p:sp>
      <p:pic>
        <p:nvPicPr>
          <p:cNvPr id="100899" name="Pic7" descr="図: 論文全体の流れ: 補題4と命題5から、周期的な成分の除去と細分・縮約・持ち上げでグラフを空にし定理1へ。ランク証明書から定理3、擬軌道から方法の限界。"/>
          <p:cNvPicPr>
            <a:picLocks xmlns:a="http://schemas.openxmlformats.org/drawingml/2006/main" noChangeAspect="1"/>
          </p:cNvPicPr>
          <p:nvPr/>
        </p:nvPicPr>
        <p:blipFill>
          <a:blip xmlns:r="http://schemas.openxmlformats.org/officeDocument/2006/relationships" xmlns:a="http://schemas.openxmlformats.org/drawingml/2006/main" r:embed="R79a6b5290f5c4d29"/>
          <a:stretch xmlns:a="http://schemas.openxmlformats.org/drawingml/2006/main">
            <a:fillRect/>
          </a:stretch>
        </p:blipFill>
        <p:spPr>
          <a:xfrm xmlns:a="http://schemas.openxmlformats.org/drawingml/2006/main">
            <a:off x="462960" y="1062000"/>
            <a:ext cx="11265840" cy="2736000"/>
          </a:xfrm>
          <a:prstGeom xmlns:a="http://schemas.openxmlformats.org/drawingml/2006/main" prst="rect">
            <a:avLst/>
          </a:prstGeom>
        </p:spPr>
      </p:pic>
      <p:sp>
        <p:nvSpPr>
          <p:cNvPr id="100900" name="Text8"/>
          <p:cNvSpPr txBox="1"/>
          <p:nvPr/>
        </p:nvSpPr>
        <p:spPr>
          <a:xfrm xmlns:a="http://schemas.openxmlformats.org/drawingml/2006/main">
            <a:off x="457200" y="3960000"/>
            <a:ext cx="5458680" cy="1828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marL="223200" indent="-223200" algn="l">
              <a:lnSpc>
                <a:spcPct val="112000"/>
              </a:lnSpc>
              <a:buChar char="•"/>
            </a:pPr>
            <a:r>
              <a:rPr lang="en-US" sz="2000" b="0">
                <a:solidFill>
                  <a:srgbClr val="1F2933"/>
                </a:solidFill>
                <a:latin typeface="Noto Sans JP"/>
                <a:ea typeface="Noto Sans JP"/>
              </a:rPr>
              <a:t>7/5 と 5/2: どの ξ &gt; 0 でも、決まった素数で割り切れる項（合成数）が無限にある。</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7/5: 428 + 12·L(P) 番目までに割り切れる項がある。</a:t>
            </a:r>
          </a:p>
        </p:txBody>
      </p:sp>
      <p:sp>
        <p:nvSpPr>
          <p:cNvPr id="100901" name="Text9"/>
          <p:cNvSpPr txBox="1"/>
          <p:nvPr/>
        </p:nvSpPr>
        <p:spPr>
          <a:xfrm xmlns:a="http://schemas.openxmlformats.org/drawingml/2006/main">
            <a:off x="6275880" y="3960000"/>
            <a:ext cx="5458680" cy="18280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marL="223200" indent="-223200" algn="l">
              <a:lnSpc>
                <a:spcPct val="112000"/>
              </a:lnSpc>
              <a:buChar char="•"/>
            </a:pPr>
            <a:r>
              <a:rPr lang="en-US" sz="2000" b="0">
                <a:solidFill>
                  <a:srgbClr val="1F2933"/>
                </a:solidFill>
                <a:latin typeface="Noto Sans JP"/>
                <a:ea typeface="Noto Sans JP"/>
              </a:rPr>
              <a:t>方法の限界: a ≥ 2·rad M ではこの手続きは成功しない。成功には外の素数の積 R ≥ a</a:t>
            </a:r>
            <a:r>
              <a:rPr lang="en-US" sz="2000" b="0" baseline="30000">
                <a:solidFill>
                  <a:srgbClr val="1F2933"/>
                </a:solidFill>
                <a:latin typeface="Noto Sans JP"/>
                <a:ea typeface="Noto Sans JP"/>
              </a:rPr>
              <a:t>1−o(1)</a:t>
            </a:r>
            <a:r>
              <a:rPr lang="en-US" sz="2000" b="0">
                <a:solidFill>
                  <a:srgbClr val="1F2933"/>
                </a:solidFill>
                <a:latin typeface="Noto Sans JP"/>
                <a:ea typeface="Noto Sans JP"/>
              </a:rPr>
              <a:t xml:space="preserve"> が必要。</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確認: 2つの独立な実装の全要素比較と Lean。</a:t>
            </a:r>
          </a:p>
        </p:txBody>
      </p:sp>
    </p:spTree>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902"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9</a:t>
            </a:r>
          </a:p>
        </p:txBody>
      </p:sp>
      <p:sp>
        <p:nvSpPr>
          <p:cNvPr id="100903"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この研究の成り立ちと AI の関与</a:t>
            </a:r>
          </a:p>
        </p:txBody>
      </p:sp>
      <p:sp>
        <p:nvSpPr>
          <p:cNvPr id="100904"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98 / 99</a:t>
            </a:r>
          </a:p>
        </p:txBody>
      </p:sp>
      <p:sp>
        <p:nvSpPr>
          <p:cNvPr id="100905" name="PointBg4"/>
          <p:cNvSpPr/>
          <p:nvPr/>
        </p:nvSpPr>
        <p:spPr>
          <a:xfrm xmlns:a="http://schemas.openxmlformats.org/drawingml/2006/main">
            <a:off x="457200" y="5788800"/>
            <a:ext cx="11277720" cy="640800"/>
          </a:xfrm>
          <a:prstGeom xmlns:a="http://schemas.openxmlformats.org/drawingml/2006/main" prst="rect">
            <a:avLst/>
          </a:prstGeom>
          <a:solidFill xmlns:a="http://schemas.openxmlformats.org/drawingml/2006/main">
            <a:srgbClr val="E6ECF2"/>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906" name="PointMark5"/>
          <p:cNvSpPr/>
          <p:nvPr/>
        </p:nvSpPr>
        <p:spPr>
          <a:xfrm xmlns:a="http://schemas.openxmlformats.org/drawingml/2006/main">
            <a:off x="457200" y="5788800"/>
            <a:ext cx="79200" cy="6408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100907" name="Point6"/>
          <p:cNvSpPr txBox="1"/>
          <p:nvPr/>
        </p:nvSpPr>
        <p:spPr>
          <a:xfrm xmlns:a="http://schemas.openxmlformats.org/drawingml/2006/main">
            <a:off x="673200" y="5788800"/>
            <a:ext cx="10953720" cy="6408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1800" b="1">
                <a:solidFill>
                  <a:srgbClr val="1B2A41"/>
                </a:solidFill>
                <a:latin typeface="Noto Sans JP"/>
                <a:ea typeface="Noto Sans JP"/>
              </a:rPr>
              <a:t>要点　</a:t>
            </a:r>
            <a:r>
              <a:rPr lang="en-US" sz="1800" b="0">
                <a:solidFill>
                  <a:srgbClr val="1F2933"/>
                </a:solidFill>
                <a:latin typeface="Noto Sans JP"/>
                <a:ea typeface="Noto Sans JP"/>
              </a:rPr>
              <a:t>この論文は、最初の問いの後の数学的な作業をすべて AI が行ったと開示しています。</a:t>
            </a:r>
          </a:p>
        </p:txBody>
      </p:sp>
      <p:sp>
        <p:nvSpPr>
          <p:cNvPr id="100908" name="Text7"/>
          <p:cNvSpPr txBox="1"/>
          <p:nvPr/>
        </p:nvSpPr>
        <p:spPr>
          <a:xfrm xmlns:a="http://schemas.openxmlformats.org/drawingml/2006/main">
            <a:off x="457200" y="1080000"/>
            <a:ext cx="5247720" cy="46504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marL="223200" indent="-223200" algn="l">
              <a:lnSpc>
                <a:spcPct val="112000"/>
              </a:lnSpc>
              <a:buChar char="•"/>
            </a:pPr>
            <a:r>
              <a:rPr lang="en-US" sz="2000" b="0">
                <a:solidFill>
                  <a:srgbClr val="1F2933"/>
                </a:solidFill>
                <a:latin typeface="Noto Sans JP"/>
                <a:ea typeface="Noto Sans JP"/>
              </a:rPr>
              <a:t>Mills 定数: A を 3</a:t>
            </a:r>
            <a:r>
              <a:rPr lang="en-US" sz="2000" b="0" baseline="30000">
                <a:solidFill>
                  <a:srgbClr val="1F2933"/>
                </a:solidFill>
                <a:latin typeface="Noto Sans JP"/>
                <a:ea typeface="Noto Sans JP"/>
              </a:rPr>
              <a:t>n</a:t>
            </a:r>
            <a:r>
              <a:rPr lang="en-US" sz="2000" b="0">
                <a:solidFill>
                  <a:srgbClr val="1F2933"/>
                </a:solidFill>
                <a:latin typeface="Noto Sans JP"/>
                <a:ea typeface="Noto Sans JP"/>
              </a:rPr>
              <a:t xml:space="preserve"> 乗して切り捨てた数がすべての n で素数になる最小の A（無理数と既知）。著者は「すべての Mills 数は無理数か」を AI（主に GPT-6 Astra）に問うた。この論文はその問いを解決していない。</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その後の数学的な作業はすべて AI が行った（一部で Claude Fable 5.1 も使用）。</a:t>
            </a:r>
          </a:p>
          <a:p xmlns:a="http://schemas.openxmlformats.org/drawingml/2006/main">
            <a:pPr marL="223200" indent="-223200" algn="l">
              <a:lnSpc>
                <a:spcPct val="112000"/>
              </a:lnSpc>
              <a:spcBef>
                <a:spcPts val="300"/>
              </a:spcBef>
              <a:buChar char="•"/>
            </a:pPr>
            <a:r>
              <a:rPr lang="en-US" sz="2000" b="0">
                <a:solidFill>
                  <a:srgbClr val="1F2933"/>
                </a:solidFill>
                <a:latin typeface="Noto Sans JP"/>
                <a:ea typeface="Noto Sans JP"/>
              </a:rPr>
              <a:t>Lean の形式証明が検査を通ることは、著者自身が確認した。</a:t>
            </a:r>
          </a:p>
          <a:p xmlns:a="http://schemas.openxmlformats.org/drawingml/2006/main">
            <a:pPr algn="l">
              <a:lnSpc>
                <a:spcPct val="112000"/>
              </a:lnSpc>
              <a:spcBef>
                <a:spcPts val="600"/>
              </a:spcBef>
            </a:pPr>
            <a:r>
              <a:rPr lang="en-US" sz="1800" b="0">
                <a:solidFill>
                  <a:srgbClr val="4F5D6E"/>
                </a:solidFill>
                <a:latin typeface="Noto Sans JP"/>
                <a:ea typeface="Noto Sans JP"/>
              </a:rPr>
              <a:t>読者は議論・計算・形式証明を自分で確かめるよう求められています。</a:t>
            </a:r>
          </a:p>
        </p:txBody>
      </p:sp>
      <p:pic>
        <p:nvPicPr>
          <p:cNvPr id="100909" name="Pic8" descr="図: 研究の流れ: 著者の最初の問い → AI の探索 → AI による結果の選択・証明・計算・執筆・形式化 → AI どうしの自動批評 → 著者の公開の判断。"/>
          <p:cNvPicPr>
            <a:picLocks xmlns:a="http://schemas.openxmlformats.org/drawingml/2006/main" noChangeAspect="1"/>
          </p:cNvPicPr>
          <p:nvPr/>
        </p:nvPicPr>
        <p:blipFill>
          <a:blip xmlns:r="http://schemas.openxmlformats.org/officeDocument/2006/relationships" xmlns:a="http://schemas.openxmlformats.org/drawingml/2006/main" r:embed="R939ea6c2cb9a4b7f"/>
          <a:stretch xmlns:a="http://schemas.openxmlformats.org/drawingml/2006/main">
            <a:fillRect/>
          </a:stretch>
        </p:blipFill>
        <p:spPr>
          <a:xfrm xmlns:a="http://schemas.openxmlformats.org/drawingml/2006/main">
            <a:off x="5974920" y="1062000"/>
            <a:ext cx="5760000" cy="4464720"/>
          </a:xfrm>
          <a:prstGeom xmlns:a="http://schemas.openxmlformats.org/drawingml/2006/main" prst="rect">
            <a:avLst/>
          </a:prstGeom>
        </p:spPr>
      </p:pic>
    </p:spTree>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910" name="ChSq1"/>
          <p:cNvSpPr txBox="1"/>
          <p:nvPr/>
        </p:nvSpPr>
        <p:spPr>
          <a:xfrm xmlns:a="http://schemas.openxmlformats.org/drawingml/2006/main">
            <a:off x="457200" y="367200"/>
            <a:ext cx="360000" cy="360000"/>
          </a:xfrm>
          <a:prstGeom xmlns:a="http://schemas.openxmlformats.org/drawingml/2006/main" prst="rect">
            <a:avLst/>
          </a:prstGeom>
          <a:solidFill xmlns:a="http://schemas.openxmlformats.org/drawingml/2006/main">
            <a:srgbClr val="1B2A41"/>
          </a:solidFill>
          <a:ln xmlns:a="http://schemas.openxmlformats.org/drawingml/2006/main">
            <a:noFill/>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12000"/>
              </a:lnSpc>
            </a:pPr>
            <a:r>
              <a:rPr lang="en-US" sz="1600" b="1">
                <a:solidFill>
                  <a:srgbClr val="FFFFFF"/>
                </a:solidFill>
                <a:latin typeface="Noto Sans JP"/>
                <a:ea typeface="Noto Sans JP"/>
              </a:rPr>
              <a:t>9</a:t>
            </a:r>
          </a:p>
        </p:txBody>
      </p:sp>
      <p:sp>
        <p:nvSpPr>
          <p:cNvPr id="100911" name="Title2"/>
          <p:cNvSpPr txBox="1"/>
          <p:nvPr/>
        </p:nvSpPr>
        <p:spPr>
          <a:xfrm xmlns:a="http://schemas.openxmlformats.org/drawingml/2006/main">
            <a:off x="954000" y="280800"/>
            <a:ext cx="10780920" cy="540000"/>
          </a:xfrm>
          <a:prstGeom xmlns:a="http://schemas.openxmlformats.org/drawingml/2006/main" prst="rect">
            <a:avLst/>
          </a:prstGeom>
          <a:noFill xmlns:a="http://schemas.openxmlformats.org/drawingml/2006/mai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pPr>
            <a:r>
              <a:rPr lang="en-US" sz="3200" b="1">
                <a:solidFill>
                  <a:srgbClr val="1B2A41"/>
                </a:solidFill>
                <a:latin typeface="Noto Sans JP"/>
                <a:ea typeface="Noto Sans JP"/>
              </a:rPr>
              <a:t>資料と参考文献</a:t>
            </a:r>
          </a:p>
        </p:txBody>
      </p:sp>
      <p:sp>
        <p:nvSpPr>
          <p:cNvPr id="100912" name="PageNo3"/>
          <p:cNvSpPr txBox="1"/>
          <p:nvPr/>
        </p:nvSpPr>
        <p:spPr>
          <a:xfrm xmlns:a="http://schemas.openxmlformats.org/drawingml/2006/main">
            <a:off x="10654920" y="6523200"/>
            <a:ext cx="1080000" cy="21600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r">
              <a:lnSpc>
                <a:spcPct val="112000"/>
              </a:lnSpc>
            </a:pPr>
            <a:r>
              <a:rPr lang="en-US" sz="1100" b="0">
                <a:solidFill>
                  <a:srgbClr val="6B7A8C"/>
                </a:solidFill>
                <a:latin typeface="Noto Sans JP"/>
                <a:ea typeface="Noto Sans JP"/>
              </a:rPr>
              <a:t>99 / 99</a:t>
            </a:r>
          </a:p>
        </p:txBody>
      </p:sp>
      <p:sp>
        <p:nvSpPr>
          <p:cNvPr id="100913" name="Text4"/>
          <p:cNvSpPr txBox="1"/>
          <p:nvPr/>
        </p:nvSpPr>
        <p:spPr>
          <a:xfrm xmlns:a="http://schemas.openxmlformats.org/drawingml/2006/main">
            <a:off x="457200" y="1080000"/>
            <a:ext cx="5458680" cy="470016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pPr>
            <a:r>
              <a:rPr lang="en-US" sz="2000" b="1">
                <a:solidFill>
                  <a:srgbClr val="1B2A41"/>
                </a:solidFill>
                <a:latin typeface="Noto Sans JP"/>
                <a:ea typeface="Noto Sans JP"/>
              </a:rPr>
              <a:t>論文と再現資料</a:t>
            </a:r>
          </a:p>
          <a:p xmlns:a="http://schemas.openxmlformats.org/drawingml/2006/main">
            <a:pPr algn="l">
              <a:lnSpc>
                <a:spcPct val="112000"/>
              </a:lnSpc>
              <a:spcBef>
                <a:spcPts val="400"/>
              </a:spcBef>
            </a:pPr>
            <a:r>
              <a:rPr lang="en-US" sz="2000" b="0">
                <a:solidFill>
                  <a:srgbClr val="1F2933"/>
                </a:solidFill>
                <a:latin typeface="Noto Sans JP"/>
                <a:ea typeface="Noto Sans JP"/>
              </a:rPr>
              <a:t>DOI: 10.5281/zenodo.22995171</a:t>
            </a:r>
          </a:p>
          <a:p xmlns:a="http://schemas.openxmlformats.org/drawingml/2006/main">
            <a:pPr algn="l">
              <a:lnSpc>
                <a:spcPct val="112000"/>
              </a:lnSpc>
              <a:spcBef>
                <a:spcPts val="400"/>
              </a:spcBef>
            </a:pPr>
            <a:r>
              <a:rPr lang="en-US" sz="2000" b="0">
                <a:solidFill>
                  <a:srgbClr val="1F2933"/>
                </a:solidFill>
                <a:latin typeface="Noto Sans JP"/>
                <a:ea typeface="Noto Sans JP"/>
              </a:rPr>
              <a:t>論文のソース、計算コード、Lean の形式証明、照合データ、再現手順: github.com/ixixi/rational-floor-certificates（README, REPRODUCE.md, ENVIRONMENT.md）</a:t>
            </a:r>
          </a:p>
          <a:p xmlns:a="http://schemas.openxmlformats.org/drawingml/2006/main">
            <a:pPr algn="l">
              <a:lnSpc>
                <a:spcPct val="112000"/>
              </a:lnSpc>
              <a:spcBef>
                <a:spcPts val="1000"/>
              </a:spcBef>
            </a:pPr>
            <a:r>
              <a:rPr lang="en-US" sz="2000" b="1">
                <a:solidFill>
                  <a:srgbClr val="1B2A41"/>
                </a:solidFill>
                <a:latin typeface="Noto Sans JP"/>
                <a:ea typeface="Noto Sans JP"/>
              </a:rPr>
              <a:t>本文で触れた主な文献</a:t>
            </a:r>
          </a:p>
          <a:p xmlns:a="http://schemas.openxmlformats.org/drawingml/2006/main">
            <a:pPr algn="l">
              <a:lnSpc>
                <a:spcPct val="112000"/>
              </a:lnSpc>
              <a:spcBef>
                <a:spcPts val="400"/>
              </a:spcBef>
            </a:pPr>
            <a:r>
              <a:rPr lang="en-US" sz="1500" b="0">
                <a:solidFill>
                  <a:srgbClr val="6B7A8C"/>
                </a:solidFill>
                <a:latin typeface="Noto Sans JP"/>
                <a:ea typeface="Noto Sans JP"/>
              </a:rPr>
              <a:t>[DN] A. Dubickas, A. Novikas（床関数列の合成数, 3/2, 4/3, 5/4 と 7/5 の四捨五入, 5/2 の −1 付き）</a:t>
            </a:r>
          </a:p>
          <a:p xmlns:a="http://schemas.openxmlformats.org/drawingml/2006/main">
            <a:pPr algn="l">
              <a:lnSpc>
                <a:spcPct val="112000"/>
              </a:lnSpc>
              <a:spcBef>
                <a:spcPts val="400"/>
              </a:spcBef>
            </a:pPr>
            <a:r>
              <a:rPr lang="en-US" sz="1500" b="0">
                <a:solidFill>
                  <a:srgbClr val="6B7A8C"/>
                </a:solidFill>
                <a:latin typeface="Noto Sans JP"/>
                <a:ea typeface="Noto Sans JP"/>
              </a:rPr>
              <a:t>[FS] W. Forman, H. N. Shapiro (1967)（3/2, 4/3）</a:t>
            </a:r>
          </a:p>
          <a:p xmlns:a="http://schemas.openxmlformats.org/drawingml/2006/main">
            <a:pPr algn="l">
              <a:lnSpc>
                <a:spcPct val="112000"/>
              </a:lnSpc>
              <a:spcBef>
                <a:spcPts val="400"/>
              </a:spcBef>
            </a:pPr>
            <a:r>
              <a:rPr lang="en-US" sz="1500" b="0">
                <a:solidFill>
                  <a:srgbClr val="6B7A8C"/>
                </a:solidFill>
                <a:latin typeface="Noto Sans JP"/>
                <a:ea typeface="Noto Sans JP"/>
              </a:rPr>
              <a:t>[SA25] K. Saito, Mills' constant is irrational</a:t>
            </a:r>
          </a:p>
        </p:txBody>
      </p:sp>
      <p:sp>
        <p:nvSpPr>
          <p:cNvPr id="100914" name="Text5"/>
          <p:cNvSpPr txBox="1"/>
          <p:nvPr/>
        </p:nvSpPr>
        <p:spPr>
          <a:xfrm xmlns:a="http://schemas.openxmlformats.org/drawingml/2006/main">
            <a:off x="6275880" y="1080000"/>
            <a:ext cx="5458680" cy="4934880"/>
          </a:xfrm>
          <a:prstGeom xmlns:a="http://schemas.openxmlformats.org/drawingml/2006/main" prst="rect">
            <a:avLst/>
          </a:prstGeom>
          <a:noFill xmlns:a="http://schemas.openxmlformats.org/drawingml/2006/mai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spcBef>
                <a:spcPts val="400"/>
              </a:spcBef>
            </a:pPr>
            <a:r>
              <a:rPr lang="en-US" sz="1500" b="0">
                <a:solidFill>
                  <a:srgbClr val="6B7A8C"/>
                </a:solidFill>
                <a:latin typeface="Noto Sans JP"/>
                <a:ea typeface="Noto Sans JP"/>
              </a:rPr>
              <a:t>[AFS08] S. Akiyama, C. Frougny, J. Sakarovitch, Israel J. Math. 168 (2008)（有理数の底の記数法）</a:t>
            </a:r>
          </a:p>
          <a:p xmlns:a="http://schemas.openxmlformats.org/drawingml/2006/main">
            <a:pPr algn="l">
              <a:lnSpc>
                <a:spcPct val="112000"/>
              </a:lnSpc>
              <a:spcBef>
                <a:spcPts val="400"/>
              </a:spcBef>
            </a:pPr>
            <a:r>
              <a:rPr lang="en-US" sz="1500" b="0">
                <a:solidFill>
                  <a:srgbClr val="6B7A8C"/>
                </a:solidFill>
                <a:latin typeface="Noto Sans JP"/>
                <a:ea typeface="Noto Sans JP"/>
              </a:rPr>
              <a:t>[FLP] L. Flatto, J. C. Lagarias, A. D. Pollington（小数部分の範囲）</a:t>
            </a:r>
          </a:p>
          <a:p xmlns:a="http://schemas.openxmlformats.org/drawingml/2006/main">
            <a:pPr algn="l">
              <a:lnSpc>
                <a:spcPct val="112000"/>
              </a:lnSpc>
              <a:spcBef>
                <a:spcPts val="400"/>
              </a:spcBef>
            </a:pPr>
            <a:r>
              <a:rPr lang="en-US" sz="1500" b="0">
                <a:solidFill>
                  <a:srgbClr val="6B7A8C"/>
                </a:solidFill>
                <a:latin typeface="Noto Sans JP"/>
                <a:ea typeface="Noto Sans JP"/>
              </a:rPr>
              <a:t>[AD04] G. Alkauskas, A. Dubickas, Acta Math. Hungar. 105 (2004)</a:t>
            </a:r>
          </a:p>
          <a:p xmlns:a="http://schemas.openxmlformats.org/drawingml/2006/main">
            <a:pPr algn="l">
              <a:lnSpc>
                <a:spcPct val="112000"/>
              </a:lnSpc>
              <a:spcBef>
                <a:spcPts val="400"/>
              </a:spcBef>
            </a:pPr>
            <a:r>
              <a:rPr lang="en-US" sz="1500" b="0">
                <a:solidFill>
                  <a:srgbClr val="6B7A8C"/>
                </a:solidFill>
                <a:latin typeface="Noto Sans JP"/>
                <a:ea typeface="Noto Sans JP"/>
              </a:rPr>
              <a:t>[S26] Stephan のプレプリント（整数の底 7 の有限グラフ証明書と Lean）</a:t>
            </a:r>
          </a:p>
          <a:p xmlns:a="http://schemas.openxmlformats.org/drawingml/2006/main">
            <a:pPr algn="l">
              <a:lnSpc>
                <a:spcPct val="112000"/>
              </a:lnSpc>
              <a:spcBef>
                <a:spcPts val="400"/>
              </a:spcBef>
            </a:pPr>
            <a:r>
              <a:rPr lang="en-US" sz="1500" b="0">
                <a:solidFill>
                  <a:srgbClr val="6B7A8C"/>
                </a:solidFill>
                <a:latin typeface="Noto Sans JP"/>
                <a:ea typeface="Noto Sans JP"/>
              </a:rPr>
              <a:t>[IW78] H. Iwaniec（Jacobsthal 関数の評価。外部の参考として言及）</a:t>
            </a:r>
          </a:p>
          <a:p xmlns:a="http://schemas.openxmlformats.org/drawingml/2006/main">
            <a:pPr algn="l">
              <a:lnSpc>
                <a:spcPct val="112000"/>
              </a:lnSpc>
              <a:spcBef>
                <a:spcPts val="400"/>
              </a:spcBef>
            </a:pPr>
            <a:r>
              <a:rPr lang="en-US" sz="1500" b="0">
                <a:solidFill>
                  <a:srgbClr val="6B7A8C"/>
                </a:solidFill>
                <a:latin typeface="Noto Sans JP"/>
                <a:ea typeface="Noto Sans JP"/>
              </a:rPr>
              <a:t>[T] R. Tarjan（SCC のアルゴリズム）</a:t>
            </a:r>
          </a:p>
          <a:p xmlns:a="http://schemas.openxmlformats.org/drawingml/2006/main">
            <a:pPr algn="l">
              <a:lnSpc>
                <a:spcPct val="112000"/>
              </a:lnSpc>
              <a:spcBef>
                <a:spcPts val="400"/>
              </a:spcBef>
            </a:pPr>
            <a:r>
              <a:rPr lang="en-US" sz="1500" b="0">
                <a:solidFill>
                  <a:srgbClr val="6B7A8C"/>
                </a:solidFill>
                <a:latin typeface="Noto Sans JP"/>
                <a:ea typeface="Noto Sans JP"/>
              </a:rPr>
              <a:t>[SHAO15] X. Shao, [TZ14] T. Tao, T. Ziegler（素数の狭い等差数列。定理68で使う外部の結果）</a:t>
            </a:r>
          </a:p>
          <a:p xmlns:a="http://schemas.openxmlformats.org/drawingml/2006/main">
            <a:pPr algn="l">
              <a:lnSpc>
                <a:spcPct val="112000"/>
              </a:lnSpc>
              <a:spcBef>
                <a:spcPts val="400"/>
              </a:spcBef>
            </a:pPr>
            <a:r>
              <a:rPr lang="en-US" sz="1500" b="0">
                <a:solidFill>
                  <a:srgbClr val="6B7A8C"/>
                </a:solidFill>
                <a:latin typeface="Noto Sans JP"/>
                <a:ea typeface="Noto Sans JP"/>
              </a:rPr>
              <a:t>書誌の詳細は論文の References を参照。</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OfficeCLI/1.0.152</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2026-09-22T22:59:05Z</dcterms:created>
  <cp:lastModifiedBy>OfficeCLI</cp:lastModifiedBy>
  <dcterms:modified xsi:type="dcterms:W3CDTF">2026-09-22T22:59:05Z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1.0.152</vt:lpwstr>
  </op:property>
  <op:property fmtid="{D5CDD505-2E9C-101B-9397-08002B2CF9AE}" pid="3" name="OfficeCLI.LastModified">
    <vt:lpwstr xmlns:vt="http://schemas.openxmlformats.org/officeDocument/2006/docPropsVTypes">2026-09-22T22:59:38Z</vt:lpwstr>
  </op:property>
</op:Properties>
</file>